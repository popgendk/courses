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sldSz cx="9144000" cy="5143500" type="screen16x9"/>
  <p:notesSz cx="6858000" cy="9144000"/>
  <p:embeddedFontLst>
    <p:embeddedFont>
      <p:font typeface="Garamond" panose="02020404030301010803" pitchFamily="18" charset="0"/>
      <p:regular r:id="rId85"/>
      <p:bold r:id="rId86"/>
      <p:italic r:id="rId87"/>
      <p:boldItalic r:id="rId88"/>
    </p:embeddedFont>
    <p:embeddedFont>
      <p:font typeface="Open Sans" panose="020B0606030504020204" pitchFamily="34" charset="0"/>
      <p:regular r:id="rId89"/>
      <p:bold r:id="rId90"/>
      <p:italic r:id="rId91"/>
      <p:boldItalic r:id="rId92"/>
    </p:embeddedFont>
    <p:embeddedFont>
      <p:font typeface="Roboto" panose="02000000000000000000" pitchFamily="2" charset="0"/>
      <p:regular r:id="rId93"/>
      <p:bold r:id="rId94"/>
      <p:italic r:id="rId95"/>
      <p:boldItalic r:id="rId9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2" roundtripDataSignature="AMtx7mgSHWn7uDut+XlyaQBW9H1xYYfq4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3"/>
  </p:normalViewPr>
  <p:slideViewPr>
    <p:cSldViewPr snapToGrid="0">
      <p:cViewPr varScale="1">
        <p:scale>
          <a:sx n="154" d="100"/>
          <a:sy n="154" d="100"/>
        </p:scale>
        <p:origin x="464"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customschemas.google.com/relationships/presentationmetadata" Target="metadata"/><Relationship Id="rId5" Type="http://schemas.openxmlformats.org/officeDocument/2006/relationships/slide" Target="slides/slide4.xml"/><Relationship Id="rId90" Type="http://schemas.openxmlformats.org/officeDocument/2006/relationships/font" Target="fonts/font6.fntdata"/><Relationship Id="rId95" Type="http://schemas.openxmlformats.org/officeDocument/2006/relationships/font" Target="fonts/font1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1.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9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9.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journals.plos.org/plosgenetics/article?id=10.1371/journal.pgen.1009374"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2 - objectives of the lecture - what we will be discussing today is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What is admixture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How to identify patterns of admixture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The impact of admixture on the genome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This will be largely considered in the context of humans, before broadening out to</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Admixture in non-humans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3</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As we know, the key evolutionary processes impacting genetic variation at the genome &amp; population levels are : mutation, genetic drift, natural selection &amp; gene flow - which we’re focusing on here.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In fact gene flow, as a source of new alleles, is one of the fastest evolutionary processes to change the genetic makeup of a population.</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fig - https://www.science.org/doi/10.1126/science.aay5012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4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So what happens when populations meet? Say we have 2 differentiated populations that have been following their own evolutionary trajectories, then they encounter each other after a time of separation. What happens next?</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sz="1050">
                <a:solidFill>
                  <a:srgbClr val="0B57D0"/>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https://journals.plos.org/plosgenetics/article?id=10.1371/journal.pgen.1009374</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5</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In the absence of reproductive isolation, it is very likely that gene flow will occur.</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We’re increasingly recognizing just how common gene flow is in the natural world, both among living species &amp; among those that are now extinct. A particularly exciting example of which was the finding of a first generation hybrid - with a neanderthal mother &amp; denisovan father - by skov et al. in 2018.</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f3bc80b5d8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g3f3bc80b5d8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5</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In the absence of reproductive isolation, it is very likely that gene flow will occur.</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We’re increasingly recognizing just how common gene flow is in the natural world, both among living species &amp; among those that are now extinct. A particularly exciting example of which was the finding of a first generation hybrid - with a neanderthal mother &amp; denisovan father - by skov et al. in 2018.</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f68fc15589_0_10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f68fc15589_0_10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5</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In the absence of reproductive isolation, it is very likely that gene flow will occur.</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We’re increasingly recognizing just how common gene flow is in the natural world, both among living species &amp; among those that are now extinct. A particularly exciting example of which was the finding of a first generation hybrid - with a neanderthal mother &amp; denisovan father - by skov et al. in 2018.</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f67a44fbd9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f67a44fbd9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https://www.genomicsengland.co.uk/blog/inclusive-ancestry-group-assignment-in-genetics-research</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67a44fbd9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67a44fbd9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Caribbean populations as admixed - https://journals.plos.org/plosgenetics/article%3Fid=10.1371%2Fjournal.pgen.1003925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f67a44fbd9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f67a44fbd9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https://www.genomicsengland.co.uk/blog/inclusive-ancestry-group-assignment-in-genetics-research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67a44fbd9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f67a44fbd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https://journals.plos.org/plosgenetics/article%3Fid=10.1371%2Fjournal.pgen.1003925</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f68fc15589_0_4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f68fc15589_0_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https://journals.plos.org/plosgenetics/article%3Fid=10.1371%2Fjournal.pgen.1003925</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f67a44fbd9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f67a44fbd9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f68fc15589_0_7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f68fc15589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f68fc15589_0_7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f68fc15589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f67a44fbd9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f67a44fbd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https://www.genomicsengland.co.uk/blog/inclusive-ancestry-group-assignment-in-genetics-research</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f67a44fbd9_0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g3f67a44fbd9_0_1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f67a44fbd9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g3f67a44fbd9_0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f67a44fbd9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g3f67a44fbd9_0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f67a44fbd9_0_3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g3f67a44fbd9_0_3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f67a44fbd9_0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g3f67a44fbd9_0_2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f67a44fbd9_0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g3f67a44fbd9_0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f67a44fbd9_0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g3f67a44fbd9_0_3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f67a44fbd9_0_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2" name="Google Shape;452;g3f67a44fbd9_0_3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f67a44fbd9_0_4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3f67a44fbd9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https://www.genomicsengland.co.uk/blog/inclusive-ancestry-group-assignment-in-genetics-research</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9" name="Google Shape;49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Now let’s take a look at the paper by Green et al. 2010 where the D statistic was first devised &amp; which was one of their lines of evidence for gene flow from Neandertals to a subset of modern humans.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They performed high-throughput sequencing of 3 Neandertal bones from Vindija Cave in Croatia, &amp; from this generated the first draft Neandertal nuclear genome.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At this point in 2010, whether there had been gene flow between Neandertals and modern humans was still unresolved.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0" name="Google Shape;51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GB">
                <a:solidFill>
                  <a:schemeClr val="dk1"/>
                </a:solidFill>
              </a:rPr>
              <a:t>To test this hypothesis, they took biallelic SNPs where two present-day humans from different populations carry different alleles and where the Neandertal has the derived allele. </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68fc15589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3" name="Google Shape;523;g3f68fc15589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GB">
                <a:solidFill>
                  <a:schemeClr val="dk1"/>
                </a:solidFill>
              </a:rPr>
              <a:t>To test this hypothesis, they took biallelic SNPs where two present-day humans from different populations carry different alleles and where the Neandertal has the derived allele. </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f67a44fbd9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5" name="Google Shape;535;g3f67a44fbd9_0_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GB">
                <a:solidFill>
                  <a:schemeClr val="dk1"/>
                </a:solidFill>
              </a:rPr>
              <a:t>To test this hypothesis, they took biallelic SNPs where two present-day humans from different populations carry different alleles and where the Neandertal has the derived allele. </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f68fc15589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8" name="Google Shape;558;g3f68fc15589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GB">
                <a:solidFill>
                  <a:schemeClr val="dk1"/>
                </a:solidFill>
              </a:rPr>
              <a:t>To test this hypothesis, they took biallelic SNPs where two present-day humans from different populations carry different alleles and where the Neandertal has the derived allele. </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f68fc15589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9" name="Google Shape;579;g3f68fc15589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GB">
                <a:solidFill>
                  <a:schemeClr val="dk1"/>
                </a:solidFill>
              </a:rPr>
              <a:t>To test this hypothesis, they took biallelic SNPs where two present-day humans from different populations carry different alleles and where the Neandertal has the derived allele. </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3f68fc15589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5" name="Google Shape;605;g3f68fc15589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GB">
                <a:solidFill>
                  <a:schemeClr val="dk1"/>
                </a:solidFill>
              </a:rPr>
              <a:t>To test this hypothesis, they took biallelic SNPs where two present-day humans from different populations carry different alleles and where the Neandertal has the derived allele. </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f68fc15589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8" name="Google Shape;628;g3f68fc15589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solidFill>
                  <a:schemeClr val="dk1"/>
                </a:solidFill>
              </a:rPr>
              <a:t>They found that the Neandertal matched the alleles of non-Africans significantly more often than Africans. Meaning that Neandertals share significantly more derived alleles with non-Africans than with Africans</a:t>
            </a:r>
            <a:r>
              <a:rPr lang="en-GB" sz="900">
                <a:solidFill>
                  <a:schemeClr val="dk1"/>
                </a:solidFill>
              </a:rPr>
              <a:t>.</a:t>
            </a:r>
            <a:endParaRPr>
              <a:solidFill>
                <a:schemeClr val="dk1"/>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8" name="Google Shape;648;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solidFill>
                  <a:schemeClr val="dk1"/>
                </a:solidFill>
              </a:rPr>
              <a:t>They found that the Neandertal matched the alleles of non-Africans significantly more often than Africans. Meaning that Neandertals share significantly more derived alleles with non-Africans than with Africans</a:t>
            </a:r>
            <a:r>
              <a:rPr lang="en-GB" sz="900">
                <a:solidFill>
                  <a:schemeClr val="dk1"/>
                </a:solidFill>
              </a:rPr>
              <a:t>.</a:t>
            </a:r>
            <a:endParaRPr>
              <a:solidFill>
                <a:schemeClr val="dk1"/>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3f68fc15589_0_2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0" name="Google Shape;660;g3f68fc15589_0_2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solidFill>
                  <a:schemeClr val="dk1"/>
                </a:solidFill>
              </a:rPr>
              <a:t>They found that the Neandertal matched the alleles of non-Africans significantly more often than Africans. Meaning that Neandertals share significantly more derived alleles with non-Africans than with Africans</a:t>
            </a:r>
            <a:r>
              <a:rPr lang="en-GB" sz="900">
                <a:solidFill>
                  <a:schemeClr val="dk1"/>
                </a:solidFill>
              </a:rPr>
              <a:t>.</a:t>
            </a:r>
            <a:endParaRPr>
              <a:solidFill>
                <a:schemeClr val="dk1"/>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3f68fc15589_0_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2" name="Google Shape;682;g3f68fc15589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solidFill>
                  <a:schemeClr val="dk1"/>
                </a:solidFill>
              </a:rPr>
              <a:t>They found that the Neandertal matched the alleles of non-Africans significantly more often than Africans. Meaning that Neandertals share significantly more derived alleles with non-Africans than with Africans</a:t>
            </a:r>
            <a:r>
              <a:rPr lang="en-GB" sz="900">
                <a:solidFill>
                  <a:schemeClr val="dk1"/>
                </a:solidFill>
              </a:rPr>
              <a:t>.</a:t>
            </a:r>
            <a:endParaRPr>
              <a:solidFill>
                <a:schemeClr val="dk1"/>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6" name="Google Shape;70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f68fc15589_0_2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3" name="Google Shape;713;g3f68fc15589_0_2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f68fc15589_0_4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9" name="Google Shape;739;g3f68fc15589_0_4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3f68fc15589_0_3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5" name="Google Shape;765;g3f68fc15589_0_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3f68fc15589_0_3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2" name="Google Shape;792;g3f68fc15589_0_3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Slide 8</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One simple way to do this is by calculating the ABBA-BABA statistic, also known as the D statistic.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have four populations, 3 ingroups and one outgroup &amp; we have a haploid genome sample from each.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We see that the ancestral allele is an A. Then in this internal branch, after the split from the outgroup a lineage mutates from A to B. We also see in this internal branch, which is the common ancestor of the 3 ingroup populations, that we now have 2 sites segregating, some individuals carry the ancestral A allele &amp; some the derived B allele. </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 </a:t>
            </a:r>
            <a:r>
              <a:rPr lang="en-GB" sz="800">
                <a:solidFill>
                  <a:schemeClr val="dk1"/>
                </a:solidFill>
              </a:rPr>
              <a:t>Circles represent coalescent events, and stars indicate mutations from the ancestral state BA^ to the derived state BB.^ </a:t>
            </a:r>
            <a:endParaRPr sz="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 fig from https://www.researchgate.net/profile/Todd-Castoe/publication/333298593_Recent_Advances_in_the_Inference_of_Gene_Flow_from_Population_Genomic_Data/links/5e8dd0be92851c2f52888dc0/Recent-Advances-in-the-Inference-of-Gene-Flow-from-Population-Genomic-Data.pdf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7" name="Google Shape;81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rgbClr val="FF0000"/>
                </a:solidFill>
              </a:rPr>
              <a:t>Briefly I want to discuss the problem of sampling on the D statistic, so we continue to think about the limitations of any statistic or method we are applying (or that other people have applied).</a:t>
            </a:r>
            <a:endParaRPr>
              <a:solidFill>
                <a:srgbClr val="FF0000"/>
              </a:solidFill>
            </a:endParaRPr>
          </a:p>
          <a:p>
            <a:pPr marL="0" lvl="0" indent="0" algn="l" rtl="0">
              <a:lnSpc>
                <a:spcPct val="115000"/>
              </a:lnSpc>
              <a:spcBef>
                <a:spcPts val="0"/>
              </a:spcBef>
              <a:spcAft>
                <a:spcPts val="0"/>
              </a:spcAft>
              <a:buClr>
                <a:schemeClr val="dk1"/>
              </a:buClr>
              <a:buSzPts val="1100"/>
              <a:buFont typeface="Arial"/>
              <a:buNone/>
            </a:pPr>
            <a:r>
              <a:rPr lang="en-GB">
                <a:solidFill>
                  <a:srgbClr val="FF0000"/>
                </a:solidFill>
              </a:rPr>
              <a:t>Here Tricou et al. looked at genomic data of bears, on the left we see the phylogeny of the 5 populations &amp; where previous work has inferred there to be introgression. On the right we see that we obtain different results of the statistic depending on which samples we include in the analysis.</a:t>
            </a:r>
            <a:endParaRPr>
              <a:solidFill>
                <a:srgbClr val="FF0000"/>
              </a:solidFill>
            </a:endParaRPr>
          </a:p>
          <a:p>
            <a:pPr marL="0" lvl="0" indent="0" algn="l" rtl="0">
              <a:lnSpc>
                <a:spcPct val="115000"/>
              </a:lnSpc>
              <a:spcBef>
                <a:spcPts val="0"/>
              </a:spcBef>
              <a:spcAft>
                <a:spcPts val="0"/>
              </a:spcAft>
              <a:buClr>
                <a:schemeClr val="dk1"/>
              </a:buClr>
              <a:buSzPts val="1100"/>
              <a:buFont typeface="Arial"/>
              <a:buNone/>
            </a:pPr>
            <a:r>
              <a:rPr lang="en-GB">
                <a:solidFill>
                  <a:srgbClr val="FF0000"/>
                </a:solidFill>
              </a:rPr>
              <a:t>This raises an important point, that we do not necessarily know all the lineages which have contributed to our populations (extinct or living populations).</a:t>
            </a:r>
            <a:endParaRPr>
              <a:solidFill>
                <a:srgbClr val="FF0000"/>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Extra slide - FIGURE 3. The effect of sampling on the interpretation of the D-statistic, using bear genomic data as an example. a) Phylogenetic relationship of the five bear taxa sampled. The gray arrow shows the introgression inferred from previous studies. b) D-statistic calculated from two 4-taxon subsets. The number of ABBA and BABA patterns is given below the trees. In subset 1, the Slovenian bear, a lineage that is not thought to be involved in introgression, is removed. In subset 2, the donor of the introgression shown in 3A (i.e., the polar bear) is removed. Introgressions were inferred from the D-statistic (grey arrows), and their congruence with other studies (tick-mark = congruent, cross-mark = not congruent) is indicated above the arrow.The latter attribution, however, relies on our knowledge of the existence of polar bears, which are considered a ghost lineage in our example.</a:t>
            </a:r>
            <a:endParaRPr/>
          </a:p>
          <a:p>
            <a:pPr marL="0" lvl="0" indent="0" algn="l" rtl="0">
              <a:lnSpc>
                <a:spcPct val="100000"/>
              </a:lnSpc>
              <a:spcBef>
                <a:spcPts val="0"/>
              </a:spcBef>
              <a:spcAft>
                <a:spcPts val="0"/>
              </a:spcAft>
              <a:buSzPts val="1100"/>
              <a:buNone/>
            </a:pPr>
            <a:r>
              <a:rPr lang="en-GB"/>
              <a:t>we can never assume that we know all the lineages leading to extant or extinct species.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f68fc15589_0_4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1" name="Google Shape;831;g3f68fc15589_0_4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rgbClr val="FF0000"/>
                </a:solidFill>
              </a:rPr>
              <a:t>Briefly I want to discuss the problem of sampling on the D statistic, so we continue to think about the limitations of any statistic or method we are applying (or that other people have applied).</a:t>
            </a:r>
            <a:endParaRPr>
              <a:solidFill>
                <a:srgbClr val="FF0000"/>
              </a:solidFill>
            </a:endParaRPr>
          </a:p>
          <a:p>
            <a:pPr marL="0" lvl="0" indent="0" algn="l" rtl="0">
              <a:lnSpc>
                <a:spcPct val="115000"/>
              </a:lnSpc>
              <a:spcBef>
                <a:spcPts val="0"/>
              </a:spcBef>
              <a:spcAft>
                <a:spcPts val="0"/>
              </a:spcAft>
              <a:buClr>
                <a:schemeClr val="dk1"/>
              </a:buClr>
              <a:buSzPts val="1100"/>
              <a:buFont typeface="Arial"/>
              <a:buNone/>
            </a:pPr>
            <a:r>
              <a:rPr lang="en-GB">
                <a:solidFill>
                  <a:srgbClr val="FF0000"/>
                </a:solidFill>
              </a:rPr>
              <a:t>Here Tricou et al. looked at genomic data of bears, on the left we see the phylogeny of the 5 populations &amp; where previous work has inferred there to be introgression. On the right we see that we obtain different results of the statistic depending on which samples we include in the analysis.</a:t>
            </a:r>
            <a:endParaRPr>
              <a:solidFill>
                <a:srgbClr val="FF0000"/>
              </a:solidFill>
            </a:endParaRPr>
          </a:p>
          <a:p>
            <a:pPr marL="0" lvl="0" indent="0" algn="l" rtl="0">
              <a:lnSpc>
                <a:spcPct val="115000"/>
              </a:lnSpc>
              <a:spcBef>
                <a:spcPts val="0"/>
              </a:spcBef>
              <a:spcAft>
                <a:spcPts val="0"/>
              </a:spcAft>
              <a:buClr>
                <a:schemeClr val="dk1"/>
              </a:buClr>
              <a:buSzPts val="1100"/>
              <a:buFont typeface="Arial"/>
              <a:buNone/>
            </a:pPr>
            <a:r>
              <a:rPr lang="en-GB">
                <a:solidFill>
                  <a:srgbClr val="FF0000"/>
                </a:solidFill>
              </a:rPr>
              <a:t>This raises an important point, that we do not necessarily know all the lineages which have contributed to our populations (extinct or living populations).</a:t>
            </a:r>
            <a:endParaRPr>
              <a:solidFill>
                <a:srgbClr val="FF0000"/>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Extra slide - FIGURE 3. The effect of sampling on the interpretation of the D-statistic, using bear genomic data as an example. a) Phylogenetic relationship of the five bear taxa sampled. The gray arrow shows the introgression inferred from previous studies. b) D-statistic calculated from two 4-taxon subsets. The number of ABBA and BABA patterns is given below the trees. In subset 1, the Slovenian bear, a lineage that is not thought to be involved in introgression, is removed. In subset 2, the donor of the introgression shown in 3A (i.e., the polar bear) is removed. Introgressions were inferred from the D-statistic (grey arrows), and their congruence with other studies (tick-mark = congruent, cross-mark = not congruent) is indicated above the arrow.The latter attribution, however, relies on our knowledge of the existence of polar bears, which are considered a ghost lineage in our example.</a:t>
            </a:r>
            <a:endParaRPr/>
          </a:p>
          <a:p>
            <a:pPr marL="0" lvl="0" indent="0" algn="l" rtl="0">
              <a:lnSpc>
                <a:spcPct val="100000"/>
              </a:lnSpc>
              <a:spcBef>
                <a:spcPts val="0"/>
              </a:spcBef>
              <a:spcAft>
                <a:spcPts val="0"/>
              </a:spcAft>
              <a:buSzPts val="1100"/>
              <a:buNone/>
            </a:pPr>
            <a:r>
              <a:rPr lang="en-GB"/>
              <a:t>we can never assume that we know all the lineages leading to extant or extinct species.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3f68fc15589_0_4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6" name="Google Shape;846;g3f68fc15589_0_4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rgbClr val="FF0000"/>
                </a:solidFill>
              </a:rPr>
              <a:t>Briefly I want to discuss the problem of sampling on the D statistic, so we continue to think about the limitations of any statistic or method we are applying (or that other people have applied).</a:t>
            </a:r>
            <a:endParaRPr>
              <a:solidFill>
                <a:srgbClr val="FF0000"/>
              </a:solidFill>
            </a:endParaRPr>
          </a:p>
          <a:p>
            <a:pPr marL="0" lvl="0" indent="0" algn="l" rtl="0">
              <a:lnSpc>
                <a:spcPct val="115000"/>
              </a:lnSpc>
              <a:spcBef>
                <a:spcPts val="0"/>
              </a:spcBef>
              <a:spcAft>
                <a:spcPts val="0"/>
              </a:spcAft>
              <a:buClr>
                <a:schemeClr val="dk1"/>
              </a:buClr>
              <a:buSzPts val="1100"/>
              <a:buFont typeface="Arial"/>
              <a:buNone/>
            </a:pPr>
            <a:r>
              <a:rPr lang="en-GB">
                <a:solidFill>
                  <a:srgbClr val="FF0000"/>
                </a:solidFill>
              </a:rPr>
              <a:t>Here Tricou et al. looked at genomic data of bears, on the left we see the phylogeny of the 5 populations &amp; where previous work has inferred there to be introgression. On the right we see that we obtain different results of the statistic depending on which samples we include in the analysis.</a:t>
            </a:r>
            <a:endParaRPr>
              <a:solidFill>
                <a:srgbClr val="FF0000"/>
              </a:solidFill>
            </a:endParaRPr>
          </a:p>
          <a:p>
            <a:pPr marL="0" lvl="0" indent="0" algn="l" rtl="0">
              <a:lnSpc>
                <a:spcPct val="115000"/>
              </a:lnSpc>
              <a:spcBef>
                <a:spcPts val="0"/>
              </a:spcBef>
              <a:spcAft>
                <a:spcPts val="0"/>
              </a:spcAft>
              <a:buClr>
                <a:schemeClr val="dk1"/>
              </a:buClr>
              <a:buSzPts val="1100"/>
              <a:buFont typeface="Arial"/>
              <a:buNone/>
            </a:pPr>
            <a:r>
              <a:rPr lang="en-GB">
                <a:solidFill>
                  <a:srgbClr val="FF0000"/>
                </a:solidFill>
              </a:rPr>
              <a:t>This raises an important point, that we do not necessarily know all the lineages which have contributed to our populations (extinct or living populations).</a:t>
            </a:r>
            <a:endParaRPr>
              <a:solidFill>
                <a:srgbClr val="FF0000"/>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Extra slide - FIGURE 3. The effect of sampling on the interpretation of the D-statistic, using bear genomic data as an example. a) Phylogenetic relationship of the five bear taxa sampled. The gray arrow shows the introgression inferred from previous studies. b) D-statistic calculated from two 4-taxon subsets. The number of ABBA and BABA patterns is given below the trees. In subset 1, the Slovenian bear, a lineage that is not thought to be involved in introgression, is removed. In subset 2, the donor of the introgression shown in 3A (i.e., the polar bear) is removed. Introgressions were inferred from the D-statistic (grey arrows), and their congruence with other studies (tick-mark = congruent, cross-mark = not congruent) is indicated above the arrow.The latter attribution, however, relies on our knowledge of the existence of polar bears, which are considered a ghost lineage in our example.</a:t>
            </a:r>
            <a:endParaRPr/>
          </a:p>
          <a:p>
            <a:pPr marL="0" lvl="0" indent="0" algn="l" rtl="0">
              <a:lnSpc>
                <a:spcPct val="100000"/>
              </a:lnSpc>
              <a:spcBef>
                <a:spcPts val="0"/>
              </a:spcBef>
              <a:spcAft>
                <a:spcPts val="0"/>
              </a:spcAft>
              <a:buSzPts val="1100"/>
              <a:buNone/>
            </a:pPr>
            <a:r>
              <a:rPr lang="en-GB"/>
              <a:t>we can never assume that we know all the lineages leading to extant or extinct species.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3f68fc15589_0_4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0" name="Google Shape;860;g3f68fc15589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https://www.genomicsengland.co.uk/blog/inclusive-ancestry-group-assignment-in-genetics-research</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3f68fc15589_0_4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3f68fc15589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https://www.genomicsengland.co.uk/blog/inclusive-ancestry-group-assignment-in-genetics-research</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1" name="Google Shape;89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So to narrow down a genome-wide signal of gene flow to individual introgressed segments we need another approach.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 next thing they did was to split the genomes of African &amp; Europeans into segments &amp; look at the divergence of these segments   to the Neandertal sequence on the x axis, &amp; their divergence to other present-day human sequences on the y axis. We see that there are segments in Europeans in blue, which have low divergence to the Neandertal &amp; high divergence to other humans - suggesting that these segments are likely Neandertal in origin &amp; have entered the population by introgression</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3f68fc15589_0_5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1" name="Google Shape;901;g3f68fc15589_0_5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So to narrow down a genome-wide signal of gene flow to individual introgressed segments we need another approach.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 next thing they did was to split the genomes of African &amp; Europeans into segments &amp; look at the divergence of these segments   to the Neandertal sequence on the x axis, &amp; their divergence to other present-day human sequences on the y axis. We see that there are segments in Europeans in blue, which have low divergence to the Neandertal &amp; high divergence to other humans - suggesting that these segments are likely Neandertal in origin &amp; have entered the population by introgression</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3f68fc15589_0_5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6" name="Google Shape;916;g3f68fc15589_0_5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So to narrow down a genome-wide signal of gene flow to individual introgressed segments we need another approach.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 next thing they did was to split the genomes of African &amp; Europeans into segments &amp; look at the divergence of these segments   to the Neandertal sequence on the x axis, &amp; their divergence to other present-day human sequences on the y axis. We see that there are segments in Europeans in blue, which have low divergence to the Neandertal &amp; high divergence to other humans - suggesting that these segments are likely Neandertal in origin &amp; have entered the population by introgression</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f68fc15589_0_5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0" name="Google Shape;930;g3f68fc15589_0_5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So to narrow down a genome-wide signal of gene flow to individual introgressed segments we need another approach.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 next thing they did was to split the genomes of African &amp; Europeans into segments &amp; look at the divergence of these segments   to the Neandertal sequence on the x axis, &amp; their divergence to other present-day human sequences on the y axis. We see that there are segments in Europeans in blue, which have low divergence to the Neandertal &amp; high divergence to other humans - suggesting that these segments are likely Neandertal in origin &amp; have entered the population by introgression</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3f68fc15589_0_5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9" name="Google Shape;949;g3f68fc15589_0_5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So to narrow down a genome-wide signal of gene flow to individual introgressed segments we need another approach.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 next thing they did was to split the genomes of African &amp; Europeans into segments &amp; look at the divergence of these segments   to the Neandertal sequence on the x axis, &amp; their divergence to other present-day human sequences on the y axis. We see that there are segments in Europeans in blue, which have low divergence to the Neandertal &amp; high divergence to other humans - suggesting that these segments are likely Neandertal in origin &amp; have entered the population by introgression</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7" name="Google Shape;96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So to recap, in this paper they used different lines of evidence supporting gene flow. The first, was D statistics, looking at allele sharing, then they took an independent approach by looking for discordant regions of the genome.</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3f68fc15589_0_5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975" name="Google Shape;975;g3f68fc15589_0_5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t>https://pmc.ncbi.nlm.nih.gov/articles/PMC4753769/</a:t>
            </a:r>
            <a:endParaRPr/>
          </a:p>
        </p:txBody>
      </p:sp>
      <p:sp>
        <p:nvSpPr>
          <p:cNvPr id="991" name="Google Shape;99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highlight>
                <a:srgbClr val="FFFFFF"/>
              </a:highlight>
              <a:latin typeface="Times New Roman"/>
              <a:ea typeface="Times New Roman"/>
              <a:cs typeface="Times New Roman"/>
              <a:sym typeface="Times New Roman"/>
            </a:endParaRPr>
          </a:p>
        </p:txBody>
      </p:sp>
      <p:sp>
        <p:nvSpPr>
          <p:cNvPr id="1001" name="Google Shape;100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3f68fc15589_0_6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highlight>
                <a:srgbClr val="FFFFFF"/>
              </a:highlight>
              <a:latin typeface="Times New Roman"/>
              <a:ea typeface="Times New Roman"/>
              <a:cs typeface="Times New Roman"/>
              <a:sym typeface="Times New Roman"/>
            </a:endParaRPr>
          </a:p>
        </p:txBody>
      </p:sp>
      <p:sp>
        <p:nvSpPr>
          <p:cNvPr id="1016" name="Google Shape;1016;g3f68fc15589_0_6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3f68fc15589_0_6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highlight>
                <a:srgbClr val="FFFFFF"/>
              </a:highlight>
              <a:latin typeface="Times New Roman"/>
              <a:ea typeface="Times New Roman"/>
              <a:cs typeface="Times New Roman"/>
              <a:sym typeface="Times New Roman"/>
            </a:endParaRPr>
          </a:p>
        </p:txBody>
      </p:sp>
      <p:sp>
        <p:nvSpPr>
          <p:cNvPr id="1029" name="Google Shape;1029;g3f68fc15589_0_6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3f68fc15589_0_6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0" name="Google Shape;1040;g3f68fc15589_0_6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Here is a summary of what we know so far about archaic introgression events in hominins &amp; there should also be a ghost with gene flow into Africans. Highlighting that this is a rapidly changing field.</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rgbClr val="FF0000"/>
                </a:solidFill>
              </a:rPr>
              <a:t># hope these slides have given you an idea of the advances in ancient dna sequencing &amp; bioinformatic methods to analyse this data over the past decade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3f68fc15589_0_6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 name="Google Shape;1048;g3f68fc15589_0_6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3f68fc15589_0_6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3f68fc15589_0_6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3f68fc15589_0_6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5" name="Google Shape;1065;g3f68fc15589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3f68fc15589_0_7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3f68fc15589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3f68fc15589_0_6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6" name="Google Shape;1116;g3f68fc15589_0_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3f68fc15589_0_7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8" name="Google Shape;1128;g3f68fc15589_0_7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rgbClr val="FF0000"/>
                </a:solidFill>
              </a:rPr>
              <a:t># another extra slide: further scenario to consider: ghost introgression -&gt; unsampled ghost in the phylogeny can lead to misidentified donor &amp; recipient lineages. By ghost we mean an unsampled population, which may or may not be extinct. </a:t>
            </a:r>
            <a:endParaRPr>
              <a:solidFill>
                <a:srgbClr val="FF0000"/>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Extra slide - </a:t>
            </a:r>
            <a:endParaRPr/>
          </a:p>
          <a:p>
            <a:pPr marL="0" lvl="0" indent="0" algn="l" rtl="0">
              <a:lnSpc>
                <a:spcPct val="100000"/>
              </a:lnSpc>
              <a:spcBef>
                <a:spcPts val="0"/>
              </a:spcBef>
              <a:spcAft>
                <a:spcPts val="0"/>
              </a:spcAft>
              <a:buSzPts val="1100"/>
              <a:buNone/>
            </a:pPr>
            <a:r>
              <a:rPr lang="en-GB"/>
              <a:t>Introgression events that can result in a significant excess of ABBA or BABA patterns according to the D-statistic. The usual interpretation of this excess is the hypothesis of “ingroup” introgression (left panel). However, “ghost” (or “midgroup”) introgression (right panel) from ghost lineages (G) can produce similar patterns.</a:t>
            </a:r>
            <a:endParaRPr/>
          </a:p>
          <a:p>
            <a:pPr marL="0" lvl="0" indent="0" algn="l" rtl="0">
              <a:lnSpc>
                <a:spcPct val="100000"/>
              </a:lnSpc>
              <a:spcBef>
                <a:spcPts val="0"/>
              </a:spcBef>
              <a:spcAft>
                <a:spcPts val="0"/>
              </a:spcAft>
              <a:buSzPts val="1100"/>
              <a:buNone/>
            </a:pPr>
            <a:r>
              <a:rPr lang="en-GB"/>
              <a:t>Potential misidentification of donor &amp; recipient lineages - from having an unsampled ghost in the phylogeny</a:t>
            </a:r>
            <a:endParaRPr/>
          </a:p>
          <a:p>
            <a:pPr marL="0" lvl="0" indent="0" algn="l" rtl="0">
              <a:lnSpc>
                <a:spcPct val="100000"/>
              </a:lnSpc>
              <a:spcBef>
                <a:spcPts val="0"/>
              </a:spcBef>
              <a:spcAft>
                <a:spcPts val="0"/>
              </a:spcAft>
              <a:buSzPts val="1100"/>
              <a:buNone/>
            </a:pPr>
            <a:r>
              <a:rPr lang="en-GB"/>
              <a:t>From tricou 2021 https://watermark.silverchair.com/syac011.pdf?token=AQECAHi208BE49Ooan9kkhW_Ercy7Dm3ZL_9Cf3qfKAc485ysgAAAt4wggLaBgkqhkiG9w0BBwagggLLMIICxwIBADCCAsAGCSqGSIb3DQEHATAeBglghkgBZQMEAS4wEQQMWqNgJ15BB1coRIXBAgEQgIICkcTu4LMc5NmV4-VKsDU_M2hfbYCc2jT3n2jzXs4FgPkgLgvweStgWgQ2fYfcX0zABp54KkJh3fF-0q-7klaOW5ZIH92FlPEl2unL_76ucabJe2Jy0ykbz7eOrnAExBw3TSuYz9zf_v6sKQ6ful-_iISCpYBZmygwkfeHG__aJIfLNZp2oRn6uD9Xs8AlSBWGRrem9JaU9sobZeAJV2U9weLlSpaCG3seillqRM3sraPbgurIRLZ9ux4bRIz7IS5N4L_3pnCuvfySDJf3pvDOggvlDCpjPl7zFKwofCC0SKbi-XjRrK6BjbwSRU_uVGGqT20e-CzdRVoCVCyx8lRqucieXGj128fUUYJ4_Y_DRfeWtBBEFBkqwX9ewBBYb7csV5evQY8211AdZ0nrlo_xc8Pb5TVisZsnc6rIl-dnh_A4MH4k3rEhVPG7s-bkRe1qbnw8tylKVtkAe_rllT4evUVF4BoZYh1wFKUDs5qxcRs38S-AVd5LGz6EXdjddLngfkY4kCo6-rTkn_oejnHYXziV6GDYvFZV5Av_fL78x4wKM7eNtital5iSD1eyYZS87g8xj5oViovGxWPAz16uG46fivKAL2ppIQI1KjopVAvKYJ-Mc8mAuENGqa1C4RvZCQzugu15rhf-y1H5tPS8zAgJERJgl-tx-DbhXO3fgquPBe3rJNNkop_fxMYcG7ks83u2nFPkd7F-_huKe0meWCCxk9mcK24BDZrmUjNfyj59lbX2dvvZzshUKgjpdkbzDK0KhZ0rgCMWy_Pz0RVvggbXsasDXCZ9aUhfJbSPfk1XG3TEsFL31P8GLtqJeQ1FeUnnzEFIjB0NYQW888mNAGhob4CtJA_9hi0zO8yRv_wOMQ</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5"/>
        <p:cNvGrpSpPr/>
        <p:nvPr/>
      </p:nvGrpSpPr>
      <p:grpSpPr>
        <a:xfrm>
          <a:off x="0" y="0"/>
          <a:ext cx="0" cy="0"/>
          <a:chOff x="0" y="0"/>
          <a:chExt cx="0" cy="0"/>
        </a:xfrm>
      </p:grpSpPr>
      <p:sp>
        <p:nvSpPr>
          <p:cNvPr id="1136" name="Google Shape;1136;g3f68fc15589_0_7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7" name="Google Shape;1137;g3f68fc15589_0_7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rgbClr val="FF0000"/>
                </a:solidFill>
              </a:rPr>
              <a:t># another extra slide: further scenario to consider: ghost introgression -&gt; unsampled ghost in the phylogeny can lead to misidentified donor &amp; recipient lineages. By ghost we mean an unsampled population, which may or may not be extinct. </a:t>
            </a:r>
            <a:endParaRPr>
              <a:solidFill>
                <a:srgbClr val="FF0000"/>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GB"/>
              <a:t>Extra slide - </a:t>
            </a:r>
            <a:endParaRPr/>
          </a:p>
          <a:p>
            <a:pPr marL="0" lvl="0" indent="0" algn="l" rtl="0">
              <a:lnSpc>
                <a:spcPct val="100000"/>
              </a:lnSpc>
              <a:spcBef>
                <a:spcPts val="0"/>
              </a:spcBef>
              <a:spcAft>
                <a:spcPts val="0"/>
              </a:spcAft>
              <a:buSzPts val="1100"/>
              <a:buNone/>
            </a:pPr>
            <a:r>
              <a:rPr lang="en-GB"/>
              <a:t>Introgression events that can result in a significant excess of ABBA or BABA patterns according to the D-statistic. The usual interpretation of this excess is the hypothesis of “ingroup” introgression (left panel). However, “ghost” (or “midgroup”) introgression (right panel) from ghost lineages (G) can produce similar patterns.</a:t>
            </a:r>
            <a:endParaRPr/>
          </a:p>
          <a:p>
            <a:pPr marL="0" lvl="0" indent="0" algn="l" rtl="0">
              <a:lnSpc>
                <a:spcPct val="100000"/>
              </a:lnSpc>
              <a:spcBef>
                <a:spcPts val="0"/>
              </a:spcBef>
              <a:spcAft>
                <a:spcPts val="0"/>
              </a:spcAft>
              <a:buSzPts val="1100"/>
              <a:buNone/>
            </a:pPr>
            <a:r>
              <a:rPr lang="en-GB"/>
              <a:t>Potential misidentification of donor &amp; recipient lineages - from having an unsampled ghost in the phylogeny</a:t>
            </a:r>
            <a:endParaRPr/>
          </a:p>
          <a:p>
            <a:pPr marL="0" lvl="0" indent="0" algn="l" rtl="0">
              <a:lnSpc>
                <a:spcPct val="100000"/>
              </a:lnSpc>
              <a:spcBef>
                <a:spcPts val="0"/>
              </a:spcBef>
              <a:spcAft>
                <a:spcPts val="0"/>
              </a:spcAft>
              <a:buSzPts val="1100"/>
              <a:buNone/>
            </a:pPr>
            <a:r>
              <a:rPr lang="en-GB"/>
              <a:t>From tricou 2021 https://watermark.silverchair.com/syac011.pdf?token=AQECAHi208BE49Ooan9kkhW_Ercy7Dm3ZL_9Cf3qfKAc485ysgAAAt4wggLaBgkqhkiG9w0BBwagggLLMIICxwIBADCCAsAGCSqGSIb3DQEHATAeBglghkgBZQMEAS4wEQQMWqNgJ15BB1coRIXBAgEQgIICkcTu4LMc5NmV4-VKsDU_M2hfbYCc2jT3n2jzXs4FgPkgLgvweStgWgQ2fYfcX0zABp54KkJh3fF-0q-7klaOW5ZIH92FlPEl2unL_76ucabJe2Jy0ykbz7eOrnAExBw3TSuYz9zf_v6sKQ6ful-_iISCpYBZmygwkfeHG__aJIfLNZp2oRn6uD9Xs8AlSBWGRrem9JaU9sobZeAJV2U9weLlSpaCG3seillqRM3sraPbgurIRLZ9ux4bRIz7IS5N4L_3pnCuvfySDJf3pvDOggvlDCpjPl7zFKwofCC0SKbi-XjRrK6BjbwSRU_uVGGqT20e-CzdRVoCVCyx8lRqucieXGj128fUUYJ4_Y_DRfeWtBBEFBkqwX9ewBBYb7csV5evQY8211AdZ0nrlo_xc8Pb5TVisZsnc6rIl-dnh_A4MH4k3rEhVPG7s-bkRe1qbnw8tylKVtkAe_rllT4evUVF4BoZYh1wFKUDs5qxcRs38S-AVd5LGz6EXdjddLngfkY4kCo6-rTkn_oejnHYXziV6GDYvFZV5Av_fL78x4wKM7eNtital5iSD1eyYZS87g8xj5oViovGxWPAz16uG46fivKAL2ppIQI1KjopVAvKYJ-Mc8mAuENGqa1C4RvZCQzugu15rhf-y1H5tPS8zAgJERJgl-tx-DbhXO3fgquPBe3rJNNkop_fxMYcG7ks83u2nFPkd7F-_huKe0meWCCxk9mcK24BDZrmUjNfyj59lbX2dvvZzshUKgjpdkbzDK0KhZ0rgCMWy_Pz0RVvggbXsasDXCZ9aUhfJbSPfk1XG3TEsFL31P8GLtqJeQ1FeUnnzEFIjB0NYQW888mNAGhob4CtJA_9hi0zO8yRv_wOMQ</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3f68fc15589_0_7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3f68fc15589_0_7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3f68fc15589_0_8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3f68fc15589_0_8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g3f68fc15589_0_7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3f68fc15589_0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3f68fc15589_0_8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In the first generation after admixture, whole introgressed chromosomes enter the population.</a:t>
            </a:r>
            <a:endParaRPr/>
          </a:p>
        </p:txBody>
      </p:sp>
      <p:sp>
        <p:nvSpPr>
          <p:cNvPr id="1181" name="Google Shape;1181;g3f68fc15589_0_8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g3f68fc15589_0_8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Over many generations &amp; if segregating under neutrality genetic drift will act to change introgressed allele frequency at random. While recombination will act to break down the length of the introgressed fragments. As with all variation much of the introgressed material is likely to be functionally neutral.</a:t>
            </a:r>
            <a:endParaRPr/>
          </a:p>
        </p:txBody>
      </p:sp>
      <p:sp>
        <p:nvSpPr>
          <p:cNvPr id="1187" name="Google Shape;1187;g3f68fc15589_0_8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g3f68fc15589_0_8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But some introgressed variants may be targets of positive selection &amp; increase to high frequency, this is termed ‘adaptive introgression’.</a:t>
            </a:r>
            <a:endParaRPr/>
          </a:p>
        </p:txBody>
      </p:sp>
      <p:sp>
        <p:nvSpPr>
          <p:cNvPr id="1193" name="Google Shape;1193;g3f68fc15589_0_8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3f68fc15589_0_8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While other variants will be purged by negative selection against introgressed material, resulting in introgression deserts.</a:t>
            </a:r>
            <a:endParaRPr/>
          </a:p>
        </p:txBody>
      </p:sp>
      <p:sp>
        <p:nvSpPr>
          <p:cNvPr id="1198" name="Google Shape;1198;g3f68fc15589_0_8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g3f68fc15589_0_8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 functional consequences of adaptive introgression &amp; introgression deserts can be explored further &amp; assessed for candidate loci. To give an idea of why these regions may have been targeted by selection.</a:t>
            </a:r>
            <a:endParaRPr/>
          </a:p>
        </p:txBody>
      </p:sp>
      <p:sp>
        <p:nvSpPr>
          <p:cNvPr id="1203" name="Google Shape;1203;g3f68fc15589_0_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g3f68fc15589_0_8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 functional consequences of adaptive introgression &amp; introgression deserts can be explored further &amp; assessed for candidate loci. To give an idea of why these regions may have been targeted by selection.</a:t>
            </a:r>
            <a:endParaRPr/>
          </a:p>
        </p:txBody>
      </p:sp>
      <p:sp>
        <p:nvSpPr>
          <p:cNvPr id="1214" name="Google Shape;1214;g3f68fc15589_0_8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p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7" name="Google Shape;1227;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Let’s look at the archetypal example of adaptive introgression - EPAS1 in Tibetans.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It had previously been shown that the gene EPAS1 had strong signatures of positive selection in the Tibetan population. EPAS1 encodes a transcription factor, which is induced in hypoxic conditions, such as at high altitude.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Huerta-Sanchez et al. built haplotype networks from the pairwise differences in the EPAS1 gene for all populations in the 1000 Genomes dataset - which we see here. </a:t>
            </a:r>
            <a:endParaRPr>
              <a:solidFill>
                <a:schemeClr val="dk1"/>
              </a:solidFill>
            </a:endParaRPr>
          </a:p>
          <a:p>
            <a:pPr marL="0" lvl="0" indent="0" algn="l" rtl="0">
              <a:lnSpc>
                <a:spcPct val="100000"/>
              </a:lnSpc>
              <a:spcBef>
                <a:spcPts val="0"/>
              </a:spcBef>
              <a:spcAft>
                <a:spcPts val="0"/>
              </a:spcAft>
              <a:buSzPts val="1100"/>
              <a:buNone/>
            </a:pPr>
            <a:endParaRPr sz="10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3f68fc15589_0_9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6" name="Google Shape;1236;g3f68fc15589_0_9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Let’s look at the archetypal example of adaptive introgression - EPAS1 in Tibetans.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It had previously been shown that the gene EPAS1 had strong signatures of positive selection in the Tibetan population. EPAS1 encodes a transcription factor, which is induced in hypoxic conditions, such as at high altitude.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Huerta-Sanchez et al. built haplotype networks from the pairwise differences in the EPAS1 gene for all populations in the 1000 Genomes dataset - which we see here. </a:t>
            </a:r>
            <a:endParaRPr>
              <a:solidFill>
                <a:schemeClr val="dk1"/>
              </a:solidFill>
            </a:endParaRPr>
          </a:p>
          <a:p>
            <a:pPr marL="0" lvl="0" indent="0" algn="l" rtl="0">
              <a:lnSpc>
                <a:spcPct val="100000"/>
              </a:lnSpc>
              <a:spcBef>
                <a:spcPts val="0"/>
              </a:spcBef>
              <a:spcAft>
                <a:spcPts val="0"/>
              </a:spcAft>
              <a:buSzPts val="1100"/>
              <a:buNone/>
            </a:pPr>
            <a:endParaRPr sz="10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4"/>
        <p:cNvGrpSpPr/>
        <p:nvPr/>
      </p:nvGrpSpPr>
      <p:grpSpPr>
        <a:xfrm>
          <a:off x="0" y="0"/>
          <a:ext cx="0" cy="0"/>
          <a:chOff x="0" y="0"/>
          <a:chExt cx="0" cy="0"/>
        </a:xfrm>
      </p:grpSpPr>
      <p:sp>
        <p:nvSpPr>
          <p:cNvPr id="1245" name="Google Shape;1245;p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6" name="Google Shape;1246;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The opposite scenario to adaptive introgression, is the emergence of introgression deserts. These are defined as regions longer than 10Mb with depleted archaic ancestry.</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Sankararaman et al. &amp; others have localised introgression deserts to chromosome X &amp; to genes expressed in the test, as well as to the region surrounding foxp2.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5" name="Google Shape;1255;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Why would these regions be under negative selection?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Deserts in chromosome X &amp; in testes genes support the hypothesis of reduced fertility of male hybrids. &amp; indicate that for these genes the archaic alleles were deleterious on the human background. </a:t>
            </a:r>
            <a:r>
              <a:rPr lang="en-GB">
                <a:solidFill>
                  <a:srgbClr val="FF0000"/>
                </a:solidFill>
              </a:rPr>
              <a:t>…idea of regulatory epistasis, that archaic alleles adapted to function in an archaic genetic background, encounter incompatibilities outside of this </a:t>
            </a:r>
            <a:endParaRPr>
              <a:solidFill>
                <a:srgbClr val="FF0000"/>
              </a:solidFill>
            </a:endParaRPr>
          </a:p>
          <a:p>
            <a:pPr marL="0" lvl="0" indent="0" algn="l" rtl="0">
              <a:lnSpc>
                <a:spcPct val="115000"/>
              </a:lnSpc>
              <a:spcBef>
                <a:spcPts val="0"/>
              </a:spcBef>
              <a:spcAft>
                <a:spcPts val="0"/>
              </a:spcAft>
              <a:buClr>
                <a:schemeClr val="dk1"/>
              </a:buClr>
              <a:buSzPts val="1100"/>
              <a:buFont typeface="Arial"/>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3f68fc15589_0_9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2" name="Google Shape;1262;g3f68fc15589_0_9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Another timely example of the impact of introgressed variants on health outcomes was provided by the pandemic. Previously a GWAS found this region of chromosome 3 was significantly associated with severe COVID19 at the genome-wide level. Zeberg &amp; Paabo demonstrate that the variants at this GWAS hit are in high linkage disequilibrium. &amp; that all risk haplotypes associated with severe COVID19 cluster with the available Neandertal genomes. So the risk haplotype introgressed from Neandertals</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7" name="Google Shape;1277;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Another timely example of the impact of introgressed variants on health outcomes was provided by the pandemic. Previously a GWAS found this region of chromosome 3 was significantly associated with severe COVID19 at the genome-wide level. Zeberg &amp; Paabo demonstrate that the variants at this GWAS hit are in high linkage disequilibrium. &amp; that all risk haplotypes associated with severe COVID19 cluster with the available Neandertal genomes. So the risk haplotype introgressed from Neandertals</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3f68fc15589_0_9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3f68fc15589_0_9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
        <p:cNvGrpSpPr/>
        <p:nvPr/>
      </p:nvGrpSpPr>
      <p:grpSpPr>
        <a:xfrm>
          <a:off x="0" y="0"/>
          <a:ext cx="0" cy="0"/>
          <a:chOff x="0" y="0"/>
          <a:chExt cx="0" cy="0"/>
        </a:xfrm>
      </p:grpSpPr>
      <p:sp>
        <p:nvSpPr>
          <p:cNvPr id="10" name="Google Shape;10;p78"/>
          <p:cNvSpPr/>
          <p:nvPr/>
        </p:nvSpPr>
        <p:spPr>
          <a:xfrm>
            <a:off x="-50" y="2571900"/>
            <a:ext cx="9144000" cy="25716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78"/>
          <p:cNvSpPr txBox="1">
            <a:spLocks noGrp="1"/>
          </p:cNvSpPr>
          <p:nvPr>
            <p:ph type="title"/>
          </p:nvPr>
        </p:nvSpPr>
        <p:spPr>
          <a:xfrm>
            <a:off x="311700" y="814800"/>
            <a:ext cx="8571300" cy="9420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rgbClr val="45818E"/>
              </a:buClr>
              <a:buSzPts val="3600"/>
              <a:buNone/>
              <a:defRPr>
                <a:solidFill>
                  <a:srgbClr val="45818E"/>
                </a:solidFill>
              </a:defRPr>
            </a:lvl1pPr>
            <a:lvl2pPr lvl="1" algn="ctr">
              <a:lnSpc>
                <a:spcPct val="100000"/>
              </a:lnSpc>
              <a:spcBef>
                <a:spcPts val="0"/>
              </a:spcBef>
              <a:spcAft>
                <a:spcPts val="0"/>
              </a:spcAft>
              <a:buClr>
                <a:srgbClr val="45818E"/>
              </a:buClr>
              <a:buSzPts val="3600"/>
              <a:buNone/>
              <a:defRPr>
                <a:solidFill>
                  <a:srgbClr val="45818E"/>
                </a:solidFill>
              </a:defRPr>
            </a:lvl2pPr>
            <a:lvl3pPr lvl="2" algn="ctr">
              <a:lnSpc>
                <a:spcPct val="100000"/>
              </a:lnSpc>
              <a:spcBef>
                <a:spcPts val="0"/>
              </a:spcBef>
              <a:spcAft>
                <a:spcPts val="0"/>
              </a:spcAft>
              <a:buClr>
                <a:srgbClr val="45818E"/>
              </a:buClr>
              <a:buSzPts val="3600"/>
              <a:buNone/>
              <a:defRPr>
                <a:solidFill>
                  <a:srgbClr val="45818E"/>
                </a:solidFill>
              </a:defRPr>
            </a:lvl3pPr>
            <a:lvl4pPr lvl="3" algn="ctr">
              <a:lnSpc>
                <a:spcPct val="100000"/>
              </a:lnSpc>
              <a:spcBef>
                <a:spcPts val="0"/>
              </a:spcBef>
              <a:spcAft>
                <a:spcPts val="0"/>
              </a:spcAft>
              <a:buClr>
                <a:srgbClr val="45818E"/>
              </a:buClr>
              <a:buSzPts val="3600"/>
              <a:buNone/>
              <a:defRPr>
                <a:solidFill>
                  <a:srgbClr val="45818E"/>
                </a:solidFill>
              </a:defRPr>
            </a:lvl4pPr>
            <a:lvl5pPr lvl="4" algn="ctr">
              <a:lnSpc>
                <a:spcPct val="100000"/>
              </a:lnSpc>
              <a:spcBef>
                <a:spcPts val="0"/>
              </a:spcBef>
              <a:spcAft>
                <a:spcPts val="0"/>
              </a:spcAft>
              <a:buClr>
                <a:srgbClr val="45818E"/>
              </a:buClr>
              <a:buSzPts val="3600"/>
              <a:buNone/>
              <a:defRPr>
                <a:solidFill>
                  <a:srgbClr val="45818E"/>
                </a:solidFill>
              </a:defRPr>
            </a:lvl5pPr>
            <a:lvl6pPr lvl="5" algn="ctr">
              <a:lnSpc>
                <a:spcPct val="100000"/>
              </a:lnSpc>
              <a:spcBef>
                <a:spcPts val="0"/>
              </a:spcBef>
              <a:spcAft>
                <a:spcPts val="0"/>
              </a:spcAft>
              <a:buClr>
                <a:srgbClr val="45818E"/>
              </a:buClr>
              <a:buSzPts val="3600"/>
              <a:buNone/>
              <a:defRPr>
                <a:solidFill>
                  <a:srgbClr val="45818E"/>
                </a:solidFill>
              </a:defRPr>
            </a:lvl6pPr>
            <a:lvl7pPr lvl="6" algn="ctr">
              <a:lnSpc>
                <a:spcPct val="100000"/>
              </a:lnSpc>
              <a:spcBef>
                <a:spcPts val="0"/>
              </a:spcBef>
              <a:spcAft>
                <a:spcPts val="0"/>
              </a:spcAft>
              <a:buClr>
                <a:srgbClr val="45818E"/>
              </a:buClr>
              <a:buSzPts val="3600"/>
              <a:buNone/>
              <a:defRPr>
                <a:solidFill>
                  <a:srgbClr val="45818E"/>
                </a:solidFill>
              </a:defRPr>
            </a:lvl7pPr>
            <a:lvl8pPr lvl="7" algn="ctr">
              <a:lnSpc>
                <a:spcPct val="100000"/>
              </a:lnSpc>
              <a:spcBef>
                <a:spcPts val="0"/>
              </a:spcBef>
              <a:spcAft>
                <a:spcPts val="0"/>
              </a:spcAft>
              <a:buClr>
                <a:srgbClr val="45818E"/>
              </a:buClr>
              <a:buSzPts val="3600"/>
              <a:buNone/>
              <a:defRPr>
                <a:solidFill>
                  <a:srgbClr val="45818E"/>
                </a:solidFill>
              </a:defRPr>
            </a:lvl8pPr>
            <a:lvl9pPr lvl="8" algn="ctr">
              <a:lnSpc>
                <a:spcPct val="100000"/>
              </a:lnSpc>
              <a:spcBef>
                <a:spcPts val="0"/>
              </a:spcBef>
              <a:spcAft>
                <a:spcPts val="0"/>
              </a:spcAft>
              <a:buClr>
                <a:srgbClr val="45818E"/>
              </a:buClr>
              <a:buSzPts val="3600"/>
              <a:buNone/>
              <a:defRPr>
                <a:solidFill>
                  <a:srgbClr val="45818E"/>
                </a:solidFill>
              </a:defRPr>
            </a:lvl9pPr>
          </a:lstStyle>
          <a:p>
            <a:endParaRPr/>
          </a:p>
        </p:txBody>
      </p:sp>
      <p:sp>
        <p:nvSpPr>
          <p:cNvPr id="12" name="Google Shape;12;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79"/>
          <p:cNvSpPr/>
          <p:nvPr/>
        </p:nvSpPr>
        <p:spPr>
          <a:xfrm>
            <a:off x="-75" y="5045700"/>
            <a:ext cx="9144000" cy="97800"/>
          </a:xfrm>
          <a:prstGeom prst="rect">
            <a:avLst/>
          </a:prstGeom>
          <a:solidFill>
            <a:srgbClr val="45818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79"/>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45818E"/>
              </a:buClr>
              <a:buSzPts val="3600"/>
              <a:buNone/>
              <a:defRPr>
                <a:solidFill>
                  <a:srgbClr val="45818E"/>
                </a:solidFill>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16" name="Google Shape;16;p79"/>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7" name="Google Shape;17;p7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cxnSp>
        <p:nvCxnSpPr>
          <p:cNvPr id="19" name="Google Shape;19;p80"/>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20" name="Google Shape;20;p80"/>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21" name="Google Shape;21;p80"/>
          <p:cNvGrpSpPr/>
          <p:nvPr/>
        </p:nvGrpSpPr>
        <p:grpSpPr>
          <a:xfrm>
            <a:off x="1004144" y="1022025"/>
            <a:ext cx="7136668" cy="152400"/>
            <a:chOff x="1346429" y="1011300"/>
            <a:chExt cx="6452100" cy="152400"/>
          </a:xfrm>
        </p:grpSpPr>
        <p:cxnSp>
          <p:nvCxnSpPr>
            <p:cNvPr id="22" name="Google Shape;22;p80"/>
            <p:cNvCxnSpPr/>
            <p:nvPr/>
          </p:nvCxnSpPr>
          <p:spPr>
            <a:xfrm rot="10800000">
              <a:off x="1346429" y="1011300"/>
              <a:ext cx="6452100" cy="0"/>
            </a:xfrm>
            <a:prstGeom prst="straightConnector1">
              <a:avLst/>
            </a:prstGeom>
            <a:noFill/>
            <a:ln w="76200" cap="flat" cmpd="sng">
              <a:solidFill>
                <a:srgbClr val="45818E"/>
              </a:solidFill>
              <a:prstDash val="solid"/>
              <a:round/>
              <a:headEnd type="none" w="sm" len="sm"/>
              <a:tailEnd type="none" w="sm" len="sm"/>
            </a:ln>
          </p:spPr>
        </p:cxnSp>
        <p:cxnSp>
          <p:nvCxnSpPr>
            <p:cNvPr id="23" name="Google Shape;23;p80"/>
            <p:cNvCxnSpPr/>
            <p:nvPr/>
          </p:nvCxnSpPr>
          <p:spPr>
            <a:xfrm rot="10800000">
              <a:off x="1346429" y="1163700"/>
              <a:ext cx="6452100" cy="0"/>
            </a:xfrm>
            <a:prstGeom prst="straightConnector1">
              <a:avLst/>
            </a:prstGeom>
            <a:noFill/>
            <a:ln w="9525" cap="flat" cmpd="sng">
              <a:solidFill>
                <a:srgbClr val="45818E"/>
              </a:solidFill>
              <a:prstDash val="solid"/>
              <a:round/>
              <a:headEnd type="none" w="sm" len="sm"/>
              <a:tailEnd type="none" w="sm" len="sm"/>
            </a:ln>
          </p:spPr>
        </p:cxnSp>
      </p:grpSp>
      <p:grpSp>
        <p:nvGrpSpPr>
          <p:cNvPr id="24" name="Google Shape;24;p80"/>
          <p:cNvGrpSpPr/>
          <p:nvPr/>
        </p:nvGrpSpPr>
        <p:grpSpPr>
          <a:xfrm>
            <a:off x="1004151" y="3969100"/>
            <a:ext cx="7136668" cy="152400"/>
            <a:chOff x="1346435" y="3969088"/>
            <a:chExt cx="6452100" cy="152400"/>
          </a:xfrm>
        </p:grpSpPr>
        <p:cxnSp>
          <p:nvCxnSpPr>
            <p:cNvPr id="25" name="Google Shape;25;p80"/>
            <p:cNvCxnSpPr/>
            <p:nvPr/>
          </p:nvCxnSpPr>
          <p:spPr>
            <a:xfrm>
              <a:off x="1346435" y="4121488"/>
              <a:ext cx="6452100" cy="0"/>
            </a:xfrm>
            <a:prstGeom prst="straightConnector1">
              <a:avLst/>
            </a:prstGeom>
            <a:noFill/>
            <a:ln w="76200" cap="flat" cmpd="sng">
              <a:solidFill>
                <a:srgbClr val="45818E"/>
              </a:solidFill>
              <a:prstDash val="solid"/>
              <a:round/>
              <a:headEnd type="none" w="sm" len="sm"/>
              <a:tailEnd type="none" w="sm" len="sm"/>
            </a:ln>
          </p:spPr>
        </p:cxnSp>
        <p:cxnSp>
          <p:nvCxnSpPr>
            <p:cNvPr id="26" name="Google Shape;26;p80"/>
            <p:cNvCxnSpPr/>
            <p:nvPr/>
          </p:nvCxnSpPr>
          <p:spPr>
            <a:xfrm>
              <a:off x="1346435" y="3969088"/>
              <a:ext cx="6452100" cy="0"/>
            </a:xfrm>
            <a:prstGeom prst="straightConnector1">
              <a:avLst/>
            </a:prstGeom>
            <a:noFill/>
            <a:ln w="9525" cap="flat" cmpd="sng">
              <a:solidFill>
                <a:srgbClr val="45818E"/>
              </a:solidFill>
              <a:prstDash val="solid"/>
              <a:round/>
              <a:headEnd type="none" w="sm" len="sm"/>
              <a:tailEnd type="none" w="sm" len="sm"/>
            </a:ln>
          </p:spPr>
        </p:cxnSp>
      </p:grpSp>
      <p:sp>
        <p:nvSpPr>
          <p:cNvPr id="27" name="Google Shape;27;p80"/>
          <p:cNvSpPr txBox="1">
            <a:spLocks noGrp="1"/>
          </p:cNvSpPr>
          <p:nvPr>
            <p:ph type="ctrTitle"/>
          </p:nvPr>
        </p:nvSpPr>
        <p:spPr>
          <a:xfrm>
            <a:off x="1004150" y="1751764"/>
            <a:ext cx="7136700" cy="10224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rgbClr val="45818E"/>
              </a:buClr>
              <a:buSzPts val="5400"/>
              <a:buNone/>
              <a:defRPr sz="5400">
                <a:solidFill>
                  <a:srgbClr val="45818E"/>
                </a:solidFill>
              </a:defRPr>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a:endParaRPr/>
          </a:p>
        </p:txBody>
      </p:sp>
      <p:sp>
        <p:nvSpPr>
          <p:cNvPr id="28" name="Google Shape;28;p80"/>
          <p:cNvSpPr txBox="1">
            <a:spLocks noGrp="1"/>
          </p:cNvSpPr>
          <p:nvPr>
            <p:ph type="subTitle" idx="1"/>
          </p:nvPr>
        </p:nvSpPr>
        <p:spPr>
          <a:xfrm>
            <a:off x="2137225" y="2850039"/>
            <a:ext cx="48705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9" name="Google Shape;29;p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8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32" name="Google Shape;32;p81"/>
          <p:cNvSpPr txBox="1">
            <a:spLocks noGrp="1"/>
          </p:cNvSpPr>
          <p:nvPr>
            <p:ph type="body" idx="1"/>
          </p:nvPr>
        </p:nvSpPr>
        <p:spPr>
          <a:xfrm>
            <a:off x="311700" y="1266175"/>
            <a:ext cx="3999900" cy="33027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81"/>
          <p:cNvSpPr txBox="1">
            <a:spLocks noGrp="1"/>
          </p:cNvSpPr>
          <p:nvPr>
            <p:ph type="body" idx="2"/>
          </p:nvPr>
        </p:nvSpPr>
        <p:spPr>
          <a:xfrm>
            <a:off x="4832400" y="1266175"/>
            <a:ext cx="3999900" cy="33027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82"/>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37" name="Google Shape;37;p8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0" name="Google Shape;40;p8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1" name="Google Shape;41;p8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4"/>
          <p:cNvSpPr txBox="1">
            <a:spLocks noGrp="1"/>
          </p:cNvSpPr>
          <p:nvPr>
            <p:ph type="title"/>
          </p:nvPr>
        </p:nvSpPr>
        <p:spPr>
          <a:xfrm>
            <a:off x="490250" y="526350"/>
            <a:ext cx="56136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dk2"/>
              </a:buClr>
              <a:buSzPts val="5400"/>
              <a:buNone/>
              <a:defRPr sz="5400" b="0">
                <a:solidFill>
                  <a:schemeClr val="dk2"/>
                </a:solidFill>
              </a:defRPr>
            </a:lvl1pPr>
            <a:lvl2pPr lvl="1" algn="l">
              <a:lnSpc>
                <a:spcPct val="100000"/>
              </a:lnSpc>
              <a:spcBef>
                <a:spcPts val="0"/>
              </a:spcBef>
              <a:spcAft>
                <a:spcPts val="0"/>
              </a:spcAft>
              <a:buClr>
                <a:schemeClr val="dk2"/>
              </a:buClr>
              <a:buSzPts val="5400"/>
              <a:buNone/>
              <a:defRPr sz="5400" b="0">
                <a:solidFill>
                  <a:schemeClr val="dk2"/>
                </a:solidFill>
              </a:defRPr>
            </a:lvl2pPr>
            <a:lvl3pPr lvl="2" algn="l">
              <a:lnSpc>
                <a:spcPct val="100000"/>
              </a:lnSpc>
              <a:spcBef>
                <a:spcPts val="0"/>
              </a:spcBef>
              <a:spcAft>
                <a:spcPts val="0"/>
              </a:spcAft>
              <a:buClr>
                <a:schemeClr val="dk2"/>
              </a:buClr>
              <a:buSzPts val="5400"/>
              <a:buNone/>
              <a:defRPr sz="5400" b="0">
                <a:solidFill>
                  <a:schemeClr val="dk2"/>
                </a:solidFill>
              </a:defRPr>
            </a:lvl3pPr>
            <a:lvl4pPr lvl="3" algn="l">
              <a:lnSpc>
                <a:spcPct val="100000"/>
              </a:lnSpc>
              <a:spcBef>
                <a:spcPts val="0"/>
              </a:spcBef>
              <a:spcAft>
                <a:spcPts val="0"/>
              </a:spcAft>
              <a:buClr>
                <a:schemeClr val="dk2"/>
              </a:buClr>
              <a:buSzPts val="5400"/>
              <a:buNone/>
              <a:defRPr sz="5400" b="0">
                <a:solidFill>
                  <a:schemeClr val="dk2"/>
                </a:solidFill>
              </a:defRPr>
            </a:lvl4pPr>
            <a:lvl5pPr lvl="4" algn="l">
              <a:lnSpc>
                <a:spcPct val="100000"/>
              </a:lnSpc>
              <a:spcBef>
                <a:spcPts val="0"/>
              </a:spcBef>
              <a:spcAft>
                <a:spcPts val="0"/>
              </a:spcAft>
              <a:buClr>
                <a:schemeClr val="dk2"/>
              </a:buClr>
              <a:buSzPts val="5400"/>
              <a:buNone/>
              <a:defRPr sz="5400" b="0">
                <a:solidFill>
                  <a:schemeClr val="dk2"/>
                </a:solidFill>
              </a:defRPr>
            </a:lvl5pPr>
            <a:lvl6pPr lvl="5" algn="l">
              <a:lnSpc>
                <a:spcPct val="100000"/>
              </a:lnSpc>
              <a:spcBef>
                <a:spcPts val="0"/>
              </a:spcBef>
              <a:spcAft>
                <a:spcPts val="0"/>
              </a:spcAft>
              <a:buClr>
                <a:schemeClr val="dk2"/>
              </a:buClr>
              <a:buSzPts val="5400"/>
              <a:buNone/>
              <a:defRPr sz="5400" b="0">
                <a:solidFill>
                  <a:schemeClr val="dk2"/>
                </a:solidFill>
              </a:defRPr>
            </a:lvl6pPr>
            <a:lvl7pPr lvl="6" algn="l">
              <a:lnSpc>
                <a:spcPct val="100000"/>
              </a:lnSpc>
              <a:spcBef>
                <a:spcPts val="0"/>
              </a:spcBef>
              <a:spcAft>
                <a:spcPts val="0"/>
              </a:spcAft>
              <a:buClr>
                <a:schemeClr val="dk2"/>
              </a:buClr>
              <a:buSzPts val="5400"/>
              <a:buNone/>
              <a:defRPr sz="5400" b="0">
                <a:solidFill>
                  <a:schemeClr val="dk2"/>
                </a:solidFill>
              </a:defRPr>
            </a:lvl7pPr>
            <a:lvl8pPr lvl="7" algn="l">
              <a:lnSpc>
                <a:spcPct val="100000"/>
              </a:lnSpc>
              <a:spcBef>
                <a:spcPts val="0"/>
              </a:spcBef>
              <a:spcAft>
                <a:spcPts val="0"/>
              </a:spcAft>
              <a:buClr>
                <a:schemeClr val="dk2"/>
              </a:buClr>
              <a:buSzPts val="5400"/>
              <a:buNone/>
              <a:defRPr sz="5400" b="0">
                <a:solidFill>
                  <a:schemeClr val="dk2"/>
                </a:solidFill>
              </a:defRPr>
            </a:lvl8pPr>
            <a:lvl9pPr lvl="8" algn="l">
              <a:lnSpc>
                <a:spcPct val="100000"/>
              </a:lnSpc>
              <a:spcBef>
                <a:spcPts val="0"/>
              </a:spcBef>
              <a:spcAft>
                <a:spcPts val="0"/>
              </a:spcAft>
              <a:buClr>
                <a:schemeClr val="dk2"/>
              </a:buClr>
              <a:buSzPts val="5400"/>
              <a:buNone/>
              <a:defRPr sz="5400" b="0">
                <a:solidFill>
                  <a:schemeClr val="dk2"/>
                </a:solidFill>
              </a:defRPr>
            </a:lvl9pPr>
          </a:lstStyle>
          <a:p>
            <a:endParaRPr/>
          </a:p>
        </p:txBody>
      </p:sp>
      <p:sp>
        <p:nvSpPr>
          <p:cNvPr id="44" name="Google Shape;44;p8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85"/>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 name="Google Shape;47;p85"/>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85"/>
          <p:cNvSpPr txBox="1">
            <a:spLocks noGrp="1"/>
          </p:cNvSpPr>
          <p:nvPr>
            <p:ph type="title"/>
          </p:nvPr>
        </p:nvSpPr>
        <p:spPr>
          <a:xfrm>
            <a:off x="265500" y="1039675"/>
            <a:ext cx="4045200" cy="16758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p85"/>
          <p:cNvSpPr txBox="1">
            <a:spLocks noGrp="1"/>
          </p:cNvSpPr>
          <p:nvPr>
            <p:ph type="subTitle" idx="1"/>
          </p:nvPr>
        </p:nvSpPr>
        <p:spPr>
          <a:xfrm>
            <a:off x="265500" y="27268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85"/>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51" name="Google Shape;51;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86"/>
          <p:cNvSpPr txBox="1">
            <a:spLocks noGrp="1"/>
          </p:cNvSpPr>
          <p:nvPr>
            <p:ph type="body" idx="1"/>
          </p:nvPr>
        </p:nvSpPr>
        <p:spPr>
          <a:xfrm>
            <a:off x="311700" y="423072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87"/>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87"/>
          <p:cNvSpPr txBox="1">
            <a:spLocks noGrp="1"/>
          </p:cNvSpPr>
          <p:nvPr>
            <p:ph type="title" hasCustomPrompt="1"/>
          </p:nvPr>
        </p:nvSpPr>
        <p:spPr>
          <a:xfrm>
            <a:off x="311700" y="1304850"/>
            <a:ext cx="8520600" cy="15384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87"/>
          <p:cNvSpPr txBox="1">
            <a:spLocks noGrp="1"/>
          </p:cNvSpPr>
          <p:nvPr>
            <p:ph type="body" idx="1"/>
          </p:nvPr>
        </p:nvSpPr>
        <p:spPr>
          <a:xfrm>
            <a:off x="311700" y="2995650"/>
            <a:ext cx="8520600" cy="10716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9" name="Google Shape;59;p8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89"/>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64" name="Google Shape;64;p89"/>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200"/>
              </a:spcBef>
              <a:spcAft>
                <a:spcPts val="0"/>
              </a:spcAft>
              <a:buClr>
                <a:schemeClr val="dk1"/>
              </a:buClr>
              <a:buSzPts val="1800"/>
              <a:buChar char="○"/>
              <a:defRPr/>
            </a:lvl2pPr>
            <a:lvl3pPr marL="1371600" lvl="2" indent="-342900" algn="l">
              <a:lnSpc>
                <a:spcPct val="115000"/>
              </a:lnSpc>
              <a:spcBef>
                <a:spcPts val="1200"/>
              </a:spcBef>
              <a:spcAft>
                <a:spcPts val="0"/>
              </a:spcAft>
              <a:buClr>
                <a:schemeClr val="dk1"/>
              </a:buClr>
              <a:buSzPts val="1800"/>
              <a:buChar char="■"/>
              <a:defRPr/>
            </a:lvl3pPr>
            <a:lvl4pPr marL="1828800" lvl="3" indent="-342900" algn="l">
              <a:lnSpc>
                <a:spcPct val="115000"/>
              </a:lnSpc>
              <a:spcBef>
                <a:spcPts val="1200"/>
              </a:spcBef>
              <a:spcAft>
                <a:spcPts val="0"/>
              </a:spcAft>
              <a:buClr>
                <a:schemeClr val="dk1"/>
              </a:buClr>
              <a:buSzPts val="1800"/>
              <a:buChar char="●"/>
              <a:defRPr/>
            </a:lvl4pPr>
            <a:lvl5pPr marL="2286000" lvl="4" indent="-342900" algn="l">
              <a:lnSpc>
                <a:spcPct val="115000"/>
              </a:lnSpc>
              <a:spcBef>
                <a:spcPts val="1200"/>
              </a:spcBef>
              <a:spcAft>
                <a:spcPts val="0"/>
              </a:spcAft>
              <a:buClr>
                <a:schemeClr val="dk1"/>
              </a:buClr>
              <a:buSzPts val="1800"/>
              <a:buChar char="○"/>
              <a:defRPr/>
            </a:lvl5pPr>
            <a:lvl6pPr marL="2743200" lvl="5" indent="-342900" algn="l">
              <a:lnSpc>
                <a:spcPct val="115000"/>
              </a:lnSpc>
              <a:spcBef>
                <a:spcPts val="1200"/>
              </a:spcBef>
              <a:spcAft>
                <a:spcPts val="0"/>
              </a:spcAft>
              <a:buClr>
                <a:schemeClr val="dk1"/>
              </a:buClr>
              <a:buSzPts val="1800"/>
              <a:buChar char="■"/>
              <a:defRPr/>
            </a:lvl6pPr>
            <a:lvl7pPr marL="3200400" lvl="6" indent="-342900" algn="l">
              <a:lnSpc>
                <a:spcPct val="115000"/>
              </a:lnSpc>
              <a:spcBef>
                <a:spcPts val="1200"/>
              </a:spcBef>
              <a:spcAft>
                <a:spcPts val="0"/>
              </a:spcAft>
              <a:buClr>
                <a:schemeClr val="dk1"/>
              </a:buClr>
              <a:buSzPts val="1800"/>
              <a:buChar char="●"/>
              <a:defRPr/>
            </a:lvl7pPr>
            <a:lvl8pPr marL="3657600" lvl="7" indent="-342900" algn="l">
              <a:lnSpc>
                <a:spcPct val="115000"/>
              </a:lnSpc>
              <a:spcBef>
                <a:spcPts val="1200"/>
              </a:spcBef>
              <a:spcAft>
                <a:spcPts val="0"/>
              </a:spcAft>
              <a:buClr>
                <a:schemeClr val="dk1"/>
              </a:buClr>
              <a:buSzPts val="1800"/>
              <a:buChar char="○"/>
              <a:defRPr/>
            </a:lvl8pPr>
            <a:lvl9pPr marL="4114800" lvl="8" indent="-342900" algn="l">
              <a:lnSpc>
                <a:spcPct val="115000"/>
              </a:lnSpc>
              <a:spcBef>
                <a:spcPts val="1200"/>
              </a:spcBef>
              <a:spcAft>
                <a:spcPts val="1200"/>
              </a:spcAft>
              <a:buClr>
                <a:schemeClr val="dk1"/>
              </a:buClr>
              <a:buSzPts val="1800"/>
              <a:buChar char="■"/>
              <a:defRPr/>
            </a:lvl9pPr>
          </a:lstStyle>
          <a:p>
            <a:endParaRPr/>
          </a:p>
        </p:txBody>
      </p:sp>
      <p:sp>
        <p:nvSpPr>
          <p:cNvPr id="65" name="Google Shape;65;p89"/>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p89"/>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8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77"/>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1pPr>
            <a:lvl2pPr marR="0" lvl="1"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2pPr>
            <a:lvl3pPr marR="0" lvl="2"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3pPr>
            <a:lvl4pPr marR="0" lvl="3"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4pPr>
            <a:lvl5pPr marR="0" lvl="4"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5pPr>
            <a:lvl6pPr marR="0" lvl="5"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6pPr>
            <a:lvl7pPr marR="0" lvl="6"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7pPr>
            <a:lvl8pPr marR="0" lvl="7"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8pPr>
            <a:lvl9pPr marR="0" lvl="8"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9pPr>
          </a:lstStyle>
          <a:p>
            <a:endParaRPr/>
          </a:p>
        </p:txBody>
      </p:sp>
      <p:sp>
        <p:nvSpPr>
          <p:cNvPr id="7" name="Google Shape;7;p77"/>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endParaRPr/>
          </a:p>
        </p:txBody>
      </p:sp>
      <p:sp>
        <p:nvSpPr>
          <p:cNvPr id="8" name="Google Shape;8;p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27.jpg"/><Relationship Id="rId4" Type="http://schemas.openxmlformats.org/officeDocument/2006/relationships/image" Target="../media/image26.jpg"/></Relationships>
</file>

<file path=ppt/slides/_rels/slide6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9.png"/></Relationships>
</file>

<file path=ppt/slides/_rels/slide6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9.png"/></Relationships>
</file>

<file path=ppt/slides/_rels/slide6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6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8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43.png"/><Relationship Id="rId4" Type="http://schemas.openxmlformats.org/officeDocument/2006/relationships/image" Target="../media/image42.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title"/>
          </p:nvPr>
        </p:nvSpPr>
        <p:spPr>
          <a:xfrm>
            <a:off x="-155050" y="804200"/>
            <a:ext cx="8571300" cy="9420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GB"/>
              <a:t>Gene Flow and How to Detect it</a:t>
            </a:r>
            <a:endParaRPr/>
          </a:p>
        </p:txBody>
      </p:sp>
      <p:sp>
        <p:nvSpPr>
          <p:cNvPr id="73" name="Google Shape;73;p1"/>
          <p:cNvSpPr txBox="1">
            <a:spLocks noGrp="1"/>
          </p:cNvSpPr>
          <p:nvPr>
            <p:ph type="title"/>
          </p:nvPr>
        </p:nvSpPr>
        <p:spPr>
          <a:xfrm>
            <a:off x="400325" y="3020475"/>
            <a:ext cx="8571300" cy="18894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166667"/>
              <a:buNone/>
            </a:pPr>
            <a:r>
              <a:rPr lang="en-GB" sz="2400">
                <a:solidFill>
                  <a:schemeClr val="lt1"/>
                </a:solidFill>
              </a:rPr>
              <a:t>Harvi Pawar, PhD</a:t>
            </a:r>
            <a:endParaRPr sz="2400">
              <a:solidFill>
                <a:schemeClr val="lt1"/>
              </a:solidFill>
            </a:endParaRPr>
          </a:p>
          <a:p>
            <a:pPr marL="0" lvl="0" indent="0" algn="l" rtl="0">
              <a:lnSpc>
                <a:spcPct val="100000"/>
              </a:lnSpc>
              <a:spcBef>
                <a:spcPts val="0"/>
              </a:spcBef>
              <a:spcAft>
                <a:spcPts val="0"/>
              </a:spcAft>
              <a:buSzPct val="166667"/>
              <a:buNone/>
            </a:pPr>
            <a:r>
              <a:rPr lang="en-GB" sz="2400">
                <a:solidFill>
                  <a:schemeClr val="lt1"/>
                </a:solidFill>
              </a:rPr>
              <a:t>Postdoctoral Researcher</a:t>
            </a:r>
            <a:endParaRPr sz="2400">
              <a:solidFill>
                <a:schemeClr val="lt1"/>
              </a:solidFill>
            </a:endParaRPr>
          </a:p>
          <a:p>
            <a:pPr marL="0" lvl="0" indent="0" algn="l" rtl="0">
              <a:lnSpc>
                <a:spcPct val="100000"/>
              </a:lnSpc>
              <a:spcBef>
                <a:spcPts val="0"/>
              </a:spcBef>
              <a:spcAft>
                <a:spcPts val="0"/>
              </a:spcAft>
              <a:buSzPct val="166667"/>
              <a:buNone/>
            </a:pPr>
            <a:r>
              <a:rPr lang="en-GB" sz="2400">
                <a:solidFill>
                  <a:schemeClr val="lt1"/>
                </a:solidFill>
              </a:rPr>
              <a:t>University of Copenhagen</a:t>
            </a:r>
            <a:endParaRPr sz="2400">
              <a:solidFill>
                <a:schemeClr val="lt1"/>
              </a:solidFill>
            </a:endParaRPr>
          </a:p>
          <a:p>
            <a:pPr marL="0" lvl="0" indent="0" algn="l" rtl="0">
              <a:lnSpc>
                <a:spcPct val="100000"/>
              </a:lnSpc>
              <a:spcBef>
                <a:spcPts val="0"/>
              </a:spcBef>
              <a:spcAft>
                <a:spcPts val="0"/>
              </a:spcAft>
              <a:buSzPct val="166667"/>
              <a:buNone/>
            </a:pPr>
            <a:endParaRPr sz="2400">
              <a:solidFill>
                <a:schemeClr val="lt1"/>
              </a:solidFill>
            </a:endParaRPr>
          </a:p>
          <a:p>
            <a:pPr marL="0" lvl="0" indent="0" algn="l" rtl="0">
              <a:lnSpc>
                <a:spcPct val="100000"/>
              </a:lnSpc>
              <a:spcBef>
                <a:spcPts val="0"/>
              </a:spcBef>
              <a:spcAft>
                <a:spcPts val="0"/>
              </a:spcAft>
              <a:buSzPct val="166667"/>
              <a:buNone/>
            </a:pPr>
            <a:r>
              <a:rPr lang="en-GB" sz="2400">
                <a:solidFill>
                  <a:schemeClr val="lt1"/>
                </a:solidFill>
              </a:rPr>
              <a:t>Conservation Genomics Workshop 2026, Mpala</a:t>
            </a:r>
            <a:endParaRPr sz="2400">
              <a:solidFill>
                <a:schemeClr val="lt1"/>
              </a:solidFill>
            </a:endParaRPr>
          </a:p>
          <a:p>
            <a:pPr marL="0" lvl="0" indent="0" algn="l" rtl="0">
              <a:lnSpc>
                <a:spcPct val="100000"/>
              </a:lnSpc>
              <a:spcBef>
                <a:spcPts val="0"/>
              </a:spcBef>
              <a:spcAft>
                <a:spcPts val="0"/>
              </a:spcAft>
              <a:buSzPct val="166667"/>
              <a:buNone/>
            </a:pPr>
            <a:endParaRPr sz="2400">
              <a:solidFill>
                <a:schemeClr val="lt1"/>
              </a:solidFill>
            </a:endParaRPr>
          </a:p>
        </p:txBody>
      </p:sp>
      <p:pic>
        <p:nvPicPr>
          <p:cNvPr id="74" name="Google Shape;74;p1"/>
          <p:cNvPicPr preferRelativeResize="0"/>
          <p:nvPr/>
        </p:nvPicPr>
        <p:blipFill rotWithShape="1">
          <a:blip r:embed="rId3">
            <a:alphaModFix/>
          </a:blip>
          <a:srcRect/>
          <a:stretch/>
        </p:blipFill>
        <p:spPr>
          <a:xfrm>
            <a:off x="6714200" y="379700"/>
            <a:ext cx="2321076" cy="2021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2"/>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Objectives</a:t>
            </a:r>
            <a:endParaRPr/>
          </a:p>
        </p:txBody>
      </p:sp>
      <p:sp>
        <p:nvSpPr>
          <p:cNvPr id="80" name="Google Shape;80;p2"/>
          <p:cNvSpPr txBox="1">
            <a:spLocks noGrp="1"/>
          </p:cNvSpPr>
          <p:nvPr>
            <p:ph type="body" idx="1"/>
          </p:nvPr>
        </p:nvSpPr>
        <p:spPr>
          <a:xfrm>
            <a:off x="311700" y="1486425"/>
            <a:ext cx="8520600" cy="3302700"/>
          </a:xfrm>
          <a:prstGeom prst="rect">
            <a:avLst/>
          </a:prstGeom>
          <a:noFill/>
          <a:ln>
            <a:noFill/>
          </a:ln>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SzPts val="1800"/>
              <a:buFont typeface="Arial"/>
              <a:buChar char="●"/>
            </a:pPr>
            <a:r>
              <a:rPr lang="en-GB" b="1">
                <a:latin typeface="Arial"/>
                <a:ea typeface="Arial"/>
                <a:cs typeface="Arial"/>
                <a:sym typeface="Arial"/>
              </a:rPr>
              <a:t>What is gene flow?</a:t>
            </a:r>
            <a:endParaRPr b="1">
              <a:latin typeface="Arial"/>
              <a:ea typeface="Arial"/>
              <a:cs typeface="Arial"/>
              <a:sym typeface="Arial"/>
            </a:endParaRPr>
          </a:p>
          <a:p>
            <a:pPr marL="457200" lvl="0" indent="-342900" algn="l" rtl="0">
              <a:lnSpc>
                <a:spcPct val="150000"/>
              </a:lnSpc>
              <a:spcBef>
                <a:spcPts val="0"/>
              </a:spcBef>
              <a:spcAft>
                <a:spcPts val="0"/>
              </a:spcAft>
              <a:buSzPts val="1800"/>
              <a:buFont typeface="Arial"/>
              <a:buChar char="●"/>
            </a:pPr>
            <a:r>
              <a:rPr lang="en-GB" b="1">
                <a:latin typeface="Arial"/>
                <a:ea typeface="Arial"/>
                <a:cs typeface="Arial"/>
                <a:sym typeface="Arial"/>
              </a:rPr>
              <a:t>How can we detect gene flow?</a:t>
            </a:r>
            <a:endParaRPr b="1">
              <a:latin typeface="Arial"/>
              <a:ea typeface="Arial"/>
              <a:cs typeface="Arial"/>
              <a:sym typeface="Arial"/>
            </a:endParaRPr>
          </a:p>
          <a:p>
            <a:pPr marL="457200" lvl="0" indent="-342900" algn="l" rtl="0">
              <a:lnSpc>
                <a:spcPct val="150000"/>
              </a:lnSpc>
              <a:spcBef>
                <a:spcPts val="0"/>
              </a:spcBef>
              <a:spcAft>
                <a:spcPts val="0"/>
              </a:spcAft>
              <a:buSzPts val="1800"/>
              <a:buFont typeface="Arial"/>
              <a:buChar char="●"/>
            </a:pPr>
            <a:r>
              <a:rPr lang="en-GB" b="1">
                <a:latin typeface="Arial"/>
                <a:ea typeface="Arial"/>
                <a:cs typeface="Arial"/>
                <a:sym typeface="Arial"/>
              </a:rPr>
              <a:t>Gene flow in non-humans</a:t>
            </a:r>
            <a:endParaRPr b="1">
              <a:latin typeface="Arial"/>
              <a:ea typeface="Arial"/>
              <a:cs typeface="Arial"/>
              <a:sym typeface="Arial"/>
            </a:endParaRPr>
          </a:p>
          <a:p>
            <a:pPr marL="457200" lvl="0" indent="-342900" algn="l" rtl="0">
              <a:lnSpc>
                <a:spcPct val="150000"/>
              </a:lnSpc>
              <a:spcBef>
                <a:spcPts val="0"/>
              </a:spcBef>
              <a:spcAft>
                <a:spcPts val="0"/>
              </a:spcAft>
              <a:buSzPts val="1800"/>
              <a:buFont typeface="Arial"/>
              <a:buChar char="●"/>
            </a:pPr>
            <a:r>
              <a:rPr lang="en-GB" b="1">
                <a:latin typeface="Arial"/>
                <a:ea typeface="Arial"/>
                <a:cs typeface="Arial"/>
                <a:sym typeface="Arial"/>
              </a:rPr>
              <a:t>Ghost gene flow</a:t>
            </a:r>
            <a:endParaRPr b="1">
              <a:latin typeface="Arial"/>
              <a:ea typeface="Arial"/>
              <a:cs typeface="Arial"/>
              <a:sym typeface="Arial"/>
            </a:endParaRPr>
          </a:p>
          <a:p>
            <a:pPr marL="457200" lvl="0" indent="-342900" algn="l" rtl="0">
              <a:lnSpc>
                <a:spcPct val="150000"/>
              </a:lnSpc>
              <a:spcBef>
                <a:spcPts val="0"/>
              </a:spcBef>
              <a:spcAft>
                <a:spcPts val="0"/>
              </a:spcAft>
              <a:buSzPts val="1800"/>
              <a:buFont typeface="Arial"/>
              <a:buChar char="●"/>
            </a:pPr>
            <a:r>
              <a:rPr lang="en-GB" b="1">
                <a:latin typeface="Arial"/>
                <a:ea typeface="Arial"/>
                <a:cs typeface="Arial"/>
                <a:sym typeface="Arial"/>
              </a:rPr>
              <a:t>What is the impact of gene flow on the genome?</a:t>
            </a:r>
            <a:endParaRPr b="1"/>
          </a:p>
          <a:p>
            <a:pPr marL="457200" lvl="0" indent="0" algn="l" rtl="0">
              <a:lnSpc>
                <a:spcPct val="115000"/>
              </a:lnSpc>
              <a:spcBef>
                <a:spcPts val="1200"/>
              </a:spcBef>
              <a:spcAft>
                <a:spcPts val="0"/>
              </a:spcAft>
              <a:buNone/>
            </a:pPr>
            <a:endParaRPr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3"/>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Evolutionary processes give rise to genetic variation</a:t>
            </a:r>
            <a:endParaRPr/>
          </a:p>
        </p:txBody>
      </p:sp>
      <p:sp>
        <p:nvSpPr>
          <p:cNvPr id="86" name="Google Shape;86;p3"/>
          <p:cNvSpPr txBox="1"/>
          <p:nvPr/>
        </p:nvSpPr>
        <p:spPr>
          <a:xfrm>
            <a:off x="761050" y="1152425"/>
            <a:ext cx="15942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i="0" u="none" strike="noStrike" cap="none">
                <a:solidFill>
                  <a:srgbClr val="000000"/>
                </a:solidFill>
              </a:rPr>
              <a:t>mutation</a:t>
            </a:r>
            <a:endParaRPr sz="1900" b="1" i="0" u="none" strike="noStrike" cap="none">
              <a:solidFill>
                <a:srgbClr val="000000"/>
              </a:solidFill>
            </a:endParaRPr>
          </a:p>
        </p:txBody>
      </p:sp>
      <p:sp>
        <p:nvSpPr>
          <p:cNvPr id="87" name="Google Shape;87;p3"/>
          <p:cNvSpPr txBox="1"/>
          <p:nvPr/>
        </p:nvSpPr>
        <p:spPr>
          <a:xfrm>
            <a:off x="6259250" y="1053800"/>
            <a:ext cx="20667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i="0" u="none" strike="noStrike" cap="none">
                <a:solidFill>
                  <a:srgbClr val="000000"/>
                </a:solidFill>
              </a:rPr>
              <a:t>genetic drift</a:t>
            </a:r>
            <a:endParaRPr sz="1900" b="1" i="0" u="none" strike="noStrike" cap="none">
              <a:solidFill>
                <a:srgbClr val="000000"/>
              </a:solidFill>
            </a:endParaRPr>
          </a:p>
        </p:txBody>
      </p:sp>
      <p:sp>
        <p:nvSpPr>
          <p:cNvPr id="88" name="Google Shape;88;p3"/>
          <p:cNvSpPr txBox="1"/>
          <p:nvPr/>
        </p:nvSpPr>
        <p:spPr>
          <a:xfrm>
            <a:off x="761050" y="3841425"/>
            <a:ext cx="15942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i="0" u="none" strike="noStrike" cap="none">
                <a:solidFill>
                  <a:srgbClr val="000000"/>
                </a:solidFill>
              </a:rPr>
              <a:t>natural selection</a:t>
            </a:r>
            <a:endParaRPr sz="1900" b="1" i="0" u="none" strike="noStrike" cap="none">
              <a:solidFill>
                <a:srgbClr val="000000"/>
              </a:solidFill>
            </a:endParaRPr>
          </a:p>
        </p:txBody>
      </p:sp>
      <p:sp>
        <p:nvSpPr>
          <p:cNvPr id="89" name="Google Shape;89;p3"/>
          <p:cNvSpPr txBox="1"/>
          <p:nvPr/>
        </p:nvSpPr>
        <p:spPr>
          <a:xfrm>
            <a:off x="6731750" y="3841425"/>
            <a:ext cx="15942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i="0" u="none" strike="noStrike" cap="none">
                <a:solidFill>
                  <a:srgbClr val="45818E"/>
                </a:solidFill>
              </a:rPr>
              <a:t>gene flow</a:t>
            </a:r>
            <a:endParaRPr sz="1900" b="1" i="0" u="none" strike="noStrike" cap="none">
              <a:solidFill>
                <a:srgbClr val="45818E"/>
              </a:solidFill>
            </a:endParaRPr>
          </a:p>
        </p:txBody>
      </p:sp>
      <p:sp>
        <p:nvSpPr>
          <p:cNvPr id="90" name="Google Shape;90;p3"/>
          <p:cNvSpPr/>
          <p:nvPr/>
        </p:nvSpPr>
        <p:spPr>
          <a:xfrm>
            <a:off x="1849200" y="1504875"/>
            <a:ext cx="4769700" cy="18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3"/>
          <p:cNvSpPr/>
          <p:nvPr/>
        </p:nvSpPr>
        <p:spPr>
          <a:xfrm>
            <a:off x="1849200" y="3989475"/>
            <a:ext cx="4769700" cy="18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3"/>
          <p:cNvSpPr/>
          <p:nvPr/>
        </p:nvSpPr>
        <p:spPr>
          <a:xfrm rot="5400000">
            <a:off x="5179050" y="2888375"/>
            <a:ext cx="2698800" cy="18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3" name="Google Shape;93;p3"/>
          <p:cNvCxnSpPr>
            <a:stCxn id="91" idx="1"/>
            <a:endCxn id="94" idx="1"/>
          </p:cNvCxnSpPr>
          <p:nvPr/>
        </p:nvCxnSpPr>
        <p:spPr>
          <a:xfrm rot="10800000" flipH="1">
            <a:off x="1849200" y="3363825"/>
            <a:ext cx="1480200" cy="716100"/>
          </a:xfrm>
          <a:prstGeom prst="straightConnector1">
            <a:avLst/>
          </a:prstGeom>
          <a:noFill/>
          <a:ln w="19050" cap="flat" cmpd="sng">
            <a:solidFill>
              <a:srgbClr val="000000"/>
            </a:solidFill>
            <a:prstDash val="solid"/>
            <a:round/>
            <a:headEnd type="none" w="sm" len="sm"/>
            <a:tailEnd type="triangle" w="med" len="med"/>
          </a:ln>
        </p:spPr>
      </p:cxnSp>
      <p:cxnSp>
        <p:nvCxnSpPr>
          <p:cNvPr id="95" name="Google Shape;95;p3"/>
          <p:cNvCxnSpPr>
            <a:stCxn id="92" idx="1"/>
            <a:endCxn id="94" idx="3"/>
          </p:cNvCxnSpPr>
          <p:nvPr/>
        </p:nvCxnSpPr>
        <p:spPr>
          <a:xfrm flipH="1">
            <a:off x="5052150" y="1629425"/>
            <a:ext cx="1476300" cy="592800"/>
          </a:xfrm>
          <a:prstGeom prst="straightConnector1">
            <a:avLst/>
          </a:prstGeom>
          <a:noFill/>
          <a:ln w="19050" cap="flat" cmpd="sng">
            <a:solidFill>
              <a:srgbClr val="000000"/>
            </a:solidFill>
            <a:prstDash val="solid"/>
            <a:round/>
            <a:headEnd type="none" w="sm" len="sm"/>
            <a:tailEnd type="triangle" w="med" len="med"/>
          </a:ln>
        </p:spPr>
      </p:cxnSp>
      <p:pic>
        <p:nvPicPr>
          <p:cNvPr id="94" name="Google Shape;94;p3"/>
          <p:cNvPicPr preferRelativeResize="0"/>
          <p:nvPr/>
        </p:nvPicPr>
        <p:blipFill rotWithShape="1">
          <a:blip r:embed="rId3">
            <a:alphaModFix/>
          </a:blip>
          <a:srcRect b="12080"/>
          <a:stretch/>
        </p:blipFill>
        <p:spPr>
          <a:xfrm rot="-2011874">
            <a:off x="3157285" y="1391344"/>
            <a:ext cx="2066705" cy="2803435"/>
          </a:xfrm>
          <a:prstGeom prst="rect">
            <a:avLst/>
          </a:prstGeom>
          <a:noFill/>
          <a:ln>
            <a:noFill/>
          </a:ln>
        </p:spPr>
      </p:pic>
      <p:cxnSp>
        <p:nvCxnSpPr>
          <p:cNvPr id="96" name="Google Shape;96;p3"/>
          <p:cNvCxnSpPr/>
          <p:nvPr/>
        </p:nvCxnSpPr>
        <p:spPr>
          <a:xfrm>
            <a:off x="1558150" y="1629425"/>
            <a:ext cx="1485300" cy="554400"/>
          </a:xfrm>
          <a:prstGeom prst="straightConnector1">
            <a:avLst/>
          </a:prstGeom>
          <a:noFill/>
          <a:ln w="19050" cap="flat" cmpd="sng">
            <a:solidFill>
              <a:srgbClr val="000000"/>
            </a:solidFill>
            <a:prstDash val="solid"/>
            <a:round/>
            <a:headEnd type="none" w="sm" len="sm"/>
            <a:tailEnd type="triangle" w="med" len="med"/>
          </a:ln>
        </p:spPr>
      </p:cxnSp>
      <p:cxnSp>
        <p:nvCxnSpPr>
          <p:cNvPr id="97" name="Google Shape;97;p3"/>
          <p:cNvCxnSpPr/>
          <p:nvPr/>
        </p:nvCxnSpPr>
        <p:spPr>
          <a:xfrm rot="10800000">
            <a:off x="5018125" y="3159600"/>
            <a:ext cx="1521600" cy="731700"/>
          </a:xfrm>
          <a:prstGeom prst="straightConnector1">
            <a:avLst/>
          </a:prstGeom>
          <a:noFill/>
          <a:ln w="19050" cap="flat" cmpd="sng">
            <a:solidFill>
              <a:srgbClr val="000000"/>
            </a:solidFill>
            <a:prstDash val="solid"/>
            <a:round/>
            <a:headEnd type="none" w="sm" len="sm"/>
            <a:tailEnd type="triangle" w="med" len="med"/>
          </a:ln>
        </p:spPr>
      </p:cxnSp>
      <p:sp>
        <p:nvSpPr>
          <p:cNvPr id="98" name="Google Shape;98;p3"/>
          <p:cNvSpPr/>
          <p:nvPr/>
        </p:nvSpPr>
        <p:spPr>
          <a:xfrm>
            <a:off x="6731750" y="3824850"/>
            <a:ext cx="1410900" cy="5544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What happens when populations meet?</a:t>
            </a:r>
            <a:endParaRPr/>
          </a:p>
        </p:txBody>
      </p:sp>
      <p:sp>
        <p:nvSpPr>
          <p:cNvPr id="104" name="Google Shape;104;p4"/>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2 </a:t>
            </a:r>
            <a:r>
              <a:rPr lang="en-GB" b="1">
                <a:latin typeface="Arial"/>
                <a:ea typeface="Arial"/>
                <a:cs typeface="Arial"/>
                <a:sym typeface="Arial"/>
              </a:rPr>
              <a:t>differentiated</a:t>
            </a:r>
            <a:r>
              <a:rPr lang="en-GB">
                <a:latin typeface="Arial"/>
                <a:ea typeface="Arial"/>
                <a:cs typeface="Arial"/>
                <a:sym typeface="Arial"/>
              </a:rPr>
              <a:t> populations</a:t>
            </a:r>
            <a:endParaRPr>
              <a:latin typeface="Arial"/>
              <a:ea typeface="Arial"/>
              <a:cs typeface="Arial"/>
              <a:sym typeface="Arial"/>
            </a:endParaRPr>
          </a:p>
          <a:p>
            <a:pPr marL="0" lvl="0" indent="0" algn="l" rtl="0">
              <a:lnSpc>
                <a:spcPct val="115000"/>
              </a:lnSpc>
              <a:spcBef>
                <a:spcPts val="1200"/>
              </a:spcBef>
              <a:spcAft>
                <a:spcPts val="0"/>
              </a:spcAft>
              <a:buSzPts val="1800"/>
              <a:buNone/>
            </a:pPr>
            <a:r>
              <a:rPr lang="en-GB">
                <a:latin typeface="Arial"/>
                <a:ea typeface="Arial"/>
                <a:cs typeface="Arial"/>
                <a:sym typeface="Arial"/>
              </a:rPr>
              <a:t>Encounter each other </a:t>
            </a:r>
            <a:r>
              <a:rPr lang="en-GB" b="1">
                <a:latin typeface="Arial"/>
                <a:ea typeface="Arial"/>
                <a:cs typeface="Arial"/>
                <a:sym typeface="Arial"/>
              </a:rPr>
              <a:t>after</a:t>
            </a:r>
            <a:r>
              <a:rPr lang="en-GB">
                <a:latin typeface="Arial"/>
                <a:ea typeface="Arial"/>
                <a:cs typeface="Arial"/>
                <a:sym typeface="Arial"/>
              </a:rPr>
              <a:t> time of </a:t>
            </a:r>
            <a:r>
              <a:rPr lang="en-GB" b="1">
                <a:latin typeface="Arial"/>
                <a:ea typeface="Arial"/>
                <a:cs typeface="Arial"/>
                <a:sym typeface="Arial"/>
              </a:rPr>
              <a:t>separation</a:t>
            </a:r>
            <a:endParaRPr b="1">
              <a:latin typeface="Arial"/>
              <a:ea typeface="Arial"/>
              <a:cs typeface="Arial"/>
              <a:sym typeface="Arial"/>
            </a:endParaRPr>
          </a:p>
          <a:p>
            <a:pPr marL="0" lvl="0" indent="0" algn="l" rtl="0">
              <a:lnSpc>
                <a:spcPct val="115000"/>
              </a:lnSpc>
              <a:spcBef>
                <a:spcPts val="1200"/>
              </a:spcBef>
              <a:spcAft>
                <a:spcPts val="1200"/>
              </a:spcAft>
              <a:buSzPts val="1800"/>
              <a:buNone/>
            </a:pPr>
            <a:r>
              <a:rPr lang="en-GB">
                <a:latin typeface="Arial"/>
                <a:ea typeface="Arial"/>
                <a:cs typeface="Arial"/>
                <a:sym typeface="Arial"/>
              </a:rPr>
              <a:t>What happens next?</a:t>
            </a:r>
            <a:endParaRPr>
              <a:latin typeface="Arial"/>
              <a:ea typeface="Arial"/>
              <a:cs typeface="Arial"/>
              <a:sym typeface="Arial"/>
            </a:endParaRPr>
          </a:p>
        </p:txBody>
      </p:sp>
      <p:sp>
        <p:nvSpPr>
          <p:cNvPr id="105" name="Google Shape;105;p4"/>
          <p:cNvSpPr/>
          <p:nvPr/>
        </p:nvSpPr>
        <p:spPr>
          <a:xfrm>
            <a:off x="2688850" y="2970350"/>
            <a:ext cx="5746500" cy="1931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06" name="Google Shape;106;p4" title="journal.pgen.1009374.g001.PNG"/>
          <p:cNvPicPr preferRelativeResize="0"/>
          <p:nvPr/>
        </p:nvPicPr>
        <p:blipFill rotWithShape="1">
          <a:blip r:embed="rId3">
            <a:alphaModFix/>
          </a:blip>
          <a:srcRect b="58858"/>
          <a:stretch/>
        </p:blipFill>
        <p:spPr>
          <a:xfrm>
            <a:off x="3728188" y="2138025"/>
            <a:ext cx="5098024" cy="2686377"/>
          </a:xfrm>
          <a:prstGeom prst="rect">
            <a:avLst/>
          </a:prstGeom>
          <a:noFill/>
          <a:ln>
            <a:noFill/>
          </a:ln>
        </p:spPr>
      </p:pic>
      <p:sp>
        <p:nvSpPr>
          <p:cNvPr id="107" name="Google Shape;107;p4"/>
          <p:cNvSpPr/>
          <p:nvPr/>
        </p:nvSpPr>
        <p:spPr>
          <a:xfrm>
            <a:off x="3209150" y="2853850"/>
            <a:ext cx="5746500" cy="2048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5"/>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What happens when populations meet?</a:t>
            </a:r>
            <a:endParaRPr/>
          </a:p>
        </p:txBody>
      </p:sp>
      <p:sp>
        <p:nvSpPr>
          <p:cNvPr id="113" name="Google Shape;113;p5"/>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2 </a:t>
            </a:r>
            <a:r>
              <a:rPr lang="en-GB" b="1">
                <a:latin typeface="Arial"/>
                <a:ea typeface="Arial"/>
                <a:cs typeface="Arial"/>
                <a:sym typeface="Arial"/>
              </a:rPr>
              <a:t>differentiated</a:t>
            </a:r>
            <a:r>
              <a:rPr lang="en-GB">
                <a:latin typeface="Arial"/>
                <a:ea typeface="Arial"/>
                <a:cs typeface="Arial"/>
                <a:sym typeface="Arial"/>
              </a:rPr>
              <a:t> populations</a:t>
            </a:r>
            <a:endParaRPr>
              <a:latin typeface="Arial"/>
              <a:ea typeface="Arial"/>
              <a:cs typeface="Arial"/>
              <a:sym typeface="Arial"/>
            </a:endParaRPr>
          </a:p>
          <a:p>
            <a:pPr marL="0" lvl="0" indent="0" algn="l" rtl="0">
              <a:lnSpc>
                <a:spcPct val="115000"/>
              </a:lnSpc>
              <a:spcBef>
                <a:spcPts val="1200"/>
              </a:spcBef>
              <a:spcAft>
                <a:spcPts val="0"/>
              </a:spcAft>
              <a:buSzPts val="1800"/>
              <a:buNone/>
            </a:pPr>
            <a:r>
              <a:rPr lang="en-GB">
                <a:latin typeface="Arial"/>
                <a:ea typeface="Arial"/>
                <a:cs typeface="Arial"/>
                <a:sym typeface="Arial"/>
              </a:rPr>
              <a:t>Encounter each other </a:t>
            </a:r>
            <a:r>
              <a:rPr lang="en-GB" b="1">
                <a:latin typeface="Arial"/>
                <a:ea typeface="Arial"/>
                <a:cs typeface="Arial"/>
                <a:sym typeface="Arial"/>
              </a:rPr>
              <a:t>after</a:t>
            </a:r>
            <a:r>
              <a:rPr lang="en-GB">
                <a:latin typeface="Arial"/>
                <a:ea typeface="Arial"/>
                <a:cs typeface="Arial"/>
                <a:sym typeface="Arial"/>
              </a:rPr>
              <a:t> time of </a:t>
            </a:r>
            <a:r>
              <a:rPr lang="en-GB" b="1">
                <a:latin typeface="Arial"/>
                <a:ea typeface="Arial"/>
                <a:cs typeface="Arial"/>
                <a:sym typeface="Arial"/>
              </a:rPr>
              <a:t>separation</a:t>
            </a:r>
            <a:endParaRPr b="1">
              <a:latin typeface="Arial"/>
              <a:ea typeface="Arial"/>
              <a:cs typeface="Arial"/>
              <a:sym typeface="Arial"/>
            </a:endParaRPr>
          </a:p>
          <a:p>
            <a:pPr marL="0" lvl="0" indent="0" algn="l" rtl="0">
              <a:lnSpc>
                <a:spcPct val="115000"/>
              </a:lnSpc>
              <a:spcBef>
                <a:spcPts val="1200"/>
              </a:spcBef>
              <a:spcAft>
                <a:spcPts val="0"/>
              </a:spcAft>
              <a:buSzPts val="1800"/>
              <a:buNone/>
            </a:pPr>
            <a:r>
              <a:rPr lang="en-GB">
                <a:latin typeface="Arial"/>
                <a:ea typeface="Arial"/>
                <a:cs typeface="Arial"/>
                <a:sym typeface="Arial"/>
              </a:rPr>
              <a:t>What happens next?</a:t>
            </a:r>
            <a:endParaRPr>
              <a:latin typeface="Arial"/>
              <a:ea typeface="Arial"/>
              <a:cs typeface="Arial"/>
              <a:sym typeface="Arial"/>
            </a:endParaRPr>
          </a:p>
          <a:p>
            <a:pPr marL="0" lvl="0" indent="0" algn="l" rtl="0">
              <a:lnSpc>
                <a:spcPct val="115000"/>
              </a:lnSpc>
              <a:spcBef>
                <a:spcPts val="1200"/>
              </a:spcBef>
              <a:spcAft>
                <a:spcPts val="1200"/>
              </a:spcAft>
              <a:buSzPts val="1800"/>
              <a:buNone/>
            </a:pPr>
            <a:r>
              <a:rPr lang="en-GB" sz="2100" b="1">
                <a:solidFill>
                  <a:srgbClr val="45818E"/>
                </a:solidFill>
                <a:latin typeface="Arial"/>
                <a:ea typeface="Arial"/>
                <a:cs typeface="Arial"/>
                <a:sym typeface="Arial"/>
              </a:rPr>
              <a:t>Gene flow</a:t>
            </a:r>
            <a:endParaRPr sz="2100" b="1">
              <a:solidFill>
                <a:srgbClr val="45818E"/>
              </a:solidFill>
              <a:latin typeface="Arial"/>
              <a:ea typeface="Arial"/>
              <a:cs typeface="Arial"/>
              <a:sym typeface="Arial"/>
            </a:endParaRPr>
          </a:p>
        </p:txBody>
      </p:sp>
      <p:pic>
        <p:nvPicPr>
          <p:cNvPr id="114" name="Google Shape;114;p5"/>
          <p:cNvPicPr preferRelativeResize="0"/>
          <p:nvPr/>
        </p:nvPicPr>
        <p:blipFill rotWithShape="1">
          <a:blip r:embed="rId3">
            <a:alphaModFix/>
          </a:blip>
          <a:srcRect/>
          <a:stretch/>
        </p:blipFill>
        <p:spPr>
          <a:xfrm>
            <a:off x="3991200" y="2780254"/>
            <a:ext cx="4572001" cy="1590925"/>
          </a:xfrm>
          <a:prstGeom prst="rect">
            <a:avLst/>
          </a:prstGeom>
          <a:noFill/>
          <a:ln>
            <a:noFill/>
          </a:ln>
        </p:spPr>
      </p:pic>
      <p:sp>
        <p:nvSpPr>
          <p:cNvPr id="115" name="Google Shape;115;p5"/>
          <p:cNvSpPr txBox="1"/>
          <p:nvPr/>
        </p:nvSpPr>
        <p:spPr>
          <a:xfrm>
            <a:off x="4169950" y="4243525"/>
            <a:ext cx="21753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45818E"/>
                </a:solidFill>
                <a:latin typeface="Open Sans"/>
                <a:ea typeface="Open Sans"/>
                <a:cs typeface="Open Sans"/>
                <a:sym typeface="Open Sans"/>
              </a:rPr>
              <a:t>Skov et al. 2018</a:t>
            </a:r>
            <a:endParaRPr sz="1600" b="0" i="0" u="none" strike="noStrike" cap="none">
              <a:solidFill>
                <a:srgbClr val="45818E"/>
              </a:solidFill>
              <a:latin typeface="Open Sans"/>
              <a:ea typeface="Open Sans"/>
              <a:cs typeface="Open Sans"/>
              <a:sym typeface="Open Sans"/>
            </a:endParaRPr>
          </a:p>
        </p:txBody>
      </p:sp>
      <p:pic>
        <p:nvPicPr>
          <p:cNvPr id="116" name="Google Shape;116;p5" title="journal.pgen.1009374.g001.PNG"/>
          <p:cNvPicPr preferRelativeResize="0"/>
          <p:nvPr/>
        </p:nvPicPr>
        <p:blipFill rotWithShape="1">
          <a:blip r:embed="rId4">
            <a:alphaModFix/>
          </a:blip>
          <a:srcRect b="58858"/>
          <a:stretch/>
        </p:blipFill>
        <p:spPr>
          <a:xfrm>
            <a:off x="3728188" y="2138025"/>
            <a:ext cx="5098024" cy="2686377"/>
          </a:xfrm>
          <a:prstGeom prst="rect">
            <a:avLst/>
          </a:prstGeom>
          <a:noFill/>
          <a:ln>
            <a:noFill/>
          </a:ln>
        </p:spPr>
      </p:pic>
      <p:sp>
        <p:nvSpPr>
          <p:cNvPr id="117" name="Google Shape;117;p5"/>
          <p:cNvSpPr/>
          <p:nvPr/>
        </p:nvSpPr>
        <p:spPr>
          <a:xfrm>
            <a:off x="3330675" y="3722076"/>
            <a:ext cx="5746500" cy="1208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f3bc80b5d8_0_22"/>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What happens when populations meet?</a:t>
            </a:r>
            <a:endParaRPr/>
          </a:p>
        </p:txBody>
      </p:sp>
      <p:sp>
        <p:nvSpPr>
          <p:cNvPr id="123" name="Google Shape;123;g3f3bc80b5d8_0_22"/>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solidFill>
                  <a:srgbClr val="CCCCCC"/>
                </a:solidFill>
                <a:latin typeface="Arial"/>
                <a:ea typeface="Arial"/>
                <a:cs typeface="Arial"/>
                <a:sym typeface="Arial"/>
              </a:rPr>
              <a:t>2 differentiated populations</a:t>
            </a:r>
            <a:endParaRPr>
              <a:solidFill>
                <a:srgbClr val="CCCCCC"/>
              </a:solidFill>
              <a:latin typeface="Arial"/>
              <a:ea typeface="Arial"/>
              <a:cs typeface="Arial"/>
              <a:sym typeface="Arial"/>
            </a:endParaRPr>
          </a:p>
          <a:p>
            <a:pPr marL="0" lvl="0" indent="0" algn="l" rtl="0">
              <a:lnSpc>
                <a:spcPct val="115000"/>
              </a:lnSpc>
              <a:spcBef>
                <a:spcPts val="1200"/>
              </a:spcBef>
              <a:spcAft>
                <a:spcPts val="0"/>
              </a:spcAft>
              <a:buSzPts val="1800"/>
              <a:buNone/>
            </a:pPr>
            <a:r>
              <a:rPr lang="en-GB">
                <a:solidFill>
                  <a:srgbClr val="CCCCCC"/>
                </a:solidFill>
                <a:latin typeface="Arial"/>
                <a:ea typeface="Arial"/>
                <a:cs typeface="Arial"/>
                <a:sym typeface="Arial"/>
              </a:rPr>
              <a:t>Encounter each other after time of separation</a:t>
            </a:r>
            <a:endParaRPr>
              <a:solidFill>
                <a:srgbClr val="CCCCCC"/>
              </a:solidFill>
              <a:latin typeface="Arial"/>
              <a:ea typeface="Arial"/>
              <a:cs typeface="Arial"/>
              <a:sym typeface="Arial"/>
            </a:endParaRPr>
          </a:p>
          <a:p>
            <a:pPr marL="0" lvl="0" indent="0" algn="l" rtl="0">
              <a:lnSpc>
                <a:spcPct val="115000"/>
              </a:lnSpc>
              <a:spcBef>
                <a:spcPts val="1200"/>
              </a:spcBef>
              <a:spcAft>
                <a:spcPts val="0"/>
              </a:spcAft>
              <a:buSzPts val="1800"/>
              <a:buNone/>
            </a:pPr>
            <a:r>
              <a:rPr lang="en-GB">
                <a:solidFill>
                  <a:srgbClr val="CCCCCC"/>
                </a:solidFill>
                <a:latin typeface="Arial"/>
                <a:ea typeface="Arial"/>
                <a:cs typeface="Arial"/>
                <a:sym typeface="Arial"/>
              </a:rPr>
              <a:t>What happens next?</a:t>
            </a:r>
            <a:endParaRPr>
              <a:solidFill>
                <a:srgbClr val="CCCCCC"/>
              </a:solidFill>
              <a:latin typeface="Arial"/>
              <a:ea typeface="Arial"/>
              <a:cs typeface="Arial"/>
              <a:sym typeface="Arial"/>
            </a:endParaRPr>
          </a:p>
          <a:p>
            <a:pPr marL="0" lvl="0" indent="0" algn="l" rtl="0">
              <a:lnSpc>
                <a:spcPct val="115000"/>
              </a:lnSpc>
              <a:spcBef>
                <a:spcPts val="1200"/>
              </a:spcBef>
              <a:spcAft>
                <a:spcPts val="1200"/>
              </a:spcAft>
              <a:buSzPts val="1800"/>
              <a:buNone/>
            </a:pPr>
            <a:r>
              <a:rPr lang="en-GB" sz="2100" b="1">
                <a:solidFill>
                  <a:srgbClr val="45818E"/>
                </a:solidFill>
                <a:latin typeface="Arial"/>
                <a:ea typeface="Arial"/>
                <a:cs typeface="Arial"/>
                <a:sym typeface="Arial"/>
              </a:rPr>
              <a:t>Gene flow</a:t>
            </a:r>
            <a:endParaRPr sz="2100" b="1">
              <a:solidFill>
                <a:srgbClr val="45818E"/>
              </a:solidFill>
              <a:latin typeface="Arial"/>
              <a:ea typeface="Arial"/>
              <a:cs typeface="Arial"/>
              <a:sym typeface="Arial"/>
            </a:endParaRPr>
          </a:p>
        </p:txBody>
      </p:sp>
      <p:pic>
        <p:nvPicPr>
          <p:cNvPr id="124" name="Google Shape;124;g3f3bc80b5d8_0_22"/>
          <p:cNvPicPr preferRelativeResize="0"/>
          <p:nvPr/>
        </p:nvPicPr>
        <p:blipFill rotWithShape="1">
          <a:blip r:embed="rId3">
            <a:alphaModFix/>
          </a:blip>
          <a:srcRect/>
          <a:stretch/>
        </p:blipFill>
        <p:spPr>
          <a:xfrm>
            <a:off x="3991200" y="2780254"/>
            <a:ext cx="4572001" cy="1590925"/>
          </a:xfrm>
          <a:prstGeom prst="rect">
            <a:avLst/>
          </a:prstGeom>
          <a:noFill/>
          <a:ln>
            <a:noFill/>
          </a:ln>
        </p:spPr>
      </p:pic>
      <p:sp>
        <p:nvSpPr>
          <p:cNvPr id="125" name="Google Shape;125;g3f3bc80b5d8_0_22"/>
          <p:cNvSpPr txBox="1"/>
          <p:nvPr/>
        </p:nvSpPr>
        <p:spPr>
          <a:xfrm>
            <a:off x="4169950" y="4243525"/>
            <a:ext cx="21753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45818E"/>
                </a:solidFill>
                <a:latin typeface="Open Sans"/>
                <a:ea typeface="Open Sans"/>
                <a:cs typeface="Open Sans"/>
                <a:sym typeface="Open Sans"/>
              </a:rPr>
              <a:t>Skov et al. 2018</a:t>
            </a:r>
            <a:endParaRPr sz="1600" b="0" i="0" u="none" strike="noStrike" cap="none">
              <a:solidFill>
                <a:srgbClr val="45818E"/>
              </a:solidFill>
              <a:latin typeface="Open Sans"/>
              <a:ea typeface="Open Sans"/>
              <a:cs typeface="Open Sans"/>
              <a:sym typeface="Open Sans"/>
            </a:endParaRPr>
          </a:p>
        </p:txBody>
      </p:sp>
      <p:pic>
        <p:nvPicPr>
          <p:cNvPr id="126" name="Google Shape;126;g3f3bc80b5d8_0_22" title="journal.pgen.1009374.g001.PNG"/>
          <p:cNvPicPr preferRelativeResize="0"/>
          <p:nvPr/>
        </p:nvPicPr>
        <p:blipFill rotWithShape="1">
          <a:blip r:embed="rId4">
            <a:alphaModFix/>
          </a:blip>
          <a:srcRect b="58858"/>
          <a:stretch/>
        </p:blipFill>
        <p:spPr>
          <a:xfrm>
            <a:off x="3728188" y="2138025"/>
            <a:ext cx="5098024" cy="2686377"/>
          </a:xfrm>
          <a:prstGeom prst="rect">
            <a:avLst/>
          </a:prstGeom>
          <a:noFill/>
          <a:ln>
            <a:noFill/>
          </a:ln>
        </p:spPr>
      </p:pic>
      <p:sp>
        <p:nvSpPr>
          <p:cNvPr id="127" name="Google Shape;127;g3f3bc80b5d8_0_22"/>
          <p:cNvSpPr/>
          <p:nvPr/>
        </p:nvSpPr>
        <p:spPr>
          <a:xfrm>
            <a:off x="3209150" y="3717800"/>
            <a:ext cx="5746500" cy="1106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28" name="Google Shape;128;g3f3bc80b5d8_0_22"/>
          <p:cNvPicPr preferRelativeResize="0"/>
          <p:nvPr/>
        </p:nvPicPr>
        <p:blipFill rotWithShape="1">
          <a:blip r:embed="rId3">
            <a:alphaModFix/>
          </a:blip>
          <a:srcRect/>
          <a:stretch/>
        </p:blipFill>
        <p:spPr>
          <a:xfrm>
            <a:off x="477275" y="3320875"/>
            <a:ext cx="3639199" cy="1266340"/>
          </a:xfrm>
          <a:prstGeom prst="rect">
            <a:avLst/>
          </a:prstGeom>
          <a:noFill/>
          <a:ln>
            <a:noFill/>
          </a:ln>
        </p:spPr>
      </p:pic>
      <p:sp>
        <p:nvSpPr>
          <p:cNvPr id="129" name="Google Shape;129;g3f3bc80b5d8_0_22"/>
          <p:cNvSpPr txBox="1"/>
          <p:nvPr/>
        </p:nvSpPr>
        <p:spPr>
          <a:xfrm>
            <a:off x="567100" y="456897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Skov et al. 2018</a:t>
            </a:r>
            <a:endParaRPr sz="1200" b="0" i="0" u="none" strike="noStrike" cap="none">
              <a:solidFill>
                <a:srgbClr val="45818E"/>
              </a:solidFill>
              <a:latin typeface="Open Sans"/>
              <a:ea typeface="Open Sans"/>
              <a:cs typeface="Open Sans"/>
              <a:sym typeface="Open Sans"/>
            </a:endParaRPr>
          </a:p>
        </p:txBody>
      </p:sp>
      <p:sp>
        <p:nvSpPr>
          <p:cNvPr id="130" name="Google Shape;130;g3f3bc80b5d8_0_22"/>
          <p:cNvSpPr/>
          <p:nvPr/>
        </p:nvSpPr>
        <p:spPr>
          <a:xfrm>
            <a:off x="477275" y="3302675"/>
            <a:ext cx="3639300" cy="1266300"/>
          </a:xfrm>
          <a:prstGeom prst="rect">
            <a:avLst/>
          </a:prstGeom>
          <a:noFill/>
          <a:ln w="38100" cap="flat" cmpd="sng">
            <a:solidFill>
              <a:srgbClr val="6FBE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1" name="Google Shape;131;g3f3bc80b5d8_0_22"/>
          <p:cNvSpPr txBox="1"/>
          <p:nvPr/>
        </p:nvSpPr>
        <p:spPr>
          <a:xfrm>
            <a:off x="4276725" y="3878575"/>
            <a:ext cx="3000000" cy="49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2000" b="1">
                <a:solidFill>
                  <a:schemeClr val="accent3"/>
                </a:solidFill>
                <a:latin typeface="Open Sans"/>
                <a:ea typeface="Open Sans"/>
                <a:cs typeface="Open Sans"/>
                <a:sym typeface="Open Sans"/>
              </a:rPr>
              <a:t>F1 hybrid</a:t>
            </a:r>
            <a:endParaRPr sz="1300">
              <a:solidFill>
                <a:schemeClr val="accent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f68fc15589_0_1010"/>
          <p:cNvSpPr txBox="1">
            <a:spLocks noGrp="1"/>
          </p:cNvSpPr>
          <p:nvPr>
            <p:ph type="title"/>
          </p:nvPr>
        </p:nvSpPr>
        <p:spPr>
          <a:xfrm>
            <a:off x="311700" y="445025"/>
            <a:ext cx="85149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Each generation recombination breaks down the introgressed fragments</a:t>
            </a:r>
            <a:endParaRPr/>
          </a:p>
        </p:txBody>
      </p:sp>
      <p:sp>
        <p:nvSpPr>
          <p:cNvPr id="137" name="Google Shape;137;g3f68fc15589_0_1010"/>
          <p:cNvSpPr txBox="1"/>
          <p:nvPr/>
        </p:nvSpPr>
        <p:spPr>
          <a:xfrm>
            <a:off x="7111150" y="470727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Fontsere</a:t>
            </a:r>
            <a:r>
              <a:rPr lang="en-GB" sz="1200" b="0" i="0" u="none" strike="noStrike" cap="none">
                <a:solidFill>
                  <a:srgbClr val="45818E"/>
                </a:solidFill>
                <a:latin typeface="Open Sans"/>
                <a:ea typeface="Open Sans"/>
                <a:cs typeface="Open Sans"/>
                <a:sym typeface="Open Sans"/>
              </a:rPr>
              <a:t> et al. 20</a:t>
            </a:r>
            <a:r>
              <a:rPr lang="en-GB" sz="1200">
                <a:solidFill>
                  <a:srgbClr val="45818E"/>
                </a:solidFill>
                <a:latin typeface="Open Sans"/>
                <a:ea typeface="Open Sans"/>
                <a:cs typeface="Open Sans"/>
                <a:sym typeface="Open Sans"/>
              </a:rPr>
              <a:t>21</a:t>
            </a:r>
            <a:endParaRPr sz="1200" b="0" i="0" u="none" strike="noStrike" cap="none">
              <a:solidFill>
                <a:srgbClr val="45818E"/>
              </a:solidFill>
              <a:latin typeface="Open Sans"/>
              <a:ea typeface="Open Sans"/>
              <a:cs typeface="Open Sans"/>
              <a:sym typeface="Open Sans"/>
            </a:endParaRPr>
          </a:p>
        </p:txBody>
      </p:sp>
      <p:sp>
        <p:nvSpPr>
          <p:cNvPr id="138" name="Google Shape;138;g3f68fc15589_0_1010"/>
          <p:cNvSpPr/>
          <p:nvPr/>
        </p:nvSpPr>
        <p:spPr>
          <a:xfrm>
            <a:off x="4040925" y="1819050"/>
            <a:ext cx="683700" cy="207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9" name="Google Shape;139;g3f68fc15589_0_1010"/>
          <p:cNvSpPr/>
          <p:nvPr/>
        </p:nvSpPr>
        <p:spPr>
          <a:xfrm>
            <a:off x="260625" y="4095025"/>
            <a:ext cx="8244300" cy="369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40" name="Google Shape;140;g3f68fc15589_0_1010" title="bies201900123-fig-0001-m (1).jpg"/>
          <p:cNvPicPr preferRelativeResize="0"/>
          <p:nvPr/>
        </p:nvPicPr>
        <p:blipFill rotWithShape="1">
          <a:blip r:embed="rId3">
            <a:alphaModFix/>
          </a:blip>
          <a:srcRect t="61917" b="16897"/>
          <a:stretch/>
        </p:blipFill>
        <p:spPr>
          <a:xfrm>
            <a:off x="1219675" y="1907224"/>
            <a:ext cx="6769498" cy="1944850"/>
          </a:xfrm>
          <a:prstGeom prst="rect">
            <a:avLst/>
          </a:prstGeom>
          <a:noFill/>
          <a:ln>
            <a:noFill/>
          </a:ln>
        </p:spPr>
      </p:pic>
      <p:sp>
        <p:nvSpPr>
          <p:cNvPr id="141" name="Google Shape;141;g3f68fc15589_0_1010"/>
          <p:cNvSpPr/>
          <p:nvPr/>
        </p:nvSpPr>
        <p:spPr>
          <a:xfrm>
            <a:off x="4250125" y="1759350"/>
            <a:ext cx="708600" cy="267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f67a44fbd9_0_118"/>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Recent admixture events are easy to detect</a:t>
            </a:r>
            <a:endParaRPr/>
          </a:p>
        </p:txBody>
      </p:sp>
      <p:sp>
        <p:nvSpPr>
          <p:cNvPr id="147" name="Google Shape;147;g3f67a44fbd9_0_118"/>
          <p:cNvSpPr txBox="1">
            <a:spLocks noGrp="1"/>
          </p:cNvSpPr>
          <p:nvPr>
            <p:ph type="body" idx="1"/>
          </p:nvPr>
        </p:nvSpPr>
        <p:spPr>
          <a:xfrm>
            <a:off x="311700" y="1266325"/>
            <a:ext cx="50112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r>
              <a:rPr lang="en-GB">
                <a:latin typeface="Arial"/>
                <a:ea typeface="Arial"/>
                <a:cs typeface="Arial"/>
                <a:sym typeface="Arial"/>
              </a:rPr>
              <a:t>Using the approaches you learnt earlier: </a:t>
            </a:r>
            <a:r>
              <a:rPr lang="en-GB" b="1">
                <a:latin typeface="Arial"/>
                <a:ea typeface="Arial"/>
                <a:cs typeface="Arial"/>
                <a:sym typeface="Arial"/>
              </a:rPr>
              <a:t>PCA</a:t>
            </a:r>
            <a:endParaRPr b="1">
              <a:latin typeface="Arial"/>
              <a:ea typeface="Arial"/>
              <a:cs typeface="Arial"/>
              <a:sym typeface="Arial"/>
            </a:endParaRPr>
          </a:p>
          <a:p>
            <a:pPr marL="0" lvl="0" indent="0" algn="l" rtl="0">
              <a:lnSpc>
                <a:spcPct val="115000"/>
              </a:lnSpc>
              <a:spcBef>
                <a:spcPts val="1200"/>
              </a:spcBef>
              <a:spcAft>
                <a:spcPts val="0"/>
              </a:spcAft>
              <a:buSzPts val="1800"/>
              <a:buNone/>
            </a:pPr>
            <a:endParaRPr b="1">
              <a:latin typeface="Arial"/>
              <a:ea typeface="Arial"/>
              <a:cs typeface="Arial"/>
              <a:sym typeface="Arial"/>
            </a:endParaRPr>
          </a:p>
          <a:p>
            <a:pPr marL="0" lvl="0" indent="0" algn="l" rtl="0">
              <a:lnSpc>
                <a:spcPct val="115000"/>
              </a:lnSpc>
              <a:spcBef>
                <a:spcPts val="1200"/>
              </a:spcBef>
              <a:spcAft>
                <a:spcPts val="1200"/>
              </a:spcAft>
              <a:buSzPts val="1800"/>
              <a:buNone/>
            </a:pPr>
            <a:r>
              <a:rPr lang="en-GB">
                <a:latin typeface="Arial"/>
                <a:ea typeface="Arial"/>
                <a:cs typeface="Arial"/>
                <a:sym typeface="Arial"/>
              </a:rPr>
              <a:t>Recently admixed individuals are on a cline between source populations </a:t>
            </a:r>
            <a:r>
              <a:rPr lang="en-GB"/>
              <a:t> </a:t>
            </a:r>
            <a:endParaRPr/>
          </a:p>
        </p:txBody>
      </p:sp>
      <p:sp>
        <p:nvSpPr>
          <p:cNvPr id="148" name="Google Shape;148;g3f67a44fbd9_0_118"/>
          <p:cNvSpPr/>
          <p:nvPr/>
        </p:nvSpPr>
        <p:spPr>
          <a:xfrm>
            <a:off x="5127475" y="1172000"/>
            <a:ext cx="4884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9" name="Google Shape;149;g3f67a44fbd9_0_118"/>
          <p:cNvSpPr/>
          <p:nvPr/>
        </p:nvSpPr>
        <p:spPr>
          <a:xfrm>
            <a:off x="8832300" y="1152425"/>
            <a:ext cx="2079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50" name="Google Shape;150;g3f67a44fbd9_0_118" title="pgen.1003925.g001.png"/>
          <p:cNvPicPr preferRelativeResize="0"/>
          <p:nvPr/>
        </p:nvPicPr>
        <p:blipFill rotWithShape="1">
          <a:blip r:embed="rId3">
            <a:alphaModFix/>
          </a:blip>
          <a:srcRect l="51525" b="42333"/>
          <a:stretch/>
        </p:blipFill>
        <p:spPr>
          <a:xfrm>
            <a:off x="5263900" y="1266325"/>
            <a:ext cx="3666852" cy="3099201"/>
          </a:xfrm>
          <a:prstGeom prst="rect">
            <a:avLst/>
          </a:prstGeom>
          <a:noFill/>
          <a:ln>
            <a:noFill/>
          </a:ln>
        </p:spPr>
      </p:pic>
      <p:sp>
        <p:nvSpPr>
          <p:cNvPr id="151" name="Google Shape;151;g3f67a44fbd9_0_118"/>
          <p:cNvSpPr txBox="1"/>
          <p:nvPr/>
        </p:nvSpPr>
        <p:spPr>
          <a:xfrm>
            <a:off x="6739000" y="4630075"/>
            <a:ext cx="3206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Moreno-Estrada</a:t>
            </a:r>
            <a:r>
              <a:rPr lang="en-GB" sz="1200" b="0" i="0" u="none" strike="noStrike" cap="none">
                <a:solidFill>
                  <a:srgbClr val="45818E"/>
                </a:solidFill>
                <a:latin typeface="Open Sans"/>
                <a:ea typeface="Open Sans"/>
                <a:cs typeface="Open Sans"/>
                <a:sym typeface="Open Sans"/>
              </a:rPr>
              <a:t> et al. 20</a:t>
            </a:r>
            <a:r>
              <a:rPr lang="en-GB" sz="1200">
                <a:solidFill>
                  <a:srgbClr val="45818E"/>
                </a:solidFill>
                <a:latin typeface="Open Sans"/>
                <a:ea typeface="Open Sans"/>
                <a:cs typeface="Open Sans"/>
                <a:sym typeface="Open Sans"/>
              </a:rPr>
              <a:t>13</a:t>
            </a:r>
            <a:endParaRPr sz="1200" b="0" i="0" u="none" strike="noStrike" cap="none">
              <a:solidFill>
                <a:srgbClr val="45818E"/>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f67a44fbd9_0_151"/>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Recent admixture events are easy to detect</a:t>
            </a:r>
            <a:endParaRPr/>
          </a:p>
        </p:txBody>
      </p:sp>
      <p:sp>
        <p:nvSpPr>
          <p:cNvPr id="157" name="Google Shape;157;g3f67a44fbd9_0_151"/>
          <p:cNvSpPr txBox="1">
            <a:spLocks noGrp="1"/>
          </p:cNvSpPr>
          <p:nvPr>
            <p:ph type="body" idx="1"/>
          </p:nvPr>
        </p:nvSpPr>
        <p:spPr>
          <a:xfrm>
            <a:off x="311700" y="1266325"/>
            <a:ext cx="50112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r>
              <a:rPr lang="en-GB">
                <a:latin typeface="Arial"/>
                <a:ea typeface="Arial"/>
                <a:cs typeface="Arial"/>
                <a:sym typeface="Arial"/>
              </a:rPr>
              <a:t>Using the approaches you learnt earlier: </a:t>
            </a:r>
            <a:r>
              <a:rPr lang="en-GB" b="1">
                <a:latin typeface="Arial"/>
                <a:ea typeface="Arial"/>
                <a:cs typeface="Arial"/>
                <a:sym typeface="Arial"/>
              </a:rPr>
              <a:t>PCA</a:t>
            </a:r>
            <a:endParaRPr b="1">
              <a:latin typeface="Arial"/>
              <a:ea typeface="Arial"/>
              <a:cs typeface="Arial"/>
              <a:sym typeface="Arial"/>
            </a:endParaRPr>
          </a:p>
          <a:p>
            <a:pPr marL="0" lvl="0" indent="0" algn="l" rtl="0">
              <a:lnSpc>
                <a:spcPct val="115000"/>
              </a:lnSpc>
              <a:spcBef>
                <a:spcPts val="1200"/>
              </a:spcBef>
              <a:spcAft>
                <a:spcPts val="0"/>
              </a:spcAft>
              <a:buSzPts val="1800"/>
              <a:buNone/>
            </a:pPr>
            <a:endParaRPr b="1">
              <a:latin typeface="Arial"/>
              <a:ea typeface="Arial"/>
              <a:cs typeface="Arial"/>
              <a:sym typeface="Arial"/>
            </a:endParaRPr>
          </a:p>
          <a:p>
            <a:pPr marL="0" lvl="0" indent="0" algn="l" rtl="0">
              <a:lnSpc>
                <a:spcPct val="115000"/>
              </a:lnSpc>
              <a:spcBef>
                <a:spcPts val="1200"/>
              </a:spcBef>
              <a:spcAft>
                <a:spcPts val="1200"/>
              </a:spcAft>
              <a:buSzPts val="1800"/>
              <a:buNone/>
            </a:pPr>
            <a:r>
              <a:rPr lang="en-GB">
                <a:latin typeface="Arial"/>
                <a:ea typeface="Arial"/>
                <a:cs typeface="Arial"/>
                <a:sym typeface="Arial"/>
              </a:rPr>
              <a:t>Recently admixed individuals are on a cline between source populations </a:t>
            </a:r>
            <a:r>
              <a:rPr lang="en-GB"/>
              <a:t> </a:t>
            </a:r>
            <a:endParaRPr/>
          </a:p>
        </p:txBody>
      </p:sp>
      <p:sp>
        <p:nvSpPr>
          <p:cNvPr id="158" name="Google Shape;158;g3f67a44fbd9_0_151"/>
          <p:cNvSpPr/>
          <p:nvPr/>
        </p:nvSpPr>
        <p:spPr>
          <a:xfrm>
            <a:off x="5127475" y="1172000"/>
            <a:ext cx="4884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9" name="Google Shape;159;g3f67a44fbd9_0_151"/>
          <p:cNvSpPr/>
          <p:nvPr/>
        </p:nvSpPr>
        <p:spPr>
          <a:xfrm>
            <a:off x="8832300" y="1152425"/>
            <a:ext cx="2079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60" name="Google Shape;160;g3f67a44fbd9_0_151" title="pgen.1003925.g001.png"/>
          <p:cNvPicPr preferRelativeResize="0"/>
          <p:nvPr/>
        </p:nvPicPr>
        <p:blipFill rotWithShape="1">
          <a:blip r:embed="rId3">
            <a:alphaModFix/>
          </a:blip>
          <a:srcRect l="51525" b="42333"/>
          <a:stretch/>
        </p:blipFill>
        <p:spPr>
          <a:xfrm>
            <a:off x="5263900" y="1266325"/>
            <a:ext cx="3666852" cy="3099201"/>
          </a:xfrm>
          <a:prstGeom prst="rect">
            <a:avLst/>
          </a:prstGeom>
          <a:noFill/>
          <a:ln>
            <a:noFill/>
          </a:ln>
        </p:spPr>
      </p:pic>
      <p:sp>
        <p:nvSpPr>
          <p:cNvPr id="161" name="Google Shape;161;g3f67a44fbd9_0_151"/>
          <p:cNvSpPr txBox="1"/>
          <p:nvPr/>
        </p:nvSpPr>
        <p:spPr>
          <a:xfrm>
            <a:off x="6739000" y="4630075"/>
            <a:ext cx="3206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Moreno-Estrada</a:t>
            </a:r>
            <a:r>
              <a:rPr lang="en-GB" sz="1200" b="0" i="0" u="none" strike="noStrike" cap="none">
                <a:solidFill>
                  <a:srgbClr val="45818E"/>
                </a:solidFill>
                <a:latin typeface="Open Sans"/>
                <a:ea typeface="Open Sans"/>
                <a:cs typeface="Open Sans"/>
                <a:sym typeface="Open Sans"/>
              </a:rPr>
              <a:t> et al. 20</a:t>
            </a:r>
            <a:r>
              <a:rPr lang="en-GB" sz="1200">
                <a:solidFill>
                  <a:srgbClr val="45818E"/>
                </a:solidFill>
                <a:latin typeface="Open Sans"/>
                <a:ea typeface="Open Sans"/>
                <a:cs typeface="Open Sans"/>
                <a:sym typeface="Open Sans"/>
              </a:rPr>
              <a:t>13</a:t>
            </a:r>
            <a:endParaRPr sz="1200" b="0" i="0" u="none" strike="noStrike" cap="none">
              <a:solidFill>
                <a:srgbClr val="45818E"/>
              </a:solidFill>
              <a:latin typeface="Open Sans"/>
              <a:ea typeface="Open Sans"/>
              <a:cs typeface="Open Sans"/>
              <a:sym typeface="Open Sans"/>
            </a:endParaRPr>
          </a:p>
        </p:txBody>
      </p:sp>
      <p:sp>
        <p:nvSpPr>
          <p:cNvPr id="162" name="Google Shape;162;g3f67a44fbd9_0_151"/>
          <p:cNvSpPr/>
          <p:nvPr/>
        </p:nvSpPr>
        <p:spPr>
          <a:xfrm>
            <a:off x="5615875" y="3681150"/>
            <a:ext cx="625200" cy="4485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3" name="Google Shape;163;g3f67a44fbd9_0_151"/>
          <p:cNvSpPr/>
          <p:nvPr/>
        </p:nvSpPr>
        <p:spPr>
          <a:xfrm>
            <a:off x="7054325" y="1266325"/>
            <a:ext cx="625200" cy="4485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4" name="Google Shape;164;g3f67a44fbd9_0_151"/>
          <p:cNvSpPr/>
          <p:nvPr/>
        </p:nvSpPr>
        <p:spPr>
          <a:xfrm>
            <a:off x="8127000" y="2740200"/>
            <a:ext cx="705300" cy="7641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5" name="Google Shape;165;g3f67a44fbd9_0_151"/>
          <p:cNvSpPr txBox="1"/>
          <p:nvPr/>
        </p:nvSpPr>
        <p:spPr>
          <a:xfrm>
            <a:off x="6979650" y="8046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800" b="1">
                <a:solidFill>
                  <a:schemeClr val="accent3"/>
                </a:solidFill>
                <a:latin typeface="Open Sans"/>
                <a:ea typeface="Open Sans"/>
                <a:cs typeface="Open Sans"/>
                <a:sym typeface="Open Sans"/>
              </a:rPr>
              <a:t>Sources</a:t>
            </a:r>
            <a:endParaRPr>
              <a:solidFill>
                <a:schemeClr val="accent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3f67a44fbd9_0_137"/>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Recent admixture events are easy to detect</a:t>
            </a:r>
            <a:endParaRPr/>
          </a:p>
        </p:txBody>
      </p:sp>
      <p:sp>
        <p:nvSpPr>
          <p:cNvPr id="171" name="Google Shape;171;g3f67a44fbd9_0_137"/>
          <p:cNvSpPr txBox="1">
            <a:spLocks noGrp="1"/>
          </p:cNvSpPr>
          <p:nvPr>
            <p:ph type="body" idx="1"/>
          </p:nvPr>
        </p:nvSpPr>
        <p:spPr>
          <a:xfrm>
            <a:off x="311700" y="1266325"/>
            <a:ext cx="50112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r>
              <a:rPr lang="en-GB">
                <a:latin typeface="Arial"/>
                <a:ea typeface="Arial"/>
                <a:cs typeface="Arial"/>
                <a:sym typeface="Arial"/>
              </a:rPr>
              <a:t>Using the approaches you learnt earlier: </a:t>
            </a:r>
            <a:r>
              <a:rPr lang="en-GB" b="1">
                <a:latin typeface="Arial"/>
                <a:ea typeface="Arial"/>
                <a:cs typeface="Arial"/>
                <a:sym typeface="Arial"/>
              </a:rPr>
              <a:t>PCA</a:t>
            </a:r>
            <a:endParaRPr b="1">
              <a:latin typeface="Arial"/>
              <a:ea typeface="Arial"/>
              <a:cs typeface="Arial"/>
              <a:sym typeface="Arial"/>
            </a:endParaRPr>
          </a:p>
          <a:p>
            <a:pPr marL="0" lvl="0" indent="0" algn="l" rtl="0">
              <a:lnSpc>
                <a:spcPct val="115000"/>
              </a:lnSpc>
              <a:spcBef>
                <a:spcPts val="1200"/>
              </a:spcBef>
              <a:spcAft>
                <a:spcPts val="0"/>
              </a:spcAft>
              <a:buSzPts val="1800"/>
              <a:buNone/>
            </a:pPr>
            <a:endParaRPr b="1">
              <a:latin typeface="Arial"/>
              <a:ea typeface="Arial"/>
              <a:cs typeface="Arial"/>
              <a:sym typeface="Arial"/>
            </a:endParaRPr>
          </a:p>
          <a:p>
            <a:pPr marL="0" lvl="0" indent="0" algn="l" rtl="0">
              <a:lnSpc>
                <a:spcPct val="115000"/>
              </a:lnSpc>
              <a:spcBef>
                <a:spcPts val="1200"/>
              </a:spcBef>
              <a:spcAft>
                <a:spcPts val="0"/>
              </a:spcAft>
              <a:buSzPts val="1800"/>
              <a:buNone/>
            </a:pPr>
            <a:r>
              <a:rPr lang="en-GB">
                <a:latin typeface="Arial"/>
                <a:ea typeface="Arial"/>
                <a:cs typeface="Arial"/>
                <a:sym typeface="Arial"/>
              </a:rPr>
              <a:t>Recently admixed individuals are on a cline between source populations </a:t>
            </a:r>
            <a:r>
              <a:rPr lang="en-GB"/>
              <a:t> </a:t>
            </a:r>
            <a:endParaRPr/>
          </a:p>
          <a:p>
            <a:pPr marL="0" lvl="0" indent="0" algn="l" rtl="0">
              <a:lnSpc>
                <a:spcPct val="115000"/>
              </a:lnSpc>
              <a:spcBef>
                <a:spcPts val="1200"/>
              </a:spcBef>
              <a:spcAft>
                <a:spcPts val="0"/>
              </a:spcAft>
              <a:buSzPts val="1800"/>
              <a:buNone/>
            </a:pPr>
            <a:endParaRPr/>
          </a:p>
          <a:p>
            <a:pPr marL="0" lvl="0" indent="0" algn="l" rtl="0">
              <a:spcBef>
                <a:spcPts val="1200"/>
              </a:spcBef>
              <a:spcAft>
                <a:spcPts val="1200"/>
              </a:spcAft>
              <a:buSzPts val="1800"/>
              <a:buNone/>
            </a:pPr>
            <a:r>
              <a:rPr lang="en-GB" b="1">
                <a:solidFill>
                  <a:srgbClr val="598E9A"/>
                </a:solidFill>
                <a:latin typeface="Arial"/>
                <a:ea typeface="Arial"/>
                <a:cs typeface="Arial"/>
                <a:sym typeface="Arial"/>
              </a:rPr>
              <a:t>Q: admixture or isolation by distance?</a:t>
            </a:r>
            <a:endParaRPr/>
          </a:p>
        </p:txBody>
      </p:sp>
      <p:sp>
        <p:nvSpPr>
          <p:cNvPr id="172" name="Google Shape;172;g3f67a44fbd9_0_137"/>
          <p:cNvSpPr/>
          <p:nvPr/>
        </p:nvSpPr>
        <p:spPr>
          <a:xfrm>
            <a:off x="5127475" y="1172000"/>
            <a:ext cx="4884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73" name="Google Shape;173;g3f67a44fbd9_0_137"/>
          <p:cNvSpPr/>
          <p:nvPr/>
        </p:nvSpPr>
        <p:spPr>
          <a:xfrm>
            <a:off x="8832300" y="1152425"/>
            <a:ext cx="2079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74" name="Google Shape;174;g3f67a44fbd9_0_137" title="pgen.1003925.g001.png"/>
          <p:cNvPicPr preferRelativeResize="0"/>
          <p:nvPr/>
        </p:nvPicPr>
        <p:blipFill rotWithShape="1">
          <a:blip r:embed="rId3">
            <a:alphaModFix/>
          </a:blip>
          <a:srcRect l="51525" b="42333"/>
          <a:stretch/>
        </p:blipFill>
        <p:spPr>
          <a:xfrm>
            <a:off x="5263900" y="1266325"/>
            <a:ext cx="3666852" cy="3099201"/>
          </a:xfrm>
          <a:prstGeom prst="rect">
            <a:avLst/>
          </a:prstGeom>
          <a:noFill/>
          <a:ln>
            <a:noFill/>
          </a:ln>
        </p:spPr>
      </p:pic>
      <p:sp>
        <p:nvSpPr>
          <p:cNvPr id="175" name="Google Shape;175;g3f67a44fbd9_0_137"/>
          <p:cNvSpPr txBox="1"/>
          <p:nvPr/>
        </p:nvSpPr>
        <p:spPr>
          <a:xfrm>
            <a:off x="6739000" y="4630075"/>
            <a:ext cx="3206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Moreno-Estrada</a:t>
            </a:r>
            <a:r>
              <a:rPr lang="en-GB" sz="1200" b="0" i="0" u="none" strike="noStrike" cap="none">
                <a:solidFill>
                  <a:srgbClr val="45818E"/>
                </a:solidFill>
                <a:latin typeface="Open Sans"/>
                <a:ea typeface="Open Sans"/>
                <a:cs typeface="Open Sans"/>
                <a:sym typeface="Open Sans"/>
              </a:rPr>
              <a:t> et al. 20</a:t>
            </a:r>
            <a:r>
              <a:rPr lang="en-GB" sz="1200">
                <a:solidFill>
                  <a:srgbClr val="45818E"/>
                </a:solidFill>
                <a:latin typeface="Open Sans"/>
                <a:ea typeface="Open Sans"/>
                <a:cs typeface="Open Sans"/>
                <a:sym typeface="Open Sans"/>
              </a:rPr>
              <a:t>13</a:t>
            </a:r>
            <a:endParaRPr sz="1200" b="0" i="0" u="none" strike="noStrike" cap="none">
              <a:solidFill>
                <a:srgbClr val="45818E"/>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f67a44fbd9_0_10"/>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Recent admixture events are easy to detect</a:t>
            </a:r>
            <a:endParaRPr/>
          </a:p>
        </p:txBody>
      </p:sp>
      <p:sp>
        <p:nvSpPr>
          <p:cNvPr id="181" name="Google Shape;181;g3f67a44fbd9_0_10"/>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r>
              <a:rPr lang="en-GB">
                <a:latin typeface="Arial"/>
                <a:ea typeface="Arial"/>
                <a:cs typeface="Arial"/>
                <a:sym typeface="Arial"/>
              </a:rPr>
              <a:t>Using the approaches you learnt earlier: PCA, </a:t>
            </a:r>
            <a:r>
              <a:rPr lang="en-GB" b="1">
                <a:latin typeface="Arial"/>
                <a:ea typeface="Arial"/>
                <a:cs typeface="Arial"/>
                <a:sym typeface="Arial"/>
              </a:rPr>
              <a:t>ADMIXTURE</a:t>
            </a:r>
            <a:endParaRPr b="1">
              <a:latin typeface="Arial"/>
              <a:ea typeface="Arial"/>
              <a:cs typeface="Arial"/>
              <a:sym typeface="Arial"/>
            </a:endParaRPr>
          </a:p>
          <a:p>
            <a:pPr marL="0" lvl="0" indent="0" algn="l" rtl="0">
              <a:lnSpc>
                <a:spcPct val="115000"/>
              </a:lnSpc>
              <a:spcBef>
                <a:spcPts val="1200"/>
              </a:spcBef>
              <a:spcAft>
                <a:spcPts val="0"/>
              </a:spcAft>
              <a:buSzPts val="1800"/>
              <a:buNone/>
            </a:pPr>
            <a:r>
              <a:rPr lang="en-GB">
                <a:latin typeface="Arial"/>
                <a:ea typeface="Arial"/>
                <a:cs typeface="Arial"/>
                <a:sym typeface="Arial"/>
              </a:rPr>
              <a:t>Model-based clustering</a:t>
            </a:r>
            <a:endParaRPr>
              <a:latin typeface="Arial"/>
              <a:ea typeface="Arial"/>
              <a:cs typeface="Arial"/>
              <a:sym typeface="Arial"/>
            </a:endParaRPr>
          </a:p>
          <a:p>
            <a:pPr marL="0" lvl="0" indent="0" algn="l" rtl="0">
              <a:lnSpc>
                <a:spcPct val="115000"/>
              </a:lnSpc>
              <a:spcBef>
                <a:spcPts val="1200"/>
              </a:spcBef>
              <a:spcAft>
                <a:spcPts val="1200"/>
              </a:spcAft>
              <a:buSzPts val="1800"/>
              <a:buNone/>
            </a:pPr>
            <a:r>
              <a:rPr lang="en-GB">
                <a:latin typeface="Arial"/>
                <a:ea typeface="Arial"/>
                <a:cs typeface="Arial"/>
                <a:sym typeface="Arial"/>
              </a:rPr>
              <a:t>We can infer admixture proportions when admixture is </a:t>
            </a:r>
            <a:r>
              <a:rPr lang="en-GB" b="1">
                <a:latin typeface="Arial"/>
                <a:ea typeface="Arial"/>
                <a:cs typeface="Arial"/>
                <a:sym typeface="Arial"/>
              </a:rPr>
              <a:t>recent </a:t>
            </a:r>
            <a:r>
              <a:rPr lang="en-GB">
                <a:latin typeface="Arial"/>
                <a:ea typeface="Arial"/>
                <a:cs typeface="Arial"/>
                <a:sym typeface="Arial"/>
              </a:rPr>
              <a:t>and between </a:t>
            </a:r>
            <a:r>
              <a:rPr lang="en-GB" b="1">
                <a:latin typeface="Arial"/>
                <a:ea typeface="Arial"/>
                <a:cs typeface="Arial"/>
                <a:sym typeface="Arial"/>
              </a:rPr>
              <a:t>well-differentiated sources</a:t>
            </a:r>
            <a:endParaRPr b="1">
              <a:latin typeface="Arial"/>
              <a:ea typeface="Arial"/>
              <a:cs typeface="Arial"/>
              <a:sym typeface="Arial"/>
            </a:endParaRPr>
          </a:p>
        </p:txBody>
      </p:sp>
      <p:sp>
        <p:nvSpPr>
          <p:cNvPr id="182" name="Google Shape;182;g3f67a44fbd9_0_10"/>
          <p:cNvSpPr txBox="1"/>
          <p:nvPr/>
        </p:nvSpPr>
        <p:spPr>
          <a:xfrm>
            <a:off x="6739000" y="4630075"/>
            <a:ext cx="3206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Moreno-Estrada</a:t>
            </a:r>
            <a:r>
              <a:rPr lang="en-GB" sz="1200" b="0" i="0" u="none" strike="noStrike" cap="none">
                <a:solidFill>
                  <a:srgbClr val="45818E"/>
                </a:solidFill>
                <a:latin typeface="Open Sans"/>
                <a:ea typeface="Open Sans"/>
                <a:cs typeface="Open Sans"/>
                <a:sym typeface="Open Sans"/>
              </a:rPr>
              <a:t> et al. 20</a:t>
            </a:r>
            <a:r>
              <a:rPr lang="en-GB" sz="1200">
                <a:solidFill>
                  <a:srgbClr val="45818E"/>
                </a:solidFill>
                <a:latin typeface="Open Sans"/>
                <a:ea typeface="Open Sans"/>
                <a:cs typeface="Open Sans"/>
                <a:sym typeface="Open Sans"/>
              </a:rPr>
              <a:t>13</a:t>
            </a:r>
            <a:endParaRPr sz="1200" b="0" i="0" u="none" strike="noStrike" cap="none">
              <a:solidFill>
                <a:srgbClr val="45818E"/>
              </a:solidFill>
              <a:latin typeface="Open Sans"/>
              <a:ea typeface="Open Sans"/>
              <a:cs typeface="Open Sans"/>
              <a:sym typeface="Open Sans"/>
            </a:endParaRPr>
          </a:p>
        </p:txBody>
      </p:sp>
      <p:pic>
        <p:nvPicPr>
          <p:cNvPr id="183" name="Google Shape;183;g3f67a44fbd9_0_10" title="pgen.1003925.g001.png"/>
          <p:cNvPicPr preferRelativeResize="0"/>
          <p:nvPr/>
        </p:nvPicPr>
        <p:blipFill rotWithShape="1">
          <a:blip r:embed="rId3">
            <a:alphaModFix/>
          </a:blip>
          <a:srcRect t="60287" b="22386"/>
          <a:stretch/>
        </p:blipFill>
        <p:spPr>
          <a:xfrm>
            <a:off x="72726" y="3088700"/>
            <a:ext cx="8826573" cy="1086525"/>
          </a:xfrm>
          <a:prstGeom prst="rect">
            <a:avLst/>
          </a:prstGeom>
          <a:noFill/>
          <a:ln>
            <a:noFill/>
          </a:ln>
        </p:spPr>
      </p:pic>
      <p:sp>
        <p:nvSpPr>
          <p:cNvPr id="184" name="Google Shape;184;g3f67a44fbd9_0_10"/>
          <p:cNvSpPr txBox="1"/>
          <p:nvPr/>
        </p:nvSpPr>
        <p:spPr>
          <a:xfrm>
            <a:off x="854575" y="4175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800" b="1">
                <a:solidFill>
                  <a:srgbClr val="598E9A"/>
                </a:solidFill>
                <a:latin typeface="Open Sans"/>
                <a:ea typeface="Open Sans"/>
                <a:cs typeface="Open Sans"/>
                <a:sym typeface="Open Sans"/>
              </a:rPr>
              <a:t>Admixed populations</a:t>
            </a:r>
            <a:endParaRPr/>
          </a:p>
        </p:txBody>
      </p:sp>
      <p:sp>
        <p:nvSpPr>
          <p:cNvPr id="185" name="Google Shape;185;g3f67a44fbd9_0_10"/>
          <p:cNvSpPr txBox="1"/>
          <p:nvPr/>
        </p:nvSpPr>
        <p:spPr>
          <a:xfrm>
            <a:off x="5494175" y="43095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800" b="1">
                <a:solidFill>
                  <a:srgbClr val="2A2A2A"/>
                </a:solidFill>
                <a:latin typeface="Open Sans"/>
                <a:ea typeface="Open Sans"/>
                <a:cs typeface="Open Sans"/>
                <a:sym typeface="Open Sans"/>
              </a:rPr>
              <a:t>Sources</a:t>
            </a:r>
            <a:endParaRPr>
              <a:solidFill>
                <a:srgbClr val="2A2A2A"/>
              </a:solidFill>
            </a:endParaRPr>
          </a:p>
        </p:txBody>
      </p:sp>
      <p:sp>
        <p:nvSpPr>
          <p:cNvPr id="186" name="Google Shape;186;g3f67a44fbd9_0_10"/>
          <p:cNvSpPr/>
          <p:nvPr/>
        </p:nvSpPr>
        <p:spPr>
          <a:xfrm rot="5400000">
            <a:off x="6021650" y="1614575"/>
            <a:ext cx="256500" cy="5377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87" name="Google Shape;187;g3f67a44fbd9_0_10"/>
          <p:cNvSpPr txBox="1"/>
          <p:nvPr/>
        </p:nvSpPr>
        <p:spPr>
          <a:xfrm rot="-1500163">
            <a:off x="915587" y="2990964"/>
            <a:ext cx="659393" cy="38465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300" b="1">
                <a:solidFill>
                  <a:srgbClr val="999999"/>
                </a:solidFill>
              </a:rPr>
              <a:t>Cuba</a:t>
            </a:r>
            <a:endParaRPr sz="900" b="1">
              <a:solidFill>
                <a:srgbClr val="999999"/>
              </a:solidFill>
            </a:endParaRPr>
          </a:p>
        </p:txBody>
      </p:sp>
      <p:sp>
        <p:nvSpPr>
          <p:cNvPr id="188" name="Google Shape;188;g3f67a44fbd9_0_10"/>
          <p:cNvSpPr txBox="1"/>
          <p:nvPr/>
        </p:nvSpPr>
        <p:spPr>
          <a:xfrm rot="-1627141">
            <a:off x="2789300" y="2960946"/>
            <a:ext cx="818707" cy="38493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300" b="1">
                <a:solidFill>
                  <a:srgbClr val="999999"/>
                </a:solidFill>
              </a:rPr>
              <a:t>Mexico</a:t>
            </a:r>
            <a:endParaRPr sz="900" b="1">
              <a:solidFill>
                <a:srgbClr val="999999"/>
              </a:solidFill>
            </a:endParaRPr>
          </a:p>
        </p:txBody>
      </p:sp>
      <p:sp>
        <p:nvSpPr>
          <p:cNvPr id="189" name="Google Shape;189;g3f67a44fbd9_0_10"/>
          <p:cNvSpPr/>
          <p:nvPr/>
        </p:nvSpPr>
        <p:spPr>
          <a:xfrm>
            <a:off x="185850" y="2230250"/>
            <a:ext cx="8154300" cy="639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3f68fc15589_0_453"/>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Recent admixture events are easy to detect</a:t>
            </a:r>
            <a:endParaRPr/>
          </a:p>
        </p:txBody>
      </p:sp>
      <p:sp>
        <p:nvSpPr>
          <p:cNvPr id="195" name="Google Shape;195;g3f68fc15589_0_453"/>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r>
              <a:rPr lang="en-GB">
                <a:latin typeface="Arial"/>
                <a:ea typeface="Arial"/>
                <a:cs typeface="Arial"/>
                <a:sym typeface="Arial"/>
              </a:rPr>
              <a:t>Using the approaches you learnt earlier: PCA, </a:t>
            </a:r>
            <a:r>
              <a:rPr lang="en-GB" b="1">
                <a:latin typeface="Arial"/>
                <a:ea typeface="Arial"/>
                <a:cs typeface="Arial"/>
                <a:sym typeface="Arial"/>
              </a:rPr>
              <a:t>ADMIXTURE</a:t>
            </a:r>
            <a:endParaRPr b="1">
              <a:latin typeface="Arial"/>
              <a:ea typeface="Arial"/>
              <a:cs typeface="Arial"/>
              <a:sym typeface="Arial"/>
            </a:endParaRPr>
          </a:p>
          <a:p>
            <a:pPr marL="0" lvl="0" indent="0" algn="l" rtl="0">
              <a:lnSpc>
                <a:spcPct val="115000"/>
              </a:lnSpc>
              <a:spcBef>
                <a:spcPts val="1200"/>
              </a:spcBef>
              <a:spcAft>
                <a:spcPts val="0"/>
              </a:spcAft>
              <a:buSzPts val="1800"/>
              <a:buNone/>
            </a:pPr>
            <a:r>
              <a:rPr lang="en-GB">
                <a:latin typeface="Arial"/>
                <a:ea typeface="Arial"/>
                <a:cs typeface="Arial"/>
                <a:sym typeface="Arial"/>
              </a:rPr>
              <a:t>Model-based clustering</a:t>
            </a:r>
            <a:endParaRPr>
              <a:latin typeface="Arial"/>
              <a:ea typeface="Arial"/>
              <a:cs typeface="Arial"/>
              <a:sym typeface="Arial"/>
            </a:endParaRPr>
          </a:p>
          <a:p>
            <a:pPr marL="0" lvl="0" indent="0" algn="l" rtl="0">
              <a:lnSpc>
                <a:spcPct val="115000"/>
              </a:lnSpc>
              <a:spcBef>
                <a:spcPts val="1200"/>
              </a:spcBef>
              <a:spcAft>
                <a:spcPts val="1200"/>
              </a:spcAft>
              <a:buSzPts val="1800"/>
              <a:buNone/>
            </a:pPr>
            <a:r>
              <a:rPr lang="en-GB">
                <a:solidFill>
                  <a:srgbClr val="598E9A"/>
                </a:solidFill>
                <a:latin typeface="Arial"/>
                <a:ea typeface="Arial"/>
                <a:cs typeface="Arial"/>
                <a:sym typeface="Arial"/>
              </a:rPr>
              <a:t>We can infer admixture </a:t>
            </a:r>
            <a:r>
              <a:rPr lang="en-GB" b="1">
                <a:solidFill>
                  <a:srgbClr val="598E9A"/>
                </a:solidFill>
                <a:latin typeface="Arial"/>
                <a:ea typeface="Arial"/>
                <a:cs typeface="Arial"/>
                <a:sym typeface="Arial"/>
              </a:rPr>
              <a:t>proportions </a:t>
            </a:r>
            <a:r>
              <a:rPr lang="en-GB">
                <a:solidFill>
                  <a:srgbClr val="598E9A"/>
                </a:solidFill>
                <a:latin typeface="Arial"/>
                <a:ea typeface="Arial"/>
                <a:cs typeface="Arial"/>
                <a:sym typeface="Arial"/>
              </a:rPr>
              <a:t>when admixture is </a:t>
            </a:r>
            <a:r>
              <a:rPr lang="en-GB" b="1">
                <a:solidFill>
                  <a:srgbClr val="598E9A"/>
                </a:solidFill>
                <a:latin typeface="Arial"/>
                <a:ea typeface="Arial"/>
                <a:cs typeface="Arial"/>
                <a:sym typeface="Arial"/>
              </a:rPr>
              <a:t>recent </a:t>
            </a:r>
            <a:r>
              <a:rPr lang="en-GB">
                <a:solidFill>
                  <a:srgbClr val="598E9A"/>
                </a:solidFill>
                <a:latin typeface="Arial"/>
                <a:ea typeface="Arial"/>
                <a:cs typeface="Arial"/>
                <a:sym typeface="Arial"/>
              </a:rPr>
              <a:t>and between </a:t>
            </a:r>
            <a:r>
              <a:rPr lang="en-GB" b="1">
                <a:solidFill>
                  <a:srgbClr val="598E9A"/>
                </a:solidFill>
                <a:latin typeface="Arial"/>
                <a:ea typeface="Arial"/>
                <a:cs typeface="Arial"/>
                <a:sym typeface="Arial"/>
              </a:rPr>
              <a:t>well-differentiated sources</a:t>
            </a:r>
            <a:endParaRPr b="1">
              <a:solidFill>
                <a:srgbClr val="598E9A"/>
              </a:solidFill>
              <a:latin typeface="Arial"/>
              <a:ea typeface="Arial"/>
              <a:cs typeface="Arial"/>
              <a:sym typeface="Arial"/>
            </a:endParaRPr>
          </a:p>
        </p:txBody>
      </p:sp>
      <p:sp>
        <p:nvSpPr>
          <p:cNvPr id="196" name="Google Shape;196;g3f68fc15589_0_453"/>
          <p:cNvSpPr txBox="1"/>
          <p:nvPr/>
        </p:nvSpPr>
        <p:spPr>
          <a:xfrm>
            <a:off x="6739000" y="4630075"/>
            <a:ext cx="3206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Moreno-Estrada</a:t>
            </a:r>
            <a:r>
              <a:rPr lang="en-GB" sz="1200" b="0" i="0" u="none" strike="noStrike" cap="none">
                <a:solidFill>
                  <a:srgbClr val="45818E"/>
                </a:solidFill>
                <a:latin typeface="Open Sans"/>
                <a:ea typeface="Open Sans"/>
                <a:cs typeface="Open Sans"/>
                <a:sym typeface="Open Sans"/>
              </a:rPr>
              <a:t> et al. 20</a:t>
            </a:r>
            <a:r>
              <a:rPr lang="en-GB" sz="1200">
                <a:solidFill>
                  <a:srgbClr val="45818E"/>
                </a:solidFill>
                <a:latin typeface="Open Sans"/>
                <a:ea typeface="Open Sans"/>
                <a:cs typeface="Open Sans"/>
                <a:sym typeface="Open Sans"/>
              </a:rPr>
              <a:t>13</a:t>
            </a:r>
            <a:endParaRPr sz="1200" b="0" i="0" u="none" strike="noStrike" cap="none">
              <a:solidFill>
                <a:srgbClr val="45818E"/>
              </a:solidFill>
              <a:latin typeface="Open Sans"/>
              <a:ea typeface="Open Sans"/>
              <a:cs typeface="Open Sans"/>
              <a:sym typeface="Open Sans"/>
            </a:endParaRPr>
          </a:p>
        </p:txBody>
      </p:sp>
      <p:pic>
        <p:nvPicPr>
          <p:cNvPr id="197" name="Google Shape;197;g3f68fc15589_0_453" title="pgen.1003925.g001.png"/>
          <p:cNvPicPr preferRelativeResize="0"/>
          <p:nvPr/>
        </p:nvPicPr>
        <p:blipFill rotWithShape="1">
          <a:blip r:embed="rId3">
            <a:alphaModFix/>
          </a:blip>
          <a:srcRect t="60287" b="22386"/>
          <a:stretch/>
        </p:blipFill>
        <p:spPr>
          <a:xfrm>
            <a:off x="72726" y="3088700"/>
            <a:ext cx="8826573" cy="1086525"/>
          </a:xfrm>
          <a:prstGeom prst="rect">
            <a:avLst/>
          </a:prstGeom>
          <a:noFill/>
          <a:ln>
            <a:noFill/>
          </a:ln>
        </p:spPr>
      </p:pic>
      <p:sp>
        <p:nvSpPr>
          <p:cNvPr id="198" name="Google Shape;198;g3f68fc15589_0_453"/>
          <p:cNvSpPr txBox="1"/>
          <p:nvPr/>
        </p:nvSpPr>
        <p:spPr>
          <a:xfrm>
            <a:off x="854575" y="4175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800" b="1">
                <a:solidFill>
                  <a:srgbClr val="598E9A"/>
                </a:solidFill>
                <a:latin typeface="Open Sans"/>
                <a:ea typeface="Open Sans"/>
                <a:cs typeface="Open Sans"/>
                <a:sym typeface="Open Sans"/>
              </a:rPr>
              <a:t>Admixed populations</a:t>
            </a:r>
            <a:endParaRPr/>
          </a:p>
        </p:txBody>
      </p:sp>
      <p:sp>
        <p:nvSpPr>
          <p:cNvPr id="199" name="Google Shape;199;g3f68fc15589_0_453"/>
          <p:cNvSpPr txBox="1"/>
          <p:nvPr/>
        </p:nvSpPr>
        <p:spPr>
          <a:xfrm>
            <a:off x="5494175" y="43095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800" b="1">
                <a:solidFill>
                  <a:srgbClr val="2A2A2A"/>
                </a:solidFill>
                <a:latin typeface="Open Sans"/>
                <a:ea typeface="Open Sans"/>
                <a:cs typeface="Open Sans"/>
                <a:sym typeface="Open Sans"/>
              </a:rPr>
              <a:t>Sources</a:t>
            </a:r>
            <a:endParaRPr>
              <a:solidFill>
                <a:srgbClr val="2A2A2A"/>
              </a:solidFill>
            </a:endParaRPr>
          </a:p>
        </p:txBody>
      </p:sp>
      <p:sp>
        <p:nvSpPr>
          <p:cNvPr id="200" name="Google Shape;200;g3f68fc15589_0_453"/>
          <p:cNvSpPr/>
          <p:nvPr/>
        </p:nvSpPr>
        <p:spPr>
          <a:xfrm rot="5400000">
            <a:off x="6021650" y="1614575"/>
            <a:ext cx="256500" cy="5377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01" name="Google Shape;201;g3f68fc15589_0_453"/>
          <p:cNvSpPr txBox="1"/>
          <p:nvPr/>
        </p:nvSpPr>
        <p:spPr>
          <a:xfrm rot="-1500163">
            <a:off x="915587" y="2990964"/>
            <a:ext cx="659393" cy="38465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300" b="1">
                <a:solidFill>
                  <a:srgbClr val="999999"/>
                </a:solidFill>
              </a:rPr>
              <a:t>Cuba</a:t>
            </a:r>
            <a:endParaRPr sz="900" b="1">
              <a:solidFill>
                <a:srgbClr val="999999"/>
              </a:solidFill>
            </a:endParaRPr>
          </a:p>
        </p:txBody>
      </p:sp>
      <p:sp>
        <p:nvSpPr>
          <p:cNvPr id="202" name="Google Shape;202;g3f68fc15589_0_453"/>
          <p:cNvSpPr txBox="1"/>
          <p:nvPr/>
        </p:nvSpPr>
        <p:spPr>
          <a:xfrm rot="-1627141">
            <a:off x="2789300" y="2960946"/>
            <a:ext cx="818707" cy="38493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300" b="1">
                <a:solidFill>
                  <a:srgbClr val="999999"/>
                </a:solidFill>
              </a:rPr>
              <a:t>Mexico</a:t>
            </a:r>
            <a:endParaRPr sz="900" b="1">
              <a:solidFill>
                <a:srgbClr val="99999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f67a44fbd9_0_43"/>
          <p:cNvSpPr txBox="1">
            <a:spLocks noGrp="1"/>
          </p:cNvSpPr>
          <p:nvPr>
            <p:ph type="title"/>
          </p:nvPr>
        </p:nvSpPr>
        <p:spPr>
          <a:xfrm>
            <a:off x="311700" y="1154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scenario gave rise to this ADMIXTURE plot?</a:t>
            </a:r>
            <a:endParaRPr/>
          </a:p>
        </p:txBody>
      </p:sp>
      <p:pic>
        <p:nvPicPr>
          <p:cNvPr id="208" name="Google Shape;208;g3f67a44fbd9_0_43"/>
          <p:cNvPicPr preferRelativeResize="0"/>
          <p:nvPr/>
        </p:nvPicPr>
        <p:blipFill>
          <a:blip r:embed="rId3">
            <a:alphaModFix/>
          </a:blip>
          <a:stretch>
            <a:fillRect/>
          </a:stretch>
        </p:blipFill>
        <p:spPr>
          <a:xfrm>
            <a:off x="1318476" y="1294750"/>
            <a:ext cx="6946799" cy="3345175"/>
          </a:xfrm>
          <a:prstGeom prst="rect">
            <a:avLst/>
          </a:prstGeom>
          <a:noFill/>
          <a:ln>
            <a:noFill/>
          </a:ln>
        </p:spPr>
      </p:pic>
      <p:sp>
        <p:nvSpPr>
          <p:cNvPr id="209" name="Google Shape;209;g3f67a44fbd9_0_43"/>
          <p:cNvSpPr txBox="1"/>
          <p:nvPr/>
        </p:nvSpPr>
        <p:spPr>
          <a:xfrm>
            <a:off x="7461000" y="4700700"/>
            <a:ext cx="3206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Lawson </a:t>
            </a:r>
            <a:r>
              <a:rPr lang="en-GB" sz="1200" b="0" i="0" u="none" strike="noStrike" cap="none">
                <a:solidFill>
                  <a:srgbClr val="45818E"/>
                </a:solidFill>
                <a:latin typeface="Open Sans"/>
                <a:ea typeface="Open Sans"/>
                <a:cs typeface="Open Sans"/>
                <a:sym typeface="Open Sans"/>
              </a:rPr>
              <a:t>et al. 20</a:t>
            </a:r>
            <a:r>
              <a:rPr lang="en-GB" sz="1200">
                <a:solidFill>
                  <a:srgbClr val="45818E"/>
                </a:solidFill>
                <a:latin typeface="Open Sans"/>
                <a:ea typeface="Open Sans"/>
                <a:cs typeface="Open Sans"/>
                <a:sym typeface="Open Sans"/>
              </a:rPr>
              <a:t>18</a:t>
            </a:r>
            <a:endParaRPr sz="1200" b="0" i="0" u="none" strike="noStrike" cap="none">
              <a:solidFill>
                <a:srgbClr val="45818E"/>
              </a:solidFill>
              <a:latin typeface="Open Sans"/>
              <a:ea typeface="Open Sans"/>
              <a:cs typeface="Open Sans"/>
              <a:sym typeface="Open Sans"/>
            </a:endParaRPr>
          </a:p>
        </p:txBody>
      </p:sp>
      <p:sp>
        <p:nvSpPr>
          <p:cNvPr id="210" name="Google Shape;210;g3f67a44fbd9_0_43"/>
          <p:cNvSpPr/>
          <p:nvPr/>
        </p:nvSpPr>
        <p:spPr>
          <a:xfrm>
            <a:off x="3763525" y="1347425"/>
            <a:ext cx="4588200" cy="3403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1" name="Google Shape;211;g3f67a44fbd9_0_43"/>
          <p:cNvSpPr/>
          <p:nvPr/>
        </p:nvSpPr>
        <p:spPr>
          <a:xfrm>
            <a:off x="1318475" y="1294750"/>
            <a:ext cx="4588200" cy="1587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f68fc15589_0_789"/>
          <p:cNvSpPr txBox="1">
            <a:spLocks noGrp="1"/>
          </p:cNvSpPr>
          <p:nvPr>
            <p:ph type="title"/>
          </p:nvPr>
        </p:nvSpPr>
        <p:spPr>
          <a:xfrm>
            <a:off x="311700" y="1154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scenario gave rise to this ADMIXTURE plot?</a:t>
            </a:r>
            <a:endParaRPr/>
          </a:p>
        </p:txBody>
      </p:sp>
      <p:pic>
        <p:nvPicPr>
          <p:cNvPr id="217" name="Google Shape;217;g3f68fc15589_0_789"/>
          <p:cNvPicPr preferRelativeResize="0"/>
          <p:nvPr/>
        </p:nvPicPr>
        <p:blipFill>
          <a:blip r:embed="rId3">
            <a:alphaModFix/>
          </a:blip>
          <a:stretch>
            <a:fillRect/>
          </a:stretch>
        </p:blipFill>
        <p:spPr>
          <a:xfrm>
            <a:off x="1318476" y="1294750"/>
            <a:ext cx="6946799" cy="3345175"/>
          </a:xfrm>
          <a:prstGeom prst="rect">
            <a:avLst/>
          </a:prstGeom>
          <a:noFill/>
          <a:ln>
            <a:noFill/>
          </a:ln>
        </p:spPr>
      </p:pic>
      <p:sp>
        <p:nvSpPr>
          <p:cNvPr id="218" name="Google Shape;218;g3f68fc15589_0_789"/>
          <p:cNvSpPr txBox="1"/>
          <p:nvPr/>
        </p:nvSpPr>
        <p:spPr>
          <a:xfrm>
            <a:off x="7461000" y="4700700"/>
            <a:ext cx="3206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Lawson </a:t>
            </a:r>
            <a:r>
              <a:rPr lang="en-GB" sz="1200" b="0" i="0" u="none" strike="noStrike" cap="none">
                <a:solidFill>
                  <a:srgbClr val="45818E"/>
                </a:solidFill>
                <a:latin typeface="Open Sans"/>
                <a:ea typeface="Open Sans"/>
                <a:cs typeface="Open Sans"/>
                <a:sym typeface="Open Sans"/>
              </a:rPr>
              <a:t>et al. 20</a:t>
            </a:r>
            <a:r>
              <a:rPr lang="en-GB" sz="1200">
                <a:solidFill>
                  <a:srgbClr val="45818E"/>
                </a:solidFill>
                <a:latin typeface="Open Sans"/>
                <a:ea typeface="Open Sans"/>
                <a:cs typeface="Open Sans"/>
                <a:sym typeface="Open Sans"/>
              </a:rPr>
              <a:t>18</a:t>
            </a:r>
            <a:endParaRPr sz="1200" b="0" i="0" u="none" strike="noStrike" cap="none">
              <a:solidFill>
                <a:srgbClr val="45818E"/>
              </a:solidFill>
              <a:latin typeface="Open Sans"/>
              <a:ea typeface="Open Sans"/>
              <a:cs typeface="Open Sans"/>
              <a:sym typeface="Open Sans"/>
            </a:endParaRPr>
          </a:p>
        </p:txBody>
      </p:sp>
      <p:sp>
        <p:nvSpPr>
          <p:cNvPr id="219" name="Google Shape;219;g3f68fc15589_0_789"/>
          <p:cNvSpPr/>
          <p:nvPr/>
        </p:nvSpPr>
        <p:spPr>
          <a:xfrm>
            <a:off x="3763525" y="1347425"/>
            <a:ext cx="4588200" cy="3403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0" name="Google Shape;220;g3f68fc15589_0_789"/>
          <p:cNvSpPr/>
          <p:nvPr/>
        </p:nvSpPr>
        <p:spPr>
          <a:xfrm>
            <a:off x="3763525" y="1294750"/>
            <a:ext cx="2143200" cy="1587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f68fc15589_0_781"/>
          <p:cNvSpPr txBox="1">
            <a:spLocks noGrp="1"/>
          </p:cNvSpPr>
          <p:nvPr>
            <p:ph type="title"/>
          </p:nvPr>
        </p:nvSpPr>
        <p:spPr>
          <a:xfrm>
            <a:off x="311700" y="1154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Different demographic scenarios can give indistinguishable ADMIXTURE plots</a:t>
            </a:r>
            <a:endParaRPr/>
          </a:p>
        </p:txBody>
      </p:sp>
      <p:pic>
        <p:nvPicPr>
          <p:cNvPr id="226" name="Google Shape;226;g3f68fc15589_0_781"/>
          <p:cNvPicPr preferRelativeResize="0"/>
          <p:nvPr/>
        </p:nvPicPr>
        <p:blipFill>
          <a:blip r:embed="rId3">
            <a:alphaModFix/>
          </a:blip>
          <a:stretch>
            <a:fillRect/>
          </a:stretch>
        </p:blipFill>
        <p:spPr>
          <a:xfrm>
            <a:off x="1318476" y="1294750"/>
            <a:ext cx="6946799" cy="3345175"/>
          </a:xfrm>
          <a:prstGeom prst="rect">
            <a:avLst/>
          </a:prstGeom>
          <a:noFill/>
          <a:ln>
            <a:noFill/>
          </a:ln>
        </p:spPr>
      </p:pic>
      <p:sp>
        <p:nvSpPr>
          <p:cNvPr id="227" name="Google Shape;227;g3f68fc15589_0_781"/>
          <p:cNvSpPr txBox="1"/>
          <p:nvPr/>
        </p:nvSpPr>
        <p:spPr>
          <a:xfrm>
            <a:off x="7461000" y="4700700"/>
            <a:ext cx="3206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Lawson </a:t>
            </a:r>
            <a:r>
              <a:rPr lang="en-GB" sz="1200" b="0" i="0" u="none" strike="noStrike" cap="none">
                <a:solidFill>
                  <a:srgbClr val="45818E"/>
                </a:solidFill>
                <a:latin typeface="Open Sans"/>
                <a:ea typeface="Open Sans"/>
                <a:cs typeface="Open Sans"/>
                <a:sym typeface="Open Sans"/>
              </a:rPr>
              <a:t>et al. 20</a:t>
            </a:r>
            <a:r>
              <a:rPr lang="en-GB" sz="1200">
                <a:solidFill>
                  <a:srgbClr val="45818E"/>
                </a:solidFill>
                <a:latin typeface="Open Sans"/>
                <a:ea typeface="Open Sans"/>
                <a:cs typeface="Open Sans"/>
                <a:sym typeface="Open Sans"/>
              </a:rPr>
              <a:t>18</a:t>
            </a:r>
            <a:endParaRPr sz="1200" b="0" i="0" u="none" strike="noStrike" cap="none">
              <a:solidFill>
                <a:srgbClr val="45818E"/>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f67a44fbd9_0_61"/>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Need to test for gene flow formally</a:t>
            </a:r>
            <a:endParaRPr/>
          </a:p>
        </p:txBody>
      </p:sp>
      <p:sp>
        <p:nvSpPr>
          <p:cNvPr id="233" name="Google Shape;233;g3f67a44fbd9_0_61"/>
          <p:cNvSpPr txBox="1">
            <a:spLocks noGrp="1"/>
          </p:cNvSpPr>
          <p:nvPr>
            <p:ph type="body" idx="1"/>
          </p:nvPr>
        </p:nvSpPr>
        <p:spPr>
          <a:xfrm>
            <a:off x="311700" y="1266325"/>
            <a:ext cx="50112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endParaRPr>
              <a:latin typeface="Arial"/>
              <a:ea typeface="Arial"/>
              <a:cs typeface="Arial"/>
              <a:sym typeface="Arial"/>
            </a:endParaRPr>
          </a:p>
          <a:p>
            <a:pPr marL="0" lvl="0" indent="0" algn="l" rtl="0">
              <a:lnSpc>
                <a:spcPct val="115000"/>
              </a:lnSpc>
              <a:spcBef>
                <a:spcPts val="1200"/>
              </a:spcBef>
              <a:spcAft>
                <a:spcPts val="1200"/>
              </a:spcAft>
              <a:buSzPts val="1800"/>
              <a:buNone/>
            </a:pPr>
            <a:endParaRPr>
              <a:latin typeface="Arial"/>
              <a:ea typeface="Arial"/>
              <a:cs typeface="Arial"/>
              <a:sym typeface="Arial"/>
            </a:endParaRPr>
          </a:p>
        </p:txBody>
      </p:sp>
      <p:sp>
        <p:nvSpPr>
          <p:cNvPr id="234" name="Google Shape;234;g3f67a44fbd9_0_61"/>
          <p:cNvSpPr/>
          <p:nvPr/>
        </p:nvSpPr>
        <p:spPr>
          <a:xfrm>
            <a:off x="5127475" y="1172000"/>
            <a:ext cx="4884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5" name="Google Shape;235;g3f67a44fbd9_0_61"/>
          <p:cNvSpPr/>
          <p:nvPr/>
        </p:nvSpPr>
        <p:spPr>
          <a:xfrm>
            <a:off x="8832300" y="1152425"/>
            <a:ext cx="2079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6" name="Google Shape;236;g3f67a44fbd9_0_61"/>
          <p:cNvSpPr/>
          <p:nvPr/>
        </p:nvSpPr>
        <p:spPr>
          <a:xfrm>
            <a:off x="2572075" y="3947350"/>
            <a:ext cx="658800" cy="409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7" name="Google Shape;237;g3f67a44fbd9_0_61"/>
          <p:cNvSpPr/>
          <p:nvPr/>
        </p:nvSpPr>
        <p:spPr>
          <a:xfrm>
            <a:off x="2519575" y="38478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8" name="Google Shape;238;g3f67a44fbd9_0_61"/>
          <p:cNvSpPr/>
          <p:nvPr/>
        </p:nvSpPr>
        <p:spPr>
          <a:xfrm>
            <a:off x="2519575" y="28244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9" name="Google Shape;239;g3f67a44fbd9_0_61"/>
          <p:cNvSpPr/>
          <p:nvPr/>
        </p:nvSpPr>
        <p:spPr>
          <a:xfrm>
            <a:off x="5684975" y="28244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40" name="Google Shape;240;g3f67a44fbd9_0_61"/>
          <p:cNvSpPr/>
          <p:nvPr/>
        </p:nvSpPr>
        <p:spPr>
          <a:xfrm>
            <a:off x="5385925" y="3905350"/>
            <a:ext cx="3495600" cy="49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41" name="Google Shape;241;g3f67a44fbd9_0_61"/>
          <p:cNvSpPr/>
          <p:nvPr/>
        </p:nvSpPr>
        <p:spPr>
          <a:xfrm>
            <a:off x="3291700" y="4302200"/>
            <a:ext cx="3495600" cy="49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2"/>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247" name="Google Shape;247;p12"/>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248" name="Google Shape;248;p12"/>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2"/>
          <p:cNvSpPr txBox="1"/>
          <p:nvPr/>
        </p:nvSpPr>
        <p:spPr>
          <a:xfrm>
            <a:off x="3481575" y="65830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ancestral allele = A</a:t>
            </a:r>
            <a:endParaRPr sz="1400" b="1" i="0" u="none" strike="noStrike" cap="none">
              <a:solidFill>
                <a:srgbClr val="45818E"/>
              </a:solidFill>
              <a:latin typeface="Open Sans"/>
              <a:ea typeface="Open Sans"/>
              <a:cs typeface="Open Sans"/>
              <a:sym typeface="Open Sans"/>
            </a:endParaRPr>
          </a:p>
        </p:txBody>
      </p:sp>
      <p:sp>
        <p:nvSpPr>
          <p:cNvPr id="250" name="Google Shape;250;p12"/>
          <p:cNvSpPr txBox="1"/>
          <p:nvPr/>
        </p:nvSpPr>
        <p:spPr>
          <a:xfrm>
            <a:off x="4183000" y="1152425"/>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latin typeface="Open Sans"/>
                <a:ea typeface="Open Sans"/>
                <a:cs typeface="Open Sans"/>
                <a:sym typeface="Open Sans"/>
              </a:rPr>
              <a:t>mutation</a:t>
            </a:r>
            <a:r>
              <a:rPr lang="en-GB" sz="1400" b="1" i="0" u="none" strike="noStrike" cap="none">
                <a:solidFill>
                  <a:srgbClr val="45818E"/>
                </a:solidFill>
                <a:latin typeface="Open Sans"/>
                <a:ea typeface="Open Sans"/>
                <a:cs typeface="Open Sans"/>
                <a:sym typeface="Open Sans"/>
              </a:rPr>
              <a:t> A -&gt; B</a:t>
            </a:r>
            <a:endParaRPr sz="1400" b="1" i="0" u="none" strike="noStrike" cap="none">
              <a:solidFill>
                <a:srgbClr val="45818E"/>
              </a:solidFill>
              <a:latin typeface="Open Sans"/>
              <a:ea typeface="Open Sans"/>
              <a:cs typeface="Open Sans"/>
              <a:sym typeface="Open Sans"/>
            </a:endParaRPr>
          </a:p>
        </p:txBody>
      </p:sp>
      <p:sp>
        <p:nvSpPr>
          <p:cNvPr id="251" name="Google Shape;251;p12"/>
          <p:cNvSpPr txBox="1"/>
          <p:nvPr/>
        </p:nvSpPr>
        <p:spPr>
          <a:xfrm>
            <a:off x="4120075" y="1646550"/>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where the B alleles </a:t>
            </a:r>
            <a:r>
              <a:rPr lang="en-GB" sz="1400" b="1" i="0" u="none" strike="noStrike" cap="none">
                <a:solidFill>
                  <a:srgbClr val="FF0000"/>
                </a:solidFill>
                <a:latin typeface="Open Sans"/>
                <a:ea typeface="Open Sans"/>
                <a:cs typeface="Open Sans"/>
                <a:sym typeface="Open Sans"/>
              </a:rPr>
              <a:t>coalesce</a:t>
            </a:r>
            <a:endParaRPr sz="1400" b="1" i="0" u="none" strike="noStrike" cap="none">
              <a:solidFill>
                <a:srgbClr val="FF0000"/>
              </a:solidFill>
              <a:latin typeface="Open Sans"/>
              <a:ea typeface="Open Sans"/>
              <a:cs typeface="Open Sans"/>
              <a:sym typeface="Open Sans"/>
            </a:endParaRPr>
          </a:p>
        </p:txBody>
      </p:sp>
      <p:cxnSp>
        <p:nvCxnSpPr>
          <p:cNvPr id="252" name="Google Shape;252;p12"/>
          <p:cNvCxnSpPr/>
          <p:nvPr/>
        </p:nvCxnSpPr>
        <p:spPr>
          <a:xfrm flipH="1">
            <a:off x="3188325" y="982000"/>
            <a:ext cx="803400" cy="280500"/>
          </a:xfrm>
          <a:prstGeom prst="straightConnector1">
            <a:avLst/>
          </a:prstGeom>
          <a:noFill/>
          <a:ln w="19050" cap="flat" cmpd="sng">
            <a:solidFill>
              <a:srgbClr val="45818E"/>
            </a:solidFill>
            <a:prstDash val="solid"/>
            <a:round/>
            <a:headEnd type="none" w="sm" len="sm"/>
            <a:tailEnd type="triangle" w="med" len="med"/>
          </a:ln>
        </p:spPr>
      </p:cxnSp>
      <p:cxnSp>
        <p:nvCxnSpPr>
          <p:cNvPr id="253" name="Google Shape;253;p12"/>
          <p:cNvCxnSpPr>
            <a:stCxn id="250" idx="1"/>
          </p:cNvCxnSpPr>
          <p:nvPr/>
        </p:nvCxnSpPr>
        <p:spPr>
          <a:xfrm flipH="1">
            <a:off x="3099100" y="1352525"/>
            <a:ext cx="1083900" cy="75900"/>
          </a:xfrm>
          <a:prstGeom prst="straightConnector1">
            <a:avLst/>
          </a:prstGeom>
          <a:noFill/>
          <a:ln w="19050" cap="flat" cmpd="sng">
            <a:solidFill>
              <a:srgbClr val="45818E"/>
            </a:solidFill>
            <a:prstDash val="solid"/>
            <a:round/>
            <a:headEnd type="none" w="sm" len="sm"/>
            <a:tailEnd type="triangle" w="med" len="med"/>
          </a:ln>
        </p:spPr>
      </p:cxnSp>
      <p:cxnSp>
        <p:nvCxnSpPr>
          <p:cNvPr id="254" name="Google Shape;254;p12"/>
          <p:cNvCxnSpPr>
            <a:stCxn id="251" idx="1"/>
          </p:cNvCxnSpPr>
          <p:nvPr/>
        </p:nvCxnSpPr>
        <p:spPr>
          <a:xfrm rot="10800000">
            <a:off x="2983675" y="1704450"/>
            <a:ext cx="1136400" cy="142200"/>
          </a:xfrm>
          <a:prstGeom prst="straightConnector1">
            <a:avLst/>
          </a:prstGeom>
          <a:noFill/>
          <a:ln w="19050" cap="flat" cmpd="sng">
            <a:solidFill>
              <a:srgbClr val="45818E"/>
            </a:solidFill>
            <a:prstDash val="solid"/>
            <a:round/>
            <a:headEnd type="none" w="sm" len="sm"/>
            <a:tailEnd type="triangle" w="med" len="med"/>
          </a:ln>
        </p:spPr>
      </p:cxnSp>
      <p:cxnSp>
        <p:nvCxnSpPr>
          <p:cNvPr id="255" name="Google Shape;255;p12"/>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256" name="Google Shape;256;p12"/>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12"/>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258" name="Google Shape;258;p12"/>
          <p:cNvSpPr/>
          <p:nvPr/>
        </p:nvSpPr>
        <p:spPr>
          <a:xfrm>
            <a:off x="2231800" y="1098138"/>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59" name="Google Shape;259;p12"/>
          <p:cNvSpPr/>
          <p:nvPr/>
        </p:nvSpPr>
        <p:spPr>
          <a:xfrm>
            <a:off x="2702750" y="554413"/>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0" name="Google Shape;260;p12"/>
          <p:cNvSpPr txBox="1"/>
          <p:nvPr/>
        </p:nvSpPr>
        <p:spPr>
          <a:xfrm>
            <a:off x="3117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261" name="Google Shape;261;p12"/>
          <p:cNvSpPr txBox="1"/>
          <p:nvPr/>
        </p:nvSpPr>
        <p:spPr>
          <a:xfrm>
            <a:off x="7737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262" name="Google Shape;262;p12"/>
          <p:cNvSpPr txBox="1"/>
          <p:nvPr/>
        </p:nvSpPr>
        <p:spPr>
          <a:xfrm>
            <a:off x="12717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263" name="Google Shape;263;p12"/>
          <p:cNvSpPr txBox="1"/>
          <p:nvPr/>
        </p:nvSpPr>
        <p:spPr>
          <a:xfrm>
            <a:off x="18183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Outgroup</a:t>
            </a:r>
            <a:endParaRPr b="1">
              <a:solidFill>
                <a:srgbClr val="598E9A"/>
              </a:solidFill>
            </a:endParaRPr>
          </a:p>
        </p:txBody>
      </p:sp>
      <p:sp>
        <p:nvSpPr>
          <p:cNvPr id="264" name="Google Shape;264;p12"/>
          <p:cNvSpPr txBox="1"/>
          <p:nvPr/>
        </p:nvSpPr>
        <p:spPr>
          <a:xfrm>
            <a:off x="3072050" y="1267513"/>
            <a:ext cx="4904700" cy="10989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200"/>
              </a:spcBef>
              <a:spcAft>
                <a:spcPts val="0"/>
              </a:spcAft>
              <a:buClr>
                <a:schemeClr val="dk2"/>
              </a:buClr>
              <a:buSzPts val="1800"/>
              <a:buChar char="●"/>
            </a:pPr>
            <a:r>
              <a:rPr lang="en-GB" sz="1800">
                <a:solidFill>
                  <a:schemeClr val="dk2"/>
                </a:solidFill>
              </a:rPr>
              <a:t>4 population tree: 3 ingroups, 1 outgroup</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Polymorphism in the ancestral population</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Sites where gene tree != species tree</a:t>
            </a:r>
            <a:endParaRPr sz="1800">
              <a:solidFill>
                <a:schemeClr val="dk2"/>
              </a:solidFill>
            </a:endParaRPr>
          </a:p>
        </p:txBody>
      </p:sp>
      <p:sp>
        <p:nvSpPr>
          <p:cNvPr id="265" name="Google Shape;265;p12"/>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3f67a44fbd9_0_188"/>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271" name="Google Shape;271;g3f67a44fbd9_0_188"/>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272" name="Google Shape;272;g3f67a44fbd9_0_188"/>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g3f67a44fbd9_0_188"/>
          <p:cNvSpPr txBox="1"/>
          <p:nvPr/>
        </p:nvSpPr>
        <p:spPr>
          <a:xfrm>
            <a:off x="3481575" y="65830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ancestral allele = A</a:t>
            </a:r>
            <a:endParaRPr sz="1400" b="1" i="0" u="none" strike="noStrike" cap="none">
              <a:solidFill>
                <a:srgbClr val="45818E"/>
              </a:solidFill>
              <a:latin typeface="Open Sans"/>
              <a:ea typeface="Open Sans"/>
              <a:cs typeface="Open Sans"/>
              <a:sym typeface="Open Sans"/>
            </a:endParaRPr>
          </a:p>
        </p:txBody>
      </p:sp>
      <p:sp>
        <p:nvSpPr>
          <p:cNvPr id="274" name="Google Shape;274;g3f67a44fbd9_0_188"/>
          <p:cNvSpPr txBox="1"/>
          <p:nvPr/>
        </p:nvSpPr>
        <p:spPr>
          <a:xfrm>
            <a:off x="4183000" y="1152425"/>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latin typeface="Open Sans"/>
                <a:ea typeface="Open Sans"/>
                <a:cs typeface="Open Sans"/>
                <a:sym typeface="Open Sans"/>
              </a:rPr>
              <a:t>mutation</a:t>
            </a:r>
            <a:r>
              <a:rPr lang="en-GB" sz="1400" b="1" i="0" u="none" strike="noStrike" cap="none">
                <a:solidFill>
                  <a:srgbClr val="45818E"/>
                </a:solidFill>
                <a:latin typeface="Open Sans"/>
                <a:ea typeface="Open Sans"/>
                <a:cs typeface="Open Sans"/>
                <a:sym typeface="Open Sans"/>
              </a:rPr>
              <a:t> A -&gt; B</a:t>
            </a:r>
            <a:endParaRPr sz="1400" b="1" i="0" u="none" strike="noStrike" cap="none">
              <a:solidFill>
                <a:srgbClr val="45818E"/>
              </a:solidFill>
              <a:latin typeface="Open Sans"/>
              <a:ea typeface="Open Sans"/>
              <a:cs typeface="Open Sans"/>
              <a:sym typeface="Open Sans"/>
            </a:endParaRPr>
          </a:p>
        </p:txBody>
      </p:sp>
      <p:sp>
        <p:nvSpPr>
          <p:cNvPr id="275" name="Google Shape;275;g3f67a44fbd9_0_188"/>
          <p:cNvSpPr txBox="1"/>
          <p:nvPr/>
        </p:nvSpPr>
        <p:spPr>
          <a:xfrm>
            <a:off x="4120075" y="1646550"/>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where the B alleles </a:t>
            </a:r>
            <a:r>
              <a:rPr lang="en-GB" sz="1400" b="1" i="0" u="none" strike="noStrike" cap="none">
                <a:solidFill>
                  <a:srgbClr val="FF0000"/>
                </a:solidFill>
                <a:latin typeface="Open Sans"/>
                <a:ea typeface="Open Sans"/>
                <a:cs typeface="Open Sans"/>
                <a:sym typeface="Open Sans"/>
              </a:rPr>
              <a:t>coalesce</a:t>
            </a:r>
            <a:endParaRPr sz="1400" b="1" i="0" u="none" strike="noStrike" cap="none">
              <a:solidFill>
                <a:srgbClr val="FF0000"/>
              </a:solidFill>
              <a:latin typeface="Open Sans"/>
              <a:ea typeface="Open Sans"/>
              <a:cs typeface="Open Sans"/>
              <a:sym typeface="Open Sans"/>
            </a:endParaRPr>
          </a:p>
        </p:txBody>
      </p:sp>
      <p:cxnSp>
        <p:nvCxnSpPr>
          <p:cNvPr id="276" name="Google Shape;276;g3f67a44fbd9_0_188"/>
          <p:cNvCxnSpPr/>
          <p:nvPr/>
        </p:nvCxnSpPr>
        <p:spPr>
          <a:xfrm flipH="1">
            <a:off x="3188325" y="982000"/>
            <a:ext cx="803400" cy="280500"/>
          </a:xfrm>
          <a:prstGeom prst="straightConnector1">
            <a:avLst/>
          </a:prstGeom>
          <a:noFill/>
          <a:ln w="19050" cap="flat" cmpd="sng">
            <a:solidFill>
              <a:srgbClr val="45818E"/>
            </a:solidFill>
            <a:prstDash val="solid"/>
            <a:round/>
            <a:headEnd type="none" w="sm" len="sm"/>
            <a:tailEnd type="triangle" w="med" len="med"/>
          </a:ln>
        </p:spPr>
      </p:cxnSp>
      <p:cxnSp>
        <p:nvCxnSpPr>
          <p:cNvPr id="277" name="Google Shape;277;g3f67a44fbd9_0_188"/>
          <p:cNvCxnSpPr>
            <a:stCxn id="274" idx="1"/>
          </p:cNvCxnSpPr>
          <p:nvPr/>
        </p:nvCxnSpPr>
        <p:spPr>
          <a:xfrm flipH="1">
            <a:off x="3099100" y="1352525"/>
            <a:ext cx="1083900" cy="75900"/>
          </a:xfrm>
          <a:prstGeom prst="straightConnector1">
            <a:avLst/>
          </a:prstGeom>
          <a:noFill/>
          <a:ln w="19050" cap="flat" cmpd="sng">
            <a:solidFill>
              <a:srgbClr val="45818E"/>
            </a:solidFill>
            <a:prstDash val="solid"/>
            <a:round/>
            <a:headEnd type="none" w="sm" len="sm"/>
            <a:tailEnd type="triangle" w="med" len="med"/>
          </a:ln>
        </p:spPr>
      </p:cxnSp>
      <p:cxnSp>
        <p:nvCxnSpPr>
          <p:cNvPr id="278" name="Google Shape;278;g3f67a44fbd9_0_188"/>
          <p:cNvCxnSpPr>
            <a:stCxn id="275" idx="1"/>
          </p:cNvCxnSpPr>
          <p:nvPr/>
        </p:nvCxnSpPr>
        <p:spPr>
          <a:xfrm rot="10800000">
            <a:off x="2983675" y="1704450"/>
            <a:ext cx="1136400" cy="142200"/>
          </a:xfrm>
          <a:prstGeom prst="straightConnector1">
            <a:avLst/>
          </a:prstGeom>
          <a:noFill/>
          <a:ln w="19050" cap="flat" cmpd="sng">
            <a:solidFill>
              <a:srgbClr val="45818E"/>
            </a:solidFill>
            <a:prstDash val="solid"/>
            <a:round/>
            <a:headEnd type="none" w="sm" len="sm"/>
            <a:tailEnd type="triangle" w="med" len="med"/>
          </a:ln>
        </p:spPr>
      </p:cxnSp>
      <p:cxnSp>
        <p:nvCxnSpPr>
          <p:cNvPr id="279" name="Google Shape;279;g3f67a44fbd9_0_188"/>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280" name="Google Shape;280;g3f67a44fbd9_0_188"/>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g3f67a44fbd9_0_188"/>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282" name="Google Shape;282;g3f67a44fbd9_0_188"/>
          <p:cNvSpPr/>
          <p:nvPr/>
        </p:nvSpPr>
        <p:spPr>
          <a:xfrm>
            <a:off x="2231800" y="1098138"/>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3" name="Google Shape;283;g3f67a44fbd9_0_188"/>
          <p:cNvSpPr/>
          <p:nvPr/>
        </p:nvSpPr>
        <p:spPr>
          <a:xfrm>
            <a:off x="2702750" y="554413"/>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4" name="Google Shape;284;g3f67a44fbd9_0_188"/>
          <p:cNvSpPr txBox="1"/>
          <p:nvPr/>
        </p:nvSpPr>
        <p:spPr>
          <a:xfrm>
            <a:off x="3117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285" name="Google Shape;285;g3f67a44fbd9_0_188"/>
          <p:cNvSpPr txBox="1"/>
          <p:nvPr/>
        </p:nvSpPr>
        <p:spPr>
          <a:xfrm>
            <a:off x="7737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286" name="Google Shape;286;g3f67a44fbd9_0_188"/>
          <p:cNvSpPr txBox="1"/>
          <p:nvPr/>
        </p:nvSpPr>
        <p:spPr>
          <a:xfrm>
            <a:off x="12717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287" name="Google Shape;287;g3f67a44fbd9_0_188"/>
          <p:cNvSpPr txBox="1"/>
          <p:nvPr/>
        </p:nvSpPr>
        <p:spPr>
          <a:xfrm>
            <a:off x="18183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Outgroup</a:t>
            </a:r>
            <a:endParaRPr b="1">
              <a:solidFill>
                <a:srgbClr val="598E9A"/>
              </a:solidFill>
            </a:endParaRPr>
          </a:p>
        </p:txBody>
      </p:sp>
      <p:cxnSp>
        <p:nvCxnSpPr>
          <p:cNvPr id="288" name="Google Shape;288;g3f67a44fbd9_0_188"/>
          <p:cNvCxnSpPr/>
          <p:nvPr/>
        </p:nvCxnSpPr>
        <p:spPr>
          <a:xfrm flipH="1">
            <a:off x="1271750" y="1093150"/>
            <a:ext cx="2527500" cy="224700"/>
          </a:xfrm>
          <a:prstGeom prst="straightConnector1">
            <a:avLst/>
          </a:prstGeom>
          <a:noFill/>
          <a:ln w="19050" cap="flat" cmpd="sng">
            <a:solidFill>
              <a:srgbClr val="45818E"/>
            </a:solidFill>
            <a:prstDash val="solid"/>
            <a:round/>
            <a:headEnd type="none" w="sm" len="sm"/>
            <a:tailEnd type="triangle" w="med" len="med"/>
          </a:ln>
        </p:spPr>
      </p:cxnSp>
      <p:cxnSp>
        <p:nvCxnSpPr>
          <p:cNvPr id="289" name="Google Shape;289;g3f67a44fbd9_0_188"/>
          <p:cNvCxnSpPr/>
          <p:nvPr/>
        </p:nvCxnSpPr>
        <p:spPr>
          <a:xfrm rot="10800000">
            <a:off x="1078575" y="1428425"/>
            <a:ext cx="2616000" cy="318900"/>
          </a:xfrm>
          <a:prstGeom prst="straightConnector1">
            <a:avLst/>
          </a:prstGeom>
          <a:noFill/>
          <a:ln w="19050" cap="flat" cmpd="sng">
            <a:solidFill>
              <a:srgbClr val="45818E"/>
            </a:solidFill>
            <a:prstDash val="solid"/>
            <a:round/>
            <a:headEnd type="none" w="sm" len="sm"/>
            <a:tailEnd type="triangle" w="med" len="med"/>
          </a:ln>
        </p:spPr>
      </p:cxnSp>
      <p:cxnSp>
        <p:nvCxnSpPr>
          <p:cNvPr id="290" name="Google Shape;290;g3f67a44fbd9_0_188"/>
          <p:cNvCxnSpPr/>
          <p:nvPr/>
        </p:nvCxnSpPr>
        <p:spPr>
          <a:xfrm rot="10800000">
            <a:off x="981625" y="1696800"/>
            <a:ext cx="1898100" cy="387300"/>
          </a:xfrm>
          <a:prstGeom prst="straightConnector1">
            <a:avLst/>
          </a:prstGeom>
          <a:noFill/>
          <a:ln w="19050" cap="flat" cmpd="sng">
            <a:solidFill>
              <a:srgbClr val="45818E"/>
            </a:solidFill>
            <a:prstDash val="solid"/>
            <a:round/>
            <a:headEnd type="none" w="sm" len="sm"/>
            <a:tailEnd type="triangle" w="med" len="med"/>
          </a:ln>
        </p:spPr>
      </p:cxnSp>
      <p:sp>
        <p:nvSpPr>
          <p:cNvPr id="291" name="Google Shape;291;g3f67a44fbd9_0_188"/>
          <p:cNvSpPr txBox="1"/>
          <p:nvPr/>
        </p:nvSpPr>
        <p:spPr>
          <a:xfrm>
            <a:off x="3822050" y="82985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rPr>
              <a:t>ancestral allele = A</a:t>
            </a:r>
            <a:endParaRPr sz="1400" b="1" i="0" u="none" strike="noStrike" cap="none">
              <a:solidFill>
                <a:srgbClr val="45818E"/>
              </a:solidFill>
            </a:endParaRPr>
          </a:p>
        </p:txBody>
      </p:sp>
      <p:sp>
        <p:nvSpPr>
          <p:cNvPr id="292" name="Google Shape;292;g3f67a44fbd9_0_188"/>
          <p:cNvSpPr txBox="1"/>
          <p:nvPr/>
        </p:nvSpPr>
        <p:spPr>
          <a:xfrm>
            <a:off x="3694575" y="151845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rPr>
              <a:t>mutation</a:t>
            </a:r>
            <a:r>
              <a:rPr lang="en-GB" sz="1400" b="1" i="0" u="none" strike="noStrike" cap="none">
                <a:solidFill>
                  <a:srgbClr val="45818E"/>
                </a:solidFill>
              </a:rPr>
              <a:t> A -&gt; B</a:t>
            </a:r>
            <a:endParaRPr sz="1400" b="1" i="0" u="none" strike="noStrike" cap="none">
              <a:solidFill>
                <a:srgbClr val="45818E"/>
              </a:solidFill>
            </a:endParaRPr>
          </a:p>
        </p:txBody>
      </p:sp>
      <p:sp>
        <p:nvSpPr>
          <p:cNvPr id="293" name="Google Shape;293;g3f67a44fbd9_0_188"/>
          <p:cNvSpPr txBox="1"/>
          <p:nvPr/>
        </p:nvSpPr>
        <p:spPr>
          <a:xfrm>
            <a:off x="2879725" y="1943988"/>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rPr>
              <a:t>where the B alleles </a:t>
            </a:r>
            <a:r>
              <a:rPr lang="en-GB" sz="1400" b="1" i="0" u="none" strike="noStrike" cap="none">
                <a:solidFill>
                  <a:srgbClr val="FF0000"/>
                </a:solidFill>
              </a:rPr>
              <a:t>coalesce</a:t>
            </a:r>
            <a:endParaRPr sz="1400" b="1" i="0" u="none" strike="noStrike" cap="none">
              <a:solidFill>
                <a:srgbClr val="FF0000"/>
              </a:solidFill>
            </a:endParaRPr>
          </a:p>
        </p:txBody>
      </p:sp>
      <p:sp>
        <p:nvSpPr>
          <p:cNvPr id="294" name="Google Shape;294;g3f67a44fbd9_0_188"/>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f67a44fbd9_0_215"/>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300" name="Google Shape;300;g3f67a44fbd9_0_215"/>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301" name="Google Shape;301;g3f67a44fbd9_0_215"/>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g3f67a44fbd9_0_215"/>
          <p:cNvSpPr txBox="1"/>
          <p:nvPr/>
        </p:nvSpPr>
        <p:spPr>
          <a:xfrm>
            <a:off x="3481575" y="65830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ancestral allele = A</a:t>
            </a:r>
            <a:endParaRPr sz="1400" b="1" i="0" u="none" strike="noStrike" cap="none">
              <a:solidFill>
                <a:srgbClr val="45818E"/>
              </a:solidFill>
              <a:latin typeface="Open Sans"/>
              <a:ea typeface="Open Sans"/>
              <a:cs typeface="Open Sans"/>
              <a:sym typeface="Open Sans"/>
            </a:endParaRPr>
          </a:p>
        </p:txBody>
      </p:sp>
      <p:sp>
        <p:nvSpPr>
          <p:cNvPr id="303" name="Google Shape;303;g3f67a44fbd9_0_215"/>
          <p:cNvSpPr txBox="1"/>
          <p:nvPr/>
        </p:nvSpPr>
        <p:spPr>
          <a:xfrm>
            <a:off x="4183000" y="1152425"/>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latin typeface="Open Sans"/>
                <a:ea typeface="Open Sans"/>
                <a:cs typeface="Open Sans"/>
                <a:sym typeface="Open Sans"/>
              </a:rPr>
              <a:t>mutation</a:t>
            </a:r>
            <a:r>
              <a:rPr lang="en-GB" sz="1400" b="1" i="0" u="none" strike="noStrike" cap="none">
                <a:solidFill>
                  <a:srgbClr val="45818E"/>
                </a:solidFill>
                <a:latin typeface="Open Sans"/>
                <a:ea typeface="Open Sans"/>
                <a:cs typeface="Open Sans"/>
                <a:sym typeface="Open Sans"/>
              </a:rPr>
              <a:t> A -&gt; B</a:t>
            </a:r>
            <a:endParaRPr sz="1400" b="1" i="0" u="none" strike="noStrike" cap="none">
              <a:solidFill>
                <a:srgbClr val="45818E"/>
              </a:solidFill>
              <a:latin typeface="Open Sans"/>
              <a:ea typeface="Open Sans"/>
              <a:cs typeface="Open Sans"/>
              <a:sym typeface="Open Sans"/>
            </a:endParaRPr>
          </a:p>
        </p:txBody>
      </p:sp>
      <p:sp>
        <p:nvSpPr>
          <p:cNvPr id="304" name="Google Shape;304;g3f67a44fbd9_0_215"/>
          <p:cNvSpPr txBox="1"/>
          <p:nvPr/>
        </p:nvSpPr>
        <p:spPr>
          <a:xfrm>
            <a:off x="4120075" y="1646550"/>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where the B alleles </a:t>
            </a:r>
            <a:r>
              <a:rPr lang="en-GB" sz="1400" b="1" i="0" u="none" strike="noStrike" cap="none">
                <a:solidFill>
                  <a:srgbClr val="FF0000"/>
                </a:solidFill>
                <a:latin typeface="Open Sans"/>
                <a:ea typeface="Open Sans"/>
                <a:cs typeface="Open Sans"/>
                <a:sym typeface="Open Sans"/>
              </a:rPr>
              <a:t>coalesce</a:t>
            </a:r>
            <a:endParaRPr sz="1400" b="1" i="0" u="none" strike="noStrike" cap="none">
              <a:solidFill>
                <a:srgbClr val="FF0000"/>
              </a:solidFill>
              <a:latin typeface="Open Sans"/>
              <a:ea typeface="Open Sans"/>
              <a:cs typeface="Open Sans"/>
              <a:sym typeface="Open Sans"/>
            </a:endParaRPr>
          </a:p>
        </p:txBody>
      </p:sp>
      <p:cxnSp>
        <p:nvCxnSpPr>
          <p:cNvPr id="305" name="Google Shape;305;g3f67a44fbd9_0_215"/>
          <p:cNvCxnSpPr/>
          <p:nvPr/>
        </p:nvCxnSpPr>
        <p:spPr>
          <a:xfrm flipH="1">
            <a:off x="3188325" y="982000"/>
            <a:ext cx="803400" cy="280500"/>
          </a:xfrm>
          <a:prstGeom prst="straightConnector1">
            <a:avLst/>
          </a:prstGeom>
          <a:noFill/>
          <a:ln w="19050" cap="flat" cmpd="sng">
            <a:solidFill>
              <a:srgbClr val="45818E"/>
            </a:solidFill>
            <a:prstDash val="solid"/>
            <a:round/>
            <a:headEnd type="none" w="sm" len="sm"/>
            <a:tailEnd type="triangle" w="med" len="med"/>
          </a:ln>
        </p:spPr>
      </p:cxnSp>
      <p:cxnSp>
        <p:nvCxnSpPr>
          <p:cNvPr id="306" name="Google Shape;306;g3f67a44fbd9_0_215"/>
          <p:cNvCxnSpPr>
            <a:stCxn id="303" idx="1"/>
          </p:cNvCxnSpPr>
          <p:nvPr/>
        </p:nvCxnSpPr>
        <p:spPr>
          <a:xfrm flipH="1">
            <a:off x="3099100" y="1352525"/>
            <a:ext cx="1083900" cy="75900"/>
          </a:xfrm>
          <a:prstGeom prst="straightConnector1">
            <a:avLst/>
          </a:prstGeom>
          <a:noFill/>
          <a:ln w="19050" cap="flat" cmpd="sng">
            <a:solidFill>
              <a:srgbClr val="45818E"/>
            </a:solidFill>
            <a:prstDash val="solid"/>
            <a:round/>
            <a:headEnd type="none" w="sm" len="sm"/>
            <a:tailEnd type="triangle" w="med" len="med"/>
          </a:ln>
        </p:spPr>
      </p:cxnSp>
      <p:cxnSp>
        <p:nvCxnSpPr>
          <p:cNvPr id="307" name="Google Shape;307;g3f67a44fbd9_0_215"/>
          <p:cNvCxnSpPr>
            <a:stCxn id="304" idx="1"/>
          </p:cNvCxnSpPr>
          <p:nvPr/>
        </p:nvCxnSpPr>
        <p:spPr>
          <a:xfrm rot="10800000">
            <a:off x="2983675" y="1704450"/>
            <a:ext cx="1136400" cy="142200"/>
          </a:xfrm>
          <a:prstGeom prst="straightConnector1">
            <a:avLst/>
          </a:prstGeom>
          <a:noFill/>
          <a:ln w="19050" cap="flat" cmpd="sng">
            <a:solidFill>
              <a:srgbClr val="45818E"/>
            </a:solidFill>
            <a:prstDash val="solid"/>
            <a:round/>
            <a:headEnd type="none" w="sm" len="sm"/>
            <a:tailEnd type="triangle" w="med" len="med"/>
          </a:ln>
        </p:spPr>
      </p:cxnSp>
      <p:cxnSp>
        <p:nvCxnSpPr>
          <p:cNvPr id="308" name="Google Shape;308;g3f67a44fbd9_0_215"/>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309" name="Google Shape;309;g3f67a44fbd9_0_215"/>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g3f67a44fbd9_0_215"/>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311" name="Google Shape;311;g3f67a44fbd9_0_215"/>
          <p:cNvSpPr/>
          <p:nvPr/>
        </p:nvSpPr>
        <p:spPr>
          <a:xfrm>
            <a:off x="2231800" y="1098138"/>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2" name="Google Shape;312;g3f67a44fbd9_0_215"/>
          <p:cNvSpPr/>
          <p:nvPr/>
        </p:nvSpPr>
        <p:spPr>
          <a:xfrm>
            <a:off x="2702750" y="554413"/>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3" name="Google Shape;313;g3f67a44fbd9_0_215"/>
          <p:cNvSpPr txBox="1"/>
          <p:nvPr/>
        </p:nvSpPr>
        <p:spPr>
          <a:xfrm>
            <a:off x="3117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314" name="Google Shape;314;g3f67a44fbd9_0_215"/>
          <p:cNvSpPr txBox="1"/>
          <p:nvPr/>
        </p:nvSpPr>
        <p:spPr>
          <a:xfrm>
            <a:off x="7737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315" name="Google Shape;315;g3f67a44fbd9_0_215"/>
          <p:cNvSpPr txBox="1"/>
          <p:nvPr/>
        </p:nvSpPr>
        <p:spPr>
          <a:xfrm>
            <a:off x="12717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316" name="Google Shape;316;g3f67a44fbd9_0_215"/>
          <p:cNvSpPr txBox="1"/>
          <p:nvPr/>
        </p:nvSpPr>
        <p:spPr>
          <a:xfrm>
            <a:off x="18183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Outgroup</a:t>
            </a:r>
            <a:endParaRPr b="1">
              <a:solidFill>
                <a:srgbClr val="598E9A"/>
              </a:solidFill>
            </a:endParaRPr>
          </a:p>
        </p:txBody>
      </p:sp>
      <p:cxnSp>
        <p:nvCxnSpPr>
          <p:cNvPr id="317" name="Google Shape;317;g3f67a44fbd9_0_215"/>
          <p:cNvCxnSpPr/>
          <p:nvPr/>
        </p:nvCxnSpPr>
        <p:spPr>
          <a:xfrm flipH="1">
            <a:off x="1271750" y="1093150"/>
            <a:ext cx="2527500" cy="224700"/>
          </a:xfrm>
          <a:prstGeom prst="straightConnector1">
            <a:avLst/>
          </a:prstGeom>
          <a:noFill/>
          <a:ln w="19050" cap="flat" cmpd="sng">
            <a:solidFill>
              <a:srgbClr val="45818E"/>
            </a:solidFill>
            <a:prstDash val="solid"/>
            <a:round/>
            <a:headEnd type="none" w="sm" len="sm"/>
            <a:tailEnd type="triangle" w="med" len="med"/>
          </a:ln>
        </p:spPr>
      </p:cxnSp>
      <p:cxnSp>
        <p:nvCxnSpPr>
          <p:cNvPr id="318" name="Google Shape;318;g3f67a44fbd9_0_215"/>
          <p:cNvCxnSpPr/>
          <p:nvPr/>
        </p:nvCxnSpPr>
        <p:spPr>
          <a:xfrm rot="10800000">
            <a:off x="1078575" y="1428425"/>
            <a:ext cx="2616000" cy="318900"/>
          </a:xfrm>
          <a:prstGeom prst="straightConnector1">
            <a:avLst/>
          </a:prstGeom>
          <a:noFill/>
          <a:ln w="19050" cap="flat" cmpd="sng">
            <a:solidFill>
              <a:srgbClr val="45818E"/>
            </a:solidFill>
            <a:prstDash val="solid"/>
            <a:round/>
            <a:headEnd type="none" w="sm" len="sm"/>
            <a:tailEnd type="triangle" w="med" len="med"/>
          </a:ln>
        </p:spPr>
      </p:cxnSp>
      <p:cxnSp>
        <p:nvCxnSpPr>
          <p:cNvPr id="319" name="Google Shape;319;g3f67a44fbd9_0_215"/>
          <p:cNvCxnSpPr/>
          <p:nvPr/>
        </p:nvCxnSpPr>
        <p:spPr>
          <a:xfrm rot="10800000">
            <a:off x="981625" y="1696800"/>
            <a:ext cx="1898100" cy="387300"/>
          </a:xfrm>
          <a:prstGeom prst="straightConnector1">
            <a:avLst/>
          </a:prstGeom>
          <a:noFill/>
          <a:ln w="19050" cap="flat" cmpd="sng">
            <a:solidFill>
              <a:srgbClr val="45818E"/>
            </a:solidFill>
            <a:prstDash val="solid"/>
            <a:round/>
            <a:headEnd type="none" w="sm" len="sm"/>
            <a:tailEnd type="triangle" w="med" len="med"/>
          </a:ln>
        </p:spPr>
      </p:cxnSp>
      <p:sp>
        <p:nvSpPr>
          <p:cNvPr id="320" name="Google Shape;320;g3f67a44fbd9_0_215"/>
          <p:cNvSpPr txBox="1"/>
          <p:nvPr/>
        </p:nvSpPr>
        <p:spPr>
          <a:xfrm>
            <a:off x="3822050" y="82985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rPr>
              <a:t>ancestral allele = A</a:t>
            </a:r>
            <a:endParaRPr sz="1400" b="1" i="0" u="none" strike="noStrike" cap="none">
              <a:solidFill>
                <a:srgbClr val="45818E"/>
              </a:solidFill>
            </a:endParaRPr>
          </a:p>
        </p:txBody>
      </p:sp>
      <p:sp>
        <p:nvSpPr>
          <p:cNvPr id="321" name="Google Shape;321;g3f67a44fbd9_0_215"/>
          <p:cNvSpPr txBox="1"/>
          <p:nvPr/>
        </p:nvSpPr>
        <p:spPr>
          <a:xfrm>
            <a:off x="3694575" y="151845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rPr>
              <a:t>mutation</a:t>
            </a:r>
            <a:r>
              <a:rPr lang="en-GB" sz="1400" b="1" i="0" u="none" strike="noStrike" cap="none">
                <a:solidFill>
                  <a:srgbClr val="45818E"/>
                </a:solidFill>
              </a:rPr>
              <a:t> A -&gt; B</a:t>
            </a:r>
            <a:endParaRPr sz="1400" b="1" i="0" u="none" strike="noStrike" cap="none">
              <a:solidFill>
                <a:srgbClr val="45818E"/>
              </a:solidFill>
            </a:endParaRPr>
          </a:p>
        </p:txBody>
      </p:sp>
      <p:sp>
        <p:nvSpPr>
          <p:cNvPr id="322" name="Google Shape;322;g3f67a44fbd9_0_215"/>
          <p:cNvSpPr txBox="1"/>
          <p:nvPr/>
        </p:nvSpPr>
        <p:spPr>
          <a:xfrm>
            <a:off x="2879725" y="1943988"/>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rPr>
              <a:t>where the B alleles </a:t>
            </a:r>
            <a:r>
              <a:rPr lang="en-GB" sz="1400" b="1" i="0" u="none" strike="noStrike" cap="none">
                <a:solidFill>
                  <a:srgbClr val="FF0000"/>
                </a:solidFill>
              </a:rPr>
              <a:t>coalesce</a:t>
            </a:r>
            <a:endParaRPr sz="1400" b="1" i="0" u="none" strike="noStrike" cap="none">
              <a:solidFill>
                <a:srgbClr val="FF0000"/>
              </a:solidFill>
            </a:endParaRPr>
          </a:p>
        </p:txBody>
      </p:sp>
      <p:sp>
        <p:nvSpPr>
          <p:cNvPr id="323" name="Google Shape;323;g3f67a44fbd9_0_215"/>
          <p:cNvSpPr txBox="1"/>
          <p:nvPr/>
        </p:nvSpPr>
        <p:spPr>
          <a:xfrm>
            <a:off x="2983675" y="236002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2A2A2A"/>
                </a:solidFill>
              </a:rPr>
              <a:t>Here P2 and P3 coalesce first</a:t>
            </a:r>
            <a:endParaRPr b="1">
              <a:solidFill>
                <a:srgbClr val="2A2A2A"/>
              </a:solidFill>
            </a:endParaRPr>
          </a:p>
        </p:txBody>
      </p:sp>
      <p:sp>
        <p:nvSpPr>
          <p:cNvPr id="324" name="Google Shape;324;g3f67a44fbd9_0_215"/>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3f67a44fbd9_0_166"/>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330" name="Google Shape;330;g3f67a44fbd9_0_166"/>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331" name="Google Shape;331;g3f67a44fbd9_0_166"/>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32" name="Google Shape;332;g3f67a44fbd9_0_166"/>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333" name="Google Shape;333;g3f67a44fbd9_0_166"/>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g3f67a44fbd9_0_166"/>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pic>
        <p:nvPicPr>
          <p:cNvPr id="335" name="Google Shape;335;g3f67a44fbd9_0_166"/>
          <p:cNvPicPr preferRelativeResize="0"/>
          <p:nvPr/>
        </p:nvPicPr>
        <p:blipFill>
          <a:blip r:embed="rId4">
            <a:alphaModFix/>
          </a:blip>
          <a:stretch>
            <a:fillRect/>
          </a:stretch>
        </p:blipFill>
        <p:spPr>
          <a:xfrm>
            <a:off x="5282800" y="3206713"/>
            <a:ext cx="2114550" cy="504825"/>
          </a:xfrm>
          <a:prstGeom prst="rect">
            <a:avLst/>
          </a:prstGeom>
          <a:noFill/>
          <a:ln>
            <a:noFill/>
          </a:ln>
        </p:spPr>
      </p:pic>
      <p:sp>
        <p:nvSpPr>
          <p:cNvPr id="336" name="Google Shape;336;g3f67a44fbd9_0_166"/>
          <p:cNvSpPr txBox="1"/>
          <p:nvPr/>
        </p:nvSpPr>
        <p:spPr>
          <a:xfrm>
            <a:off x="450625" y="3517675"/>
            <a:ext cx="1432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2A2A2A"/>
                </a:solidFill>
              </a:rPr>
              <a:t>P2 and P3 coalesce first</a:t>
            </a:r>
            <a:endParaRPr b="1">
              <a:solidFill>
                <a:srgbClr val="2A2A2A"/>
              </a:solidFill>
            </a:endParaRPr>
          </a:p>
        </p:txBody>
      </p:sp>
      <p:sp>
        <p:nvSpPr>
          <p:cNvPr id="337" name="Google Shape;337;g3f67a44fbd9_0_166"/>
          <p:cNvSpPr txBox="1"/>
          <p:nvPr/>
        </p:nvSpPr>
        <p:spPr>
          <a:xfrm>
            <a:off x="2491300" y="3517675"/>
            <a:ext cx="1432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2A2A2A"/>
                </a:solidFill>
              </a:rPr>
              <a:t>P1 and P3 coalesce first</a:t>
            </a:r>
            <a:endParaRPr b="1">
              <a:solidFill>
                <a:srgbClr val="2A2A2A"/>
              </a:solidFill>
            </a:endParaRPr>
          </a:p>
        </p:txBody>
      </p:sp>
      <p:sp>
        <p:nvSpPr>
          <p:cNvPr id="338" name="Google Shape;338;g3f67a44fbd9_0_166"/>
          <p:cNvSpPr txBox="1"/>
          <p:nvPr/>
        </p:nvSpPr>
        <p:spPr>
          <a:xfrm>
            <a:off x="2091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339" name="Google Shape;339;g3f67a44fbd9_0_166"/>
          <p:cNvSpPr txBox="1"/>
          <p:nvPr/>
        </p:nvSpPr>
        <p:spPr>
          <a:xfrm>
            <a:off x="6711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340" name="Google Shape;340;g3f67a44fbd9_0_166"/>
          <p:cNvSpPr txBox="1"/>
          <p:nvPr/>
        </p:nvSpPr>
        <p:spPr>
          <a:xfrm>
            <a:off x="116917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341" name="Google Shape;341;g3f67a44fbd9_0_166"/>
          <p:cNvSpPr txBox="1"/>
          <p:nvPr/>
        </p:nvSpPr>
        <p:spPr>
          <a:xfrm>
            <a:off x="1715800"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342" name="Google Shape;342;g3f67a44fbd9_0_166"/>
          <p:cNvSpPr txBox="1"/>
          <p:nvPr/>
        </p:nvSpPr>
        <p:spPr>
          <a:xfrm>
            <a:off x="22318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343" name="Google Shape;343;g3f67a44fbd9_0_166"/>
          <p:cNvSpPr txBox="1"/>
          <p:nvPr/>
        </p:nvSpPr>
        <p:spPr>
          <a:xfrm>
            <a:off x="26938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344" name="Google Shape;344;g3f67a44fbd9_0_166"/>
          <p:cNvSpPr txBox="1"/>
          <p:nvPr/>
        </p:nvSpPr>
        <p:spPr>
          <a:xfrm>
            <a:off x="31918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345" name="Google Shape;345;g3f67a44fbd9_0_166"/>
          <p:cNvSpPr txBox="1"/>
          <p:nvPr/>
        </p:nvSpPr>
        <p:spPr>
          <a:xfrm>
            <a:off x="37384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346" name="Google Shape;346;g3f67a44fbd9_0_166"/>
          <p:cNvSpPr txBox="1"/>
          <p:nvPr/>
        </p:nvSpPr>
        <p:spPr>
          <a:xfrm>
            <a:off x="4120075" y="1366350"/>
            <a:ext cx="4815000" cy="1048200"/>
          </a:xfrm>
          <a:prstGeom prst="rect">
            <a:avLst/>
          </a:prstGeom>
          <a:noFill/>
          <a:ln>
            <a:noFill/>
          </a:ln>
        </p:spPr>
        <p:txBody>
          <a:bodyPr spcFirstLastPara="1" wrap="square" lIns="91425" tIns="91425" rIns="91425" bIns="91425" anchor="t" anchorCtr="0">
            <a:spAutoFit/>
          </a:bodyPr>
          <a:lstStyle/>
          <a:p>
            <a:pPr marL="457200" lvl="0" indent="-336550" algn="l" rtl="0">
              <a:lnSpc>
                <a:spcPct val="115000"/>
              </a:lnSpc>
              <a:spcBef>
                <a:spcPts val="0"/>
              </a:spcBef>
              <a:spcAft>
                <a:spcPts val="0"/>
              </a:spcAft>
              <a:buSzPts val="1700"/>
              <a:buChar char="●"/>
            </a:pPr>
            <a:r>
              <a:rPr lang="en-GB" sz="1700"/>
              <a:t>Count number of </a:t>
            </a:r>
            <a:r>
              <a:rPr lang="en-GB" sz="1700" b="1"/>
              <a:t>ABBA sites </a:t>
            </a:r>
            <a:r>
              <a:rPr lang="en-GB" sz="1700"/>
              <a:t>in genome</a:t>
            </a:r>
            <a:endParaRPr sz="1700"/>
          </a:p>
          <a:p>
            <a:pPr marL="457200" lvl="0" indent="-336550" algn="l" rtl="0">
              <a:lnSpc>
                <a:spcPct val="115000"/>
              </a:lnSpc>
              <a:spcBef>
                <a:spcPts val="0"/>
              </a:spcBef>
              <a:spcAft>
                <a:spcPts val="0"/>
              </a:spcAft>
              <a:buSzPts val="1700"/>
              <a:buChar char="●"/>
            </a:pPr>
            <a:r>
              <a:rPr lang="en-GB" sz="1700"/>
              <a:t>Count number of </a:t>
            </a:r>
            <a:r>
              <a:rPr lang="en-GB" sz="1700" b="1"/>
              <a:t>BABA sites </a:t>
            </a:r>
            <a:r>
              <a:rPr lang="en-GB" sz="1700"/>
              <a:t>in genome</a:t>
            </a:r>
            <a:endParaRPr sz="1700"/>
          </a:p>
          <a:p>
            <a:pPr marL="457200" lvl="0" indent="-336550" algn="l" rtl="0">
              <a:lnSpc>
                <a:spcPct val="115000"/>
              </a:lnSpc>
              <a:spcBef>
                <a:spcPts val="0"/>
              </a:spcBef>
              <a:spcAft>
                <a:spcPts val="0"/>
              </a:spcAft>
              <a:buSzPts val="1700"/>
              <a:buChar char="●"/>
            </a:pPr>
            <a:r>
              <a:rPr lang="en-GB" sz="1700"/>
              <a:t>Calculate </a:t>
            </a:r>
            <a:r>
              <a:rPr lang="en-GB" sz="1700" b="1"/>
              <a:t>D statistic </a:t>
            </a:r>
            <a:endParaRPr sz="1700" b="1"/>
          </a:p>
        </p:txBody>
      </p:sp>
      <p:sp>
        <p:nvSpPr>
          <p:cNvPr id="347" name="Google Shape;347;g3f67a44fbd9_0_166"/>
          <p:cNvSpPr/>
          <p:nvPr/>
        </p:nvSpPr>
        <p:spPr>
          <a:xfrm>
            <a:off x="5046925" y="3025675"/>
            <a:ext cx="2675700" cy="997500"/>
          </a:xfrm>
          <a:prstGeom prst="roundRect">
            <a:avLst>
              <a:gd name="adj" fmla="val 0"/>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8" name="Google Shape;348;g3f67a44fbd9_0_166"/>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9" name="Google Shape;349;g3f67a44fbd9_0_166"/>
          <p:cNvSpPr/>
          <p:nvPr/>
        </p:nvSpPr>
        <p:spPr>
          <a:xfrm>
            <a:off x="4165550" y="1254675"/>
            <a:ext cx="4815000" cy="331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0" name="Google Shape;350;g3f67a44fbd9_0_166"/>
          <p:cNvSpPr/>
          <p:nvPr/>
        </p:nvSpPr>
        <p:spPr>
          <a:xfrm>
            <a:off x="4025918" y="1058500"/>
            <a:ext cx="267000" cy="23061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1" name="Google Shape;351;g3f67a44fbd9_0_166"/>
          <p:cNvSpPr txBox="1"/>
          <p:nvPr/>
        </p:nvSpPr>
        <p:spPr>
          <a:xfrm>
            <a:off x="4292925" y="1470825"/>
            <a:ext cx="4904700" cy="14175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200"/>
              </a:spcBef>
              <a:spcAft>
                <a:spcPts val="0"/>
              </a:spcAft>
              <a:buClr>
                <a:schemeClr val="dk2"/>
              </a:buClr>
              <a:buSzPts val="1800"/>
              <a:buChar char="●"/>
            </a:pPr>
            <a:r>
              <a:rPr lang="en-GB" sz="1800">
                <a:solidFill>
                  <a:schemeClr val="dk2"/>
                </a:solidFill>
              </a:rPr>
              <a:t>4 population tree: 3 ingroups, 1 outgroup</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Polymorphism in the ancestral population</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Gene tree != species tree</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Can generate ABBA or BABA sites</a:t>
            </a:r>
            <a:endParaRPr sz="1800">
              <a:solidFill>
                <a:schemeClr val="dk2"/>
              </a:solidFill>
            </a:endParaRPr>
          </a:p>
        </p:txBody>
      </p:sp>
      <p:sp>
        <p:nvSpPr>
          <p:cNvPr id="352" name="Google Shape;352;g3f67a44fbd9_0_166"/>
          <p:cNvSpPr/>
          <p:nvPr/>
        </p:nvSpPr>
        <p:spPr>
          <a:xfrm>
            <a:off x="2396475" y="3517675"/>
            <a:ext cx="1527000" cy="7074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3f67a44fbd9_0_300"/>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358" name="Google Shape;358;g3f67a44fbd9_0_300"/>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359" name="Google Shape;359;g3f67a44fbd9_0_300"/>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60" name="Google Shape;360;g3f67a44fbd9_0_300"/>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361" name="Google Shape;361;g3f67a44fbd9_0_300"/>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g3f67a44fbd9_0_300"/>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363" name="Google Shape;363;g3f67a44fbd9_0_300"/>
          <p:cNvSpPr txBox="1"/>
          <p:nvPr/>
        </p:nvSpPr>
        <p:spPr>
          <a:xfrm>
            <a:off x="450625" y="3517675"/>
            <a:ext cx="1432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2A2A2A"/>
                </a:solidFill>
              </a:rPr>
              <a:t>P2 and P3 coalesce first</a:t>
            </a:r>
            <a:endParaRPr b="1">
              <a:solidFill>
                <a:srgbClr val="2A2A2A"/>
              </a:solidFill>
            </a:endParaRPr>
          </a:p>
        </p:txBody>
      </p:sp>
      <p:sp>
        <p:nvSpPr>
          <p:cNvPr id="364" name="Google Shape;364;g3f67a44fbd9_0_300"/>
          <p:cNvSpPr txBox="1"/>
          <p:nvPr/>
        </p:nvSpPr>
        <p:spPr>
          <a:xfrm>
            <a:off x="2491300" y="3517675"/>
            <a:ext cx="1432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2A2A2A"/>
                </a:solidFill>
              </a:rPr>
              <a:t>P1 and P3 coalesce first</a:t>
            </a:r>
            <a:endParaRPr b="1">
              <a:solidFill>
                <a:srgbClr val="2A2A2A"/>
              </a:solidFill>
            </a:endParaRPr>
          </a:p>
        </p:txBody>
      </p:sp>
      <p:sp>
        <p:nvSpPr>
          <p:cNvPr id="365" name="Google Shape;365;g3f67a44fbd9_0_300"/>
          <p:cNvSpPr txBox="1"/>
          <p:nvPr/>
        </p:nvSpPr>
        <p:spPr>
          <a:xfrm>
            <a:off x="2091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366" name="Google Shape;366;g3f67a44fbd9_0_300"/>
          <p:cNvSpPr txBox="1"/>
          <p:nvPr/>
        </p:nvSpPr>
        <p:spPr>
          <a:xfrm>
            <a:off x="6711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367" name="Google Shape;367;g3f67a44fbd9_0_300"/>
          <p:cNvSpPr txBox="1"/>
          <p:nvPr/>
        </p:nvSpPr>
        <p:spPr>
          <a:xfrm>
            <a:off x="116917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368" name="Google Shape;368;g3f67a44fbd9_0_300"/>
          <p:cNvSpPr txBox="1"/>
          <p:nvPr/>
        </p:nvSpPr>
        <p:spPr>
          <a:xfrm>
            <a:off x="1715800"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369" name="Google Shape;369;g3f67a44fbd9_0_300"/>
          <p:cNvSpPr txBox="1"/>
          <p:nvPr/>
        </p:nvSpPr>
        <p:spPr>
          <a:xfrm>
            <a:off x="22318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370" name="Google Shape;370;g3f67a44fbd9_0_300"/>
          <p:cNvSpPr txBox="1"/>
          <p:nvPr/>
        </p:nvSpPr>
        <p:spPr>
          <a:xfrm>
            <a:off x="26938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371" name="Google Shape;371;g3f67a44fbd9_0_300"/>
          <p:cNvSpPr txBox="1"/>
          <p:nvPr/>
        </p:nvSpPr>
        <p:spPr>
          <a:xfrm>
            <a:off x="31918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372" name="Google Shape;372;g3f67a44fbd9_0_300"/>
          <p:cNvSpPr txBox="1"/>
          <p:nvPr/>
        </p:nvSpPr>
        <p:spPr>
          <a:xfrm>
            <a:off x="37384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373" name="Google Shape;373;g3f67a44fbd9_0_300"/>
          <p:cNvSpPr txBox="1"/>
          <p:nvPr/>
        </p:nvSpPr>
        <p:spPr>
          <a:xfrm>
            <a:off x="4120075" y="1366350"/>
            <a:ext cx="4815000" cy="1048200"/>
          </a:xfrm>
          <a:prstGeom prst="rect">
            <a:avLst/>
          </a:prstGeom>
          <a:noFill/>
          <a:ln>
            <a:noFill/>
          </a:ln>
        </p:spPr>
        <p:txBody>
          <a:bodyPr spcFirstLastPara="1" wrap="square" lIns="91425" tIns="91425" rIns="91425" bIns="91425" anchor="t" anchorCtr="0">
            <a:spAutoFit/>
          </a:bodyPr>
          <a:lstStyle/>
          <a:p>
            <a:pPr marL="457200" lvl="0" indent="-336550" algn="l" rtl="0">
              <a:lnSpc>
                <a:spcPct val="115000"/>
              </a:lnSpc>
              <a:spcBef>
                <a:spcPts val="0"/>
              </a:spcBef>
              <a:spcAft>
                <a:spcPts val="0"/>
              </a:spcAft>
              <a:buSzPts val="1700"/>
              <a:buChar char="●"/>
            </a:pPr>
            <a:r>
              <a:rPr lang="en-GB" sz="1700"/>
              <a:t>Count number of </a:t>
            </a:r>
            <a:r>
              <a:rPr lang="en-GB" sz="1700" b="1"/>
              <a:t>ABBA sites </a:t>
            </a:r>
            <a:r>
              <a:rPr lang="en-GB" sz="1700"/>
              <a:t>in genome</a:t>
            </a:r>
            <a:endParaRPr sz="1700"/>
          </a:p>
          <a:p>
            <a:pPr marL="457200" lvl="0" indent="-336550" algn="l" rtl="0">
              <a:lnSpc>
                <a:spcPct val="115000"/>
              </a:lnSpc>
              <a:spcBef>
                <a:spcPts val="0"/>
              </a:spcBef>
              <a:spcAft>
                <a:spcPts val="0"/>
              </a:spcAft>
              <a:buSzPts val="1700"/>
              <a:buChar char="●"/>
            </a:pPr>
            <a:r>
              <a:rPr lang="en-GB" sz="1700"/>
              <a:t>Count number of </a:t>
            </a:r>
            <a:r>
              <a:rPr lang="en-GB" sz="1700" b="1"/>
              <a:t>BABA sites </a:t>
            </a:r>
            <a:r>
              <a:rPr lang="en-GB" sz="1700"/>
              <a:t>in genome</a:t>
            </a:r>
            <a:endParaRPr sz="1700"/>
          </a:p>
          <a:p>
            <a:pPr marL="457200" lvl="0" indent="-336550" algn="l" rtl="0">
              <a:lnSpc>
                <a:spcPct val="115000"/>
              </a:lnSpc>
              <a:spcBef>
                <a:spcPts val="0"/>
              </a:spcBef>
              <a:spcAft>
                <a:spcPts val="0"/>
              </a:spcAft>
              <a:buSzPts val="1700"/>
              <a:buChar char="●"/>
            </a:pPr>
            <a:r>
              <a:rPr lang="en-GB" sz="1700"/>
              <a:t>Calculate </a:t>
            </a:r>
            <a:r>
              <a:rPr lang="en-GB" sz="1700" b="1"/>
              <a:t>D statistic </a:t>
            </a:r>
            <a:endParaRPr sz="1700" b="1"/>
          </a:p>
        </p:txBody>
      </p:sp>
      <p:sp>
        <p:nvSpPr>
          <p:cNvPr id="374" name="Google Shape;374;g3f67a44fbd9_0_300"/>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375" name="Google Shape;375;g3f67a44fbd9_0_300" title="Screenshot 2026-08-07 at 11.07.13.png"/>
          <p:cNvPicPr preferRelativeResize="0"/>
          <p:nvPr/>
        </p:nvPicPr>
        <p:blipFill>
          <a:blip r:embed="rId4">
            <a:alphaModFix/>
          </a:blip>
          <a:stretch>
            <a:fillRect/>
          </a:stretch>
        </p:blipFill>
        <p:spPr>
          <a:xfrm>
            <a:off x="4531975" y="3166725"/>
            <a:ext cx="3305454" cy="966550"/>
          </a:xfrm>
          <a:prstGeom prst="rect">
            <a:avLst/>
          </a:prstGeom>
          <a:noFill/>
          <a:ln>
            <a:noFill/>
          </a:ln>
        </p:spPr>
      </p:pic>
      <p:sp>
        <p:nvSpPr>
          <p:cNvPr id="376" name="Google Shape;376;g3f67a44fbd9_0_300"/>
          <p:cNvSpPr/>
          <p:nvPr/>
        </p:nvSpPr>
        <p:spPr>
          <a:xfrm>
            <a:off x="4667525" y="3073500"/>
            <a:ext cx="3169800" cy="1177800"/>
          </a:xfrm>
          <a:prstGeom prst="roundRect">
            <a:avLst>
              <a:gd name="adj" fmla="val 0"/>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g3f67a44fbd9_0_252"/>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382" name="Google Shape;382;g3f67a44fbd9_0_252"/>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383" name="Google Shape;383;g3f67a44fbd9_0_252"/>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84" name="Google Shape;384;g3f67a44fbd9_0_252"/>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385" name="Google Shape;385;g3f67a44fbd9_0_252"/>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g3f67a44fbd9_0_252"/>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387" name="Google Shape;387;g3f67a44fbd9_0_252"/>
          <p:cNvSpPr txBox="1"/>
          <p:nvPr/>
        </p:nvSpPr>
        <p:spPr>
          <a:xfrm>
            <a:off x="4373500" y="1809288"/>
            <a:ext cx="31761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a:t>=&gt; D = 0</a:t>
            </a:r>
            <a:endParaRPr sz="1900" b="1"/>
          </a:p>
        </p:txBody>
      </p:sp>
      <p:sp>
        <p:nvSpPr>
          <p:cNvPr id="388" name="Google Shape;388;g3f67a44fbd9_0_252"/>
          <p:cNvSpPr txBox="1"/>
          <p:nvPr/>
        </p:nvSpPr>
        <p:spPr>
          <a:xfrm>
            <a:off x="1967188" y="1819650"/>
            <a:ext cx="497400" cy="538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2300" b="1" i="0" u="none" strike="noStrike" cap="none">
                <a:solidFill>
                  <a:srgbClr val="000000"/>
                </a:solidFill>
              </a:rPr>
              <a:t>=</a:t>
            </a:r>
            <a:endParaRPr sz="2300" b="1" i="0" u="none" strike="noStrike" cap="none">
              <a:solidFill>
                <a:srgbClr val="000000"/>
              </a:solidFill>
            </a:endParaRPr>
          </a:p>
        </p:txBody>
      </p:sp>
      <p:sp>
        <p:nvSpPr>
          <p:cNvPr id="389" name="Google Shape;389;g3f67a44fbd9_0_252"/>
          <p:cNvSpPr txBox="1"/>
          <p:nvPr/>
        </p:nvSpPr>
        <p:spPr>
          <a:xfrm>
            <a:off x="359100" y="3241650"/>
            <a:ext cx="7097700" cy="156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b="1"/>
              <a:t>Equally likely</a:t>
            </a:r>
            <a:r>
              <a:rPr lang="en-GB" sz="1600"/>
              <a:t> for ABBA and BABA sites to be generated</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GB" sz="1600"/>
              <a:t>=&gt; expect </a:t>
            </a:r>
            <a:r>
              <a:rPr lang="en-GB" sz="1600" b="1"/>
              <a:t>1:1 ratio</a:t>
            </a:r>
            <a:r>
              <a:rPr lang="en-GB" sz="1600"/>
              <a:t> ABBA and BABA sites</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GB" sz="1600"/>
              <a:t>assuming neutrality, a fixed mutation rate &amp; no recurrent mutation</a:t>
            </a:r>
            <a:endParaRPr sz="1600"/>
          </a:p>
        </p:txBody>
      </p:sp>
      <p:sp>
        <p:nvSpPr>
          <p:cNvPr id="390" name="Google Shape;390;g3f67a44fbd9_0_252"/>
          <p:cNvSpPr txBox="1"/>
          <p:nvPr/>
        </p:nvSpPr>
        <p:spPr>
          <a:xfrm>
            <a:off x="221800" y="1850550"/>
            <a:ext cx="4974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900" b="1"/>
              <a:t>If</a:t>
            </a:r>
            <a:endParaRPr/>
          </a:p>
        </p:txBody>
      </p:sp>
      <p:sp>
        <p:nvSpPr>
          <p:cNvPr id="391" name="Google Shape;391;g3f67a44fbd9_0_252"/>
          <p:cNvSpPr/>
          <p:nvPr/>
        </p:nvSpPr>
        <p:spPr>
          <a:xfrm>
            <a:off x="58625" y="3209200"/>
            <a:ext cx="7097700" cy="171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2" name="Google Shape;392;g3f67a44fbd9_0_252"/>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3" name="Google Shape;393;g3f67a44fbd9_0_252"/>
          <p:cNvSpPr txBox="1"/>
          <p:nvPr/>
        </p:nvSpPr>
        <p:spPr>
          <a:xfrm>
            <a:off x="31170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394" name="Google Shape;394;g3f67a44fbd9_0_252"/>
          <p:cNvSpPr txBox="1"/>
          <p:nvPr/>
        </p:nvSpPr>
        <p:spPr>
          <a:xfrm>
            <a:off x="77372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395" name="Google Shape;395;g3f67a44fbd9_0_252"/>
          <p:cNvSpPr txBox="1"/>
          <p:nvPr/>
        </p:nvSpPr>
        <p:spPr>
          <a:xfrm>
            <a:off x="127175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396" name="Google Shape;396;g3f67a44fbd9_0_252"/>
          <p:cNvSpPr txBox="1"/>
          <p:nvPr/>
        </p:nvSpPr>
        <p:spPr>
          <a:xfrm>
            <a:off x="233437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397" name="Google Shape;397;g3f67a44fbd9_0_252"/>
          <p:cNvSpPr txBox="1"/>
          <p:nvPr/>
        </p:nvSpPr>
        <p:spPr>
          <a:xfrm>
            <a:off x="279640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398" name="Google Shape;398;g3f67a44fbd9_0_252"/>
          <p:cNvSpPr txBox="1"/>
          <p:nvPr/>
        </p:nvSpPr>
        <p:spPr>
          <a:xfrm>
            <a:off x="329442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399" name="Google Shape;399;g3f67a44fbd9_0_252"/>
          <p:cNvSpPr txBox="1"/>
          <p:nvPr/>
        </p:nvSpPr>
        <p:spPr>
          <a:xfrm>
            <a:off x="3841050" y="28978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400" name="Google Shape;400;g3f67a44fbd9_0_252"/>
          <p:cNvSpPr txBox="1"/>
          <p:nvPr/>
        </p:nvSpPr>
        <p:spPr>
          <a:xfrm>
            <a:off x="1754925" y="28978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pic>
        <p:nvPicPr>
          <p:cNvPr id="401" name="Google Shape;401;g3f67a44fbd9_0_252" title="Screenshot 2026-08-07 at 11.07.13.png"/>
          <p:cNvPicPr preferRelativeResize="0"/>
          <p:nvPr/>
        </p:nvPicPr>
        <p:blipFill>
          <a:blip r:embed="rId4">
            <a:alphaModFix/>
          </a:blip>
          <a:stretch>
            <a:fillRect/>
          </a:stretch>
        </p:blipFill>
        <p:spPr>
          <a:xfrm>
            <a:off x="6292799" y="228724"/>
            <a:ext cx="2747601" cy="803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g3f67a44fbd9_0_28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solidFill>
                  <a:schemeClr val="accent5"/>
                </a:solidFill>
              </a:rPr>
              <a:t>Incomplete lineage sorting (ILS)</a:t>
            </a:r>
            <a:endParaRPr>
              <a:solidFill>
                <a:schemeClr val="accent5"/>
              </a:solidFill>
            </a:endParaRPr>
          </a:p>
        </p:txBody>
      </p:sp>
      <p:pic>
        <p:nvPicPr>
          <p:cNvPr id="407" name="Google Shape;407;g3f67a44fbd9_0_281"/>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408" name="Google Shape;408;g3f67a44fbd9_0_281"/>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09" name="Google Shape;409;g3f67a44fbd9_0_281"/>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410" name="Google Shape;410;g3f67a44fbd9_0_281"/>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g3f67a44fbd9_0_281"/>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412" name="Google Shape;412;g3f67a44fbd9_0_281"/>
          <p:cNvSpPr txBox="1"/>
          <p:nvPr/>
        </p:nvSpPr>
        <p:spPr>
          <a:xfrm>
            <a:off x="4373500" y="1809288"/>
            <a:ext cx="31761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a:t>=&gt; D = 0</a:t>
            </a:r>
            <a:endParaRPr sz="1900" b="1"/>
          </a:p>
        </p:txBody>
      </p:sp>
      <p:sp>
        <p:nvSpPr>
          <p:cNvPr id="413" name="Google Shape;413;g3f67a44fbd9_0_281"/>
          <p:cNvSpPr txBox="1"/>
          <p:nvPr/>
        </p:nvSpPr>
        <p:spPr>
          <a:xfrm>
            <a:off x="1967188" y="1819650"/>
            <a:ext cx="497400" cy="538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2300" b="1" i="0" u="none" strike="noStrike" cap="none">
                <a:solidFill>
                  <a:srgbClr val="000000"/>
                </a:solidFill>
              </a:rPr>
              <a:t>=</a:t>
            </a:r>
            <a:endParaRPr sz="2300" b="1" i="0" u="none" strike="noStrike" cap="none">
              <a:solidFill>
                <a:srgbClr val="000000"/>
              </a:solidFill>
            </a:endParaRPr>
          </a:p>
        </p:txBody>
      </p:sp>
      <p:sp>
        <p:nvSpPr>
          <p:cNvPr id="414" name="Google Shape;414;g3f67a44fbd9_0_281"/>
          <p:cNvSpPr txBox="1"/>
          <p:nvPr/>
        </p:nvSpPr>
        <p:spPr>
          <a:xfrm>
            <a:off x="359100" y="3241650"/>
            <a:ext cx="7097700" cy="156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b="1"/>
              <a:t>Equally likely</a:t>
            </a:r>
            <a:r>
              <a:rPr lang="en-GB" sz="1600"/>
              <a:t> for ABBA and BABA sites to be generated</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GB" sz="1600"/>
              <a:t>=&gt; expect </a:t>
            </a:r>
            <a:r>
              <a:rPr lang="en-GB" sz="1600" b="1"/>
              <a:t>1:1 ratio</a:t>
            </a:r>
            <a:r>
              <a:rPr lang="en-GB" sz="1600"/>
              <a:t> ABBA and BABA sites</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GB" sz="1600"/>
              <a:t>assuming neutrality, a fixed mutation rate &amp; no recurrent mutation</a:t>
            </a:r>
            <a:endParaRPr sz="1600"/>
          </a:p>
        </p:txBody>
      </p:sp>
      <p:sp>
        <p:nvSpPr>
          <p:cNvPr id="415" name="Google Shape;415;g3f67a44fbd9_0_281"/>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16" name="Google Shape;416;g3f67a44fbd9_0_281"/>
          <p:cNvSpPr txBox="1"/>
          <p:nvPr/>
        </p:nvSpPr>
        <p:spPr>
          <a:xfrm>
            <a:off x="221800" y="1850550"/>
            <a:ext cx="4974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900" b="1"/>
              <a:t>If</a:t>
            </a:r>
            <a:endParaRPr/>
          </a:p>
        </p:txBody>
      </p:sp>
      <p:sp>
        <p:nvSpPr>
          <p:cNvPr id="417" name="Google Shape;417;g3f67a44fbd9_0_281"/>
          <p:cNvSpPr txBox="1"/>
          <p:nvPr/>
        </p:nvSpPr>
        <p:spPr>
          <a:xfrm>
            <a:off x="31170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418" name="Google Shape;418;g3f67a44fbd9_0_281"/>
          <p:cNvSpPr txBox="1"/>
          <p:nvPr/>
        </p:nvSpPr>
        <p:spPr>
          <a:xfrm>
            <a:off x="77372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419" name="Google Shape;419;g3f67a44fbd9_0_281"/>
          <p:cNvSpPr txBox="1"/>
          <p:nvPr/>
        </p:nvSpPr>
        <p:spPr>
          <a:xfrm>
            <a:off x="127175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420" name="Google Shape;420;g3f67a44fbd9_0_281"/>
          <p:cNvSpPr txBox="1"/>
          <p:nvPr/>
        </p:nvSpPr>
        <p:spPr>
          <a:xfrm>
            <a:off x="1754925" y="28978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421" name="Google Shape;421;g3f67a44fbd9_0_281"/>
          <p:cNvSpPr txBox="1"/>
          <p:nvPr/>
        </p:nvSpPr>
        <p:spPr>
          <a:xfrm>
            <a:off x="279640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422" name="Google Shape;422;g3f67a44fbd9_0_281"/>
          <p:cNvSpPr txBox="1"/>
          <p:nvPr/>
        </p:nvSpPr>
        <p:spPr>
          <a:xfrm>
            <a:off x="329442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423" name="Google Shape;423;g3f67a44fbd9_0_281"/>
          <p:cNvSpPr txBox="1"/>
          <p:nvPr/>
        </p:nvSpPr>
        <p:spPr>
          <a:xfrm>
            <a:off x="3841050" y="28978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424" name="Google Shape;424;g3f67a44fbd9_0_281"/>
          <p:cNvSpPr txBox="1"/>
          <p:nvPr/>
        </p:nvSpPr>
        <p:spPr>
          <a:xfrm>
            <a:off x="2283088"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pic>
        <p:nvPicPr>
          <p:cNvPr id="425" name="Google Shape;425;g3f67a44fbd9_0_281" title="Screenshot 2026-08-07 at 11.07.13.png"/>
          <p:cNvPicPr preferRelativeResize="0"/>
          <p:nvPr/>
        </p:nvPicPr>
        <p:blipFill>
          <a:blip r:embed="rId4">
            <a:alphaModFix/>
          </a:blip>
          <a:stretch>
            <a:fillRect/>
          </a:stretch>
        </p:blipFill>
        <p:spPr>
          <a:xfrm>
            <a:off x="6292799" y="228724"/>
            <a:ext cx="2747601" cy="8034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3f67a44fbd9_0_332"/>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solidFill>
                  <a:schemeClr val="accent5"/>
                </a:solidFill>
              </a:rPr>
              <a:t>Gene Flow</a:t>
            </a:r>
            <a:endParaRPr>
              <a:solidFill>
                <a:schemeClr val="accent5"/>
              </a:solidFill>
            </a:endParaRPr>
          </a:p>
        </p:txBody>
      </p:sp>
      <p:pic>
        <p:nvPicPr>
          <p:cNvPr id="431" name="Google Shape;431;g3f67a44fbd9_0_332"/>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432" name="Google Shape;432;g3f67a44fbd9_0_332"/>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33" name="Google Shape;433;g3f67a44fbd9_0_332"/>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434" name="Google Shape;434;g3f67a44fbd9_0_332"/>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g3f67a44fbd9_0_332"/>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436" name="Google Shape;436;g3f67a44fbd9_0_332"/>
          <p:cNvSpPr txBox="1"/>
          <p:nvPr/>
        </p:nvSpPr>
        <p:spPr>
          <a:xfrm>
            <a:off x="1967188" y="1819650"/>
            <a:ext cx="497400" cy="538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2300" b="1"/>
              <a:t>!</a:t>
            </a:r>
            <a:r>
              <a:rPr lang="en-GB" sz="2300" b="1" i="0" u="none" strike="noStrike" cap="none">
                <a:solidFill>
                  <a:srgbClr val="000000"/>
                </a:solidFill>
              </a:rPr>
              <a:t>=</a:t>
            </a:r>
            <a:endParaRPr sz="2300" b="1" i="0" u="none" strike="noStrike" cap="none">
              <a:solidFill>
                <a:srgbClr val="000000"/>
              </a:solidFill>
            </a:endParaRPr>
          </a:p>
        </p:txBody>
      </p:sp>
      <p:sp>
        <p:nvSpPr>
          <p:cNvPr id="437" name="Google Shape;437;g3f67a44fbd9_0_332"/>
          <p:cNvSpPr txBox="1"/>
          <p:nvPr/>
        </p:nvSpPr>
        <p:spPr>
          <a:xfrm>
            <a:off x="359100" y="3241650"/>
            <a:ext cx="7097700" cy="156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b="1"/>
              <a:t>Imbalance</a:t>
            </a:r>
            <a:r>
              <a:rPr lang="en-GB" sz="1600"/>
              <a:t> in ABBA-BABA ratio</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GB" sz="1600"/>
              <a:t>Is D </a:t>
            </a:r>
            <a:r>
              <a:rPr lang="en-GB" sz="1600" b="1"/>
              <a:t>significantly</a:t>
            </a:r>
            <a:r>
              <a:rPr lang="en-GB" sz="1600"/>
              <a:t> different from 0? - use </a:t>
            </a:r>
            <a:r>
              <a:rPr lang="en-GB" sz="1600" b="1"/>
              <a:t>z scores</a:t>
            </a:r>
            <a:endParaRPr sz="1600" b="1"/>
          </a:p>
          <a:p>
            <a:pPr marL="0" lvl="0" indent="0" algn="l" rtl="0">
              <a:lnSpc>
                <a:spcPct val="115000"/>
              </a:lnSpc>
              <a:spcBef>
                <a:spcPts val="0"/>
              </a:spcBef>
              <a:spcAft>
                <a:spcPts val="0"/>
              </a:spcAft>
              <a:buNone/>
            </a:pPr>
            <a:endParaRPr sz="1600" b="1"/>
          </a:p>
          <a:p>
            <a:pPr marL="0" lvl="0" indent="0" algn="l" rtl="0">
              <a:lnSpc>
                <a:spcPct val="115000"/>
              </a:lnSpc>
              <a:spcBef>
                <a:spcPts val="0"/>
              </a:spcBef>
              <a:spcAft>
                <a:spcPts val="0"/>
              </a:spcAft>
              <a:buNone/>
            </a:pPr>
            <a:r>
              <a:rPr lang="en-GB" sz="1600" b="1"/>
              <a:t>|Z| &gt;= 3 </a:t>
            </a:r>
            <a:r>
              <a:rPr lang="en-GB" sz="1600"/>
              <a:t>: statistically significant</a:t>
            </a:r>
            <a:endParaRPr sz="1600"/>
          </a:p>
        </p:txBody>
      </p:sp>
      <p:sp>
        <p:nvSpPr>
          <p:cNvPr id="438" name="Google Shape;438;g3f67a44fbd9_0_332"/>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39" name="Google Shape;439;g3f67a44fbd9_0_332"/>
          <p:cNvSpPr txBox="1"/>
          <p:nvPr/>
        </p:nvSpPr>
        <p:spPr>
          <a:xfrm>
            <a:off x="221800" y="1850550"/>
            <a:ext cx="4974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900" b="1"/>
              <a:t>If</a:t>
            </a:r>
            <a:endParaRPr/>
          </a:p>
        </p:txBody>
      </p:sp>
      <p:sp>
        <p:nvSpPr>
          <p:cNvPr id="440" name="Google Shape;440;g3f67a44fbd9_0_332"/>
          <p:cNvSpPr txBox="1"/>
          <p:nvPr/>
        </p:nvSpPr>
        <p:spPr>
          <a:xfrm>
            <a:off x="4373500" y="1809288"/>
            <a:ext cx="31761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1900" b="1"/>
              <a:t>=&gt; D != 0</a:t>
            </a:r>
            <a:endParaRPr sz="1900" b="1"/>
          </a:p>
        </p:txBody>
      </p:sp>
      <p:sp>
        <p:nvSpPr>
          <p:cNvPr id="441" name="Google Shape;441;g3f67a44fbd9_0_332"/>
          <p:cNvSpPr txBox="1"/>
          <p:nvPr/>
        </p:nvSpPr>
        <p:spPr>
          <a:xfrm>
            <a:off x="31170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442" name="Google Shape;442;g3f67a44fbd9_0_332"/>
          <p:cNvSpPr txBox="1"/>
          <p:nvPr/>
        </p:nvSpPr>
        <p:spPr>
          <a:xfrm>
            <a:off x="77372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443" name="Google Shape;443;g3f67a44fbd9_0_332"/>
          <p:cNvSpPr txBox="1"/>
          <p:nvPr/>
        </p:nvSpPr>
        <p:spPr>
          <a:xfrm>
            <a:off x="127175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444" name="Google Shape;444;g3f67a44fbd9_0_332"/>
          <p:cNvSpPr txBox="1"/>
          <p:nvPr/>
        </p:nvSpPr>
        <p:spPr>
          <a:xfrm>
            <a:off x="1754925" y="28978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445" name="Google Shape;445;g3f67a44fbd9_0_332"/>
          <p:cNvSpPr txBox="1"/>
          <p:nvPr/>
        </p:nvSpPr>
        <p:spPr>
          <a:xfrm>
            <a:off x="279640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446" name="Google Shape;446;g3f67a44fbd9_0_332"/>
          <p:cNvSpPr txBox="1"/>
          <p:nvPr/>
        </p:nvSpPr>
        <p:spPr>
          <a:xfrm>
            <a:off x="329442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447" name="Google Shape;447;g3f67a44fbd9_0_332"/>
          <p:cNvSpPr txBox="1"/>
          <p:nvPr/>
        </p:nvSpPr>
        <p:spPr>
          <a:xfrm>
            <a:off x="3841050" y="28978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448" name="Google Shape;448;g3f67a44fbd9_0_332"/>
          <p:cNvSpPr txBox="1"/>
          <p:nvPr/>
        </p:nvSpPr>
        <p:spPr>
          <a:xfrm>
            <a:off x="2283088"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pic>
        <p:nvPicPr>
          <p:cNvPr id="449" name="Google Shape;449;g3f67a44fbd9_0_332" title="Screenshot 2026-08-07 at 11.07.13.png"/>
          <p:cNvPicPr preferRelativeResize="0"/>
          <p:nvPr/>
        </p:nvPicPr>
        <p:blipFill>
          <a:blip r:embed="rId4">
            <a:alphaModFix/>
          </a:blip>
          <a:stretch>
            <a:fillRect/>
          </a:stretch>
        </p:blipFill>
        <p:spPr>
          <a:xfrm>
            <a:off x="6292799" y="228724"/>
            <a:ext cx="2747601" cy="803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g3f67a44fbd9_0_349"/>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solidFill>
                  <a:schemeClr val="accent5"/>
                </a:solidFill>
              </a:rPr>
              <a:t>Gene Flow</a:t>
            </a:r>
            <a:endParaRPr>
              <a:solidFill>
                <a:schemeClr val="accent5"/>
              </a:solidFill>
            </a:endParaRPr>
          </a:p>
        </p:txBody>
      </p:sp>
      <p:pic>
        <p:nvPicPr>
          <p:cNvPr id="455" name="Google Shape;455;g3f67a44fbd9_0_349"/>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456" name="Google Shape;456;g3f67a44fbd9_0_349"/>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57" name="Google Shape;457;g3f67a44fbd9_0_349"/>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458" name="Google Shape;458;g3f67a44fbd9_0_349"/>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g3f67a44fbd9_0_349"/>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460" name="Google Shape;460;g3f67a44fbd9_0_349"/>
          <p:cNvSpPr txBox="1"/>
          <p:nvPr/>
        </p:nvSpPr>
        <p:spPr>
          <a:xfrm>
            <a:off x="1967188" y="1819650"/>
            <a:ext cx="497400" cy="538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2300" b="1"/>
              <a:t>!</a:t>
            </a:r>
            <a:r>
              <a:rPr lang="en-GB" sz="2300" b="1" i="0" u="none" strike="noStrike" cap="none">
                <a:solidFill>
                  <a:srgbClr val="000000"/>
                </a:solidFill>
              </a:rPr>
              <a:t>=</a:t>
            </a:r>
            <a:endParaRPr sz="2300" b="1" i="0" u="none" strike="noStrike" cap="none">
              <a:solidFill>
                <a:srgbClr val="000000"/>
              </a:solidFill>
            </a:endParaRPr>
          </a:p>
        </p:txBody>
      </p:sp>
      <p:sp>
        <p:nvSpPr>
          <p:cNvPr id="461" name="Google Shape;461;g3f67a44fbd9_0_349"/>
          <p:cNvSpPr txBox="1"/>
          <p:nvPr/>
        </p:nvSpPr>
        <p:spPr>
          <a:xfrm>
            <a:off x="359100" y="3241650"/>
            <a:ext cx="7097700" cy="156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b="1"/>
              <a:t>Imbalance</a:t>
            </a:r>
            <a:r>
              <a:rPr lang="en-GB" sz="1600"/>
              <a:t> in ABBA-BABA ratio</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GB" sz="1600"/>
              <a:t>Is D </a:t>
            </a:r>
            <a:r>
              <a:rPr lang="en-GB" sz="1600" b="1"/>
              <a:t>significantly</a:t>
            </a:r>
            <a:r>
              <a:rPr lang="en-GB" sz="1600"/>
              <a:t> different from 0? - use </a:t>
            </a:r>
            <a:r>
              <a:rPr lang="en-GB" sz="1600" b="1"/>
              <a:t>z scores</a:t>
            </a:r>
            <a:endParaRPr sz="1600" b="1"/>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GB" sz="1600" b="1"/>
              <a:t>|Z| &gt;= 3 </a:t>
            </a:r>
            <a:r>
              <a:rPr lang="en-GB" sz="1600"/>
              <a:t>: statistically significant</a:t>
            </a:r>
            <a:endParaRPr sz="1600"/>
          </a:p>
        </p:txBody>
      </p:sp>
      <p:sp>
        <p:nvSpPr>
          <p:cNvPr id="462" name="Google Shape;462;g3f67a44fbd9_0_349"/>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63" name="Google Shape;463;g3f67a44fbd9_0_349"/>
          <p:cNvSpPr txBox="1"/>
          <p:nvPr/>
        </p:nvSpPr>
        <p:spPr>
          <a:xfrm>
            <a:off x="221800" y="1850550"/>
            <a:ext cx="4974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900" b="1"/>
              <a:t>If</a:t>
            </a:r>
            <a:endParaRPr/>
          </a:p>
        </p:txBody>
      </p:sp>
      <p:sp>
        <p:nvSpPr>
          <p:cNvPr id="464" name="Google Shape;464;g3f67a44fbd9_0_349"/>
          <p:cNvSpPr txBox="1"/>
          <p:nvPr/>
        </p:nvSpPr>
        <p:spPr>
          <a:xfrm>
            <a:off x="5361200" y="3566400"/>
            <a:ext cx="3401700" cy="9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500" b="1">
                <a:solidFill>
                  <a:srgbClr val="134F5C"/>
                </a:solidFill>
              </a:rPr>
              <a:t>Gene flow</a:t>
            </a:r>
            <a:r>
              <a:rPr lang="en-GB" sz="1500">
                <a:solidFill>
                  <a:srgbClr val="134F5C"/>
                </a:solidFill>
              </a:rPr>
              <a:t> of derived B alleles from </a:t>
            </a:r>
            <a:r>
              <a:rPr lang="en-GB" sz="1500" b="1">
                <a:solidFill>
                  <a:srgbClr val="134F5C"/>
                </a:solidFill>
              </a:rPr>
              <a:t>P3 to P2 </a:t>
            </a:r>
            <a:r>
              <a:rPr lang="en-GB" sz="1500">
                <a:solidFill>
                  <a:srgbClr val="134F5C"/>
                </a:solidFill>
              </a:rPr>
              <a:t>=&gt; </a:t>
            </a:r>
            <a:r>
              <a:rPr lang="en-GB" sz="1500" b="1">
                <a:solidFill>
                  <a:srgbClr val="134F5C"/>
                </a:solidFill>
              </a:rPr>
              <a:t>excess </a:t>
            </a:r>
            <a:r>
              <a:rPr lang="en-GB" sz="1500">
                <a:solidFill>
                  <a:srgbClr val="134F5C"/>
                </a:solidFill>
              </a:rPr>
              <a:t>of </a:t>
            </a:r>
            <a:r>
              <a:rPr lang="en-GB" sz="1500" b="1">
                <a:solidFill>
                  <a:srgbClr val="134F5C"/>
                </a:solidFill>
              </a:rPr>
              <a:t>ABBA</a:t>
            </a:r>
            <a:r>
              <a:rPr lang="en-GB" sz="1500">
                <a:solidFill>
                  <a:srgbClr val="134F5C"/>
                </a:solidFill>
              </a:rPr>
              <a:t> sites compared to BABA sites =&gt; </a:t>
            </a:r>
            <a:r>
              <a:rPr lang="en-GB" sz="1500" b="1">
                <a:solidFill>
                  <a:srgbClr val="134F5C"/>
                </a:solidFill>
              </a:rPr>
              <a:t>D &gt; 0</a:t>
            </a:r>
            <a:endParaRPr sz="1800" b="1">
              <a:solidFill>
                <a:srgbClr val="134F5C"/>
              </a:solidFill>
            </a:endParaRPr>
          </a:p>
        </p:txBody>
      </p:sp>
      <p:pic>
        <p:nvPicPr>
          <p:cNvPr id="465" name="Google Shape;465;g3f67a44fbd9_0_349"/>
          <p:cNvPicPr preferRelativeResize="0"/>
          <p:nvPr/>
        </p:nvPicPr>
        <p:blipFill rotWithShape="1">
          <a:blip r:embed="rId3">
            <a:alphaModFix/>
          </a:blip>
          <a:srcRect t="48644" r="51870"/>
          <a:stretch/>
        </p:blipFill>
        <p:spPr>
          <a:xfrm>
            <a:off x="5701950" y="1083688"/>
            <a:ext cx="1832999" cy="2010724"/>
          </a:xfrm>
          <a:prstGeom prst="rect">
            <a:avLst/>
          </a:prstGeom>
          <a:noFill/>
          <a:ln>
            <a:noFill/>
          </a:ln>
        </p:spPr>
      </p:pic>
      <p:sp>
        <p:nvSpPr>
          <p:cNvPr id="466" name="Google Shape;466;g3f67a44fbd9_0_349"/>
          <p:cNvSpPr/>
          <p:nvPr/>
        </p:nvSpPr>
        <p:spPr>
          <a:xfrm>
            <a:off x="5712450" y="9046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67" name="Google Shape;467;g3f67a44fbd9_0_349"/>
          <p:cNvSpPr/>
          <p:nvPr/>
        </p:nvSpPr>
        <p:spPr>
          <a:xfrm>
            <a:off x="5185375" y="1083700"/>
            <a:ext cx="3401700" cy="36162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468" name="Google Shape;468;g3f67a44fbd9_0_349"/>
          <p:cNvCxnSpPr/>
          <p:nvPr/>
        </p:nvCxnSpPr>
        <p:spPr>
          <a:xfrm flipH="1">
            <a:off x="6328100" y="2546700"/>
            <a:ext cx="370200" cy="50100"/>
          </a:xfrm>
          <a:prstGeom prst="straightConnector1">
            <a:avLst/>
          </a:prstGeom>
          <a:noFill/>
          <a:ln w="28575" cap="flat" cmpd="sng">
            <a:solidFill>
              <a:srgbClr val="FF0000"/>
            </a:solidFill>
            <a:prstDash val="solid"/>
            <a:round/>
            <a:headEnd type="none" w="sm" len="sm"/>
            <a:tailEnd type="triangle" w="med" len="med"/>
          </a:ln>
        </p:spPr>
      </p:cxnSp>
      <p:sp>
        <p:nvSpPr>
          <p:cNvPr id="469" name="Google Shape;469;g3f67a44fbd9_0_349"/>
          <p:cNvSpPr txBox="1"/>
          <p:nvPr/>
        </p:nvSpPr>
        <p:spPr>
          <a:xfrm>
            <a:off x="31170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470" name="Google Shape;470;g3f67a44fbd9_0_349"/>
          <p:cNvSpPr txBox="1"/>
          <p:nvPr/>
        </p:nvSpPr>
        <p:spPr>
          <a:xfrm>
            <a:off x="77372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471" name="Google Shape;471;g3f67a44fbd9_0_349"/>
          <p:cNvSpPr txBox="1"/>
          <p:nvPr/>
        </p:nvSpPr>
        <p:spPr>
          <a:xfrm>
            <a:off x="127175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472" name="Google Shape;472;g3f67a44fbd9_0_349"/>
          <p:cNvSpPr txBox="1"/>
          <p:nvPr/>
        </p:nvSpPr>
        <p:spPr>
          <a:xfrm>
            <a:off x="1754925" y="28978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473" name="Google Shape;473;g3f67a44fbd9_0_349"/>
          <p:cNvSpPr txBox="1"/>
          <p:nvPr/>
        </p:nvSpPr>
        <p:spPr>
          <a:xfrm>
            <a:off x="2796400"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474" name="Google Shape;474;g3f67a44fbd9_0_349"/>
          <p:cNvSpPr txBox="1"/>
          <p:nvPr/>
        </p:nvSpPr>
        <p:spPr>
          <a:xfrm>
            <a:off x="3294425"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475" name="Google Shape;475;g3f67a44fbd9_0_349"/>
          <p:cNvSpPr txBox="1"/>
          <p:nvPr/>
        </p:nvSpPr>
        <p:spPr>
          <a:xfrm>
            <a:off x="3841050" y="28978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476" name="Google Shape;476;g3f67a44fbd9_0_349"/>
          <p:cNvSpPr txBox="1"/>
          <p:nvPr/>
        </p:nvSpPr>
        <p:spPr>
          <a:xfrm>
            <a:off x="2283088" y="28978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477" name="Google Shape;477;g3f67a44fbd9_0_349"/>
          <p:cNvSpPr txBox="1"/>
          <p:nvPr/>
        </p:nvSpPr>
        <p:spPr>
          <a:xfrm>
            <a:off x="5701938" y="30735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478" name="Google Shape;478;g3f67a44fbd9_0_349"/>
          <p:cNvSpPr txBox="1"/>
          <p:nvPr/>
        </p:nvSpPr>
        <p:spPr>
          <a:xfrm>
            <a:off x="6163963" y="30735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479" name="Google Shape;479;g3f67a44fbd9_0_349"/>
          <p:cNvSpPr txBox="1"/>
          <p:nvPr/>
        </p:nvSpPr>
        <p:spPr>
          <a:xfrm>
            <a:off x="6661988" y="307350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480" name="Google Shape;480;g3f67a44fbd9_0_349"/>
          <p:cNvSpPr txBox="1"/>
          <p:nvPr/>
        </p:nvSpPr>
        <p:spPr>
          <a:xfrm>
            <a:off x="7145163" y="307350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pic>
        <p:nvPicPr>
          <p:cNvPr id="481" name="Google Shape;481;g3f67a44fbd9_0_349" title="Screenshot 2026-08-07 at 11.07.13.png"/>
          <p:cNvPicPr preferRelativeResize="0"/>
          <p:nvPr/>
        </p:nvPicPr>
        <p:blipFill>
          <a:blip r:embed="rId4">
            <a:alphaModFix/>
          </a:blip>
          <a:stretch>
            <a:fillRect/>
          </a:stretch>
        </p:blipFill>
        <p:spPr>
          <a:xfrm>
            <a:off x="6292799" y="228724"/>
            <a:ext cx="2747601" cy="803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3f67a44fbd9_0_452"/>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Real example</a:t>
            </a:r>
            <a:endParaRPr/>
          </a:p>
        </p:txBody>
      </p:sp>
      <p:sp>
        <p:nvSpPr>
          <p:cNvPr id="487" name="Google Shape;487;g3f67a44fbd9_0_452"/>
          <p:cNvSpPr txBox="1">
            <a:spLocks noGrp="1"/>
          </p:cNvSpPr>
          <p:nvPr>
            <p:ph type="body" idx="1"/>
          </p:nvPr>
        </p:nvSpPr>
        <p:spPr>
          <a:xfrm>
            <a:off x="311700" y="1266325"/>
            <a:ext cx="50112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endParaRPr>
              <a:latin typeface="Arial"/>
              <a:ea typeface="Arial"/>
              <a:cs typeface="Arial"/>
              <a:sym typeface="Arial"/>
            </a:endParaRPr>
          </a:p>
          <a:p>
            <a:pPr marL="0" lvl="0" indent="0" algn="l" rtl="0">
              <a:lnSpc>
                <a:spcPct val="115000"/>
              </a:lnSpc>
              <a:spcBef>
                <a:spcPts val="1200"/>
              </a:spcBef>
              <a:spcAft>
                <a:spcPts val="1200"/>
              </a:spcAft>
              <a:buSzPts val="1800"/>
              <a:buNone/>
            </a:pPr>
            <a:endParaRPr>
              <a:latin typeface="Arial"/>
              <a:ea typeface="Arial"/>
              <a:cs typeface="Arial"/>
              <a:sym typeface="Arial"/>
            </a:endParaRPr>
          </a:p>
        </p:txBody>
      </p:sp>
      <p:sp>
        <p:nvSpPr>
          <p:cNvPr id="488" name="Google Shape;488;g3f67a44fbd9_0_452"/>
          <p:cNvSpPr/>
          <p:nvPr/>
        </p:nvSpPr>
        <p:spPr>
          <a:xfrm>
            <a:off x="5127475" y="1172000"/>
            <a:ext cx="4884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89" name="Google Shape;489;g3f67a44fbd9_0_452"/>
          <p:cNvSpPr/>
          <p:nvPr/>
        </p:nvSpPr>
        <p:spPr>
          <a:xfrm>
            <a:off x="8832300" y="1152425"/>
            <a:ext cx="2079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0" name="Google Shape;490;g3f67a44fbd9_0_452"/>
          <p:cNvSpPr/>
          <p:nvPr/>
        </p:nvSpPr>
        <p:spPr>
          <a:xfrm>
            <a:off x="2572075" y="3947350"/>
            <a:ext cx="658800" cy="409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1" name="Google Shape;491;g3f67a44fbd9_0_452"/>
          <p:cNvSpPr/>
          <p:nvPr/>
        </p:nvSpPr>
        <p:spPr>
          <a:xfrm>
            <a:off x="2519575" y="38478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2" name="Google Shape;492;g3f67a44fbd9_0_452"/>
          <p:cNvSpPr/>
          <p:nvPr/>
        </p:nvSpPr>
        <p:spPr>
          <a:xfrm>
            <a:off x="2519575" y="28244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3" name="Google Shape;493;g3f67a44fbd9_0_452"/>
          <p:cNvSpPr/>
          <p:nvPr/>
        </p:nvSpPr>
        <p:spPr>
          <a:xfrm>
            <a:off x="5684975" y="28244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4" name="Google Shape;494;g3f67a44fbd9_0_452"/>
          <p:cNvSpPr/>
          <p:nvPr/>
        </p:nvSpPr>
        <p:spPr>
          <a:xfrm>
            <a:off x="5385925" y="3905350"/>
            <a:ext cx="3495600" cy="49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5" name="Google Shape;495;g3f67a44fbd9_0_452"/>
          <p:cNvSpPr/>
          <p:nvPr/>
        </p:nvSpPr>
        <p:spPr>
          <a:xfrm>
            <a:off x="3291700" y="4302200"/>
            <a:ext cx="3495600" cy="49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6" name="Google Shape;496;g3f67a44fbd9_0_452"/>
          <p:cNvSpPr txBox="1"/>
          <p:nvPr/>
        </p:nvSpPr>
        <p:spPr>
          <a:xfrm>
            <a:off x="311700" y="1335825"/>
            <a:ext cx="80970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800">
                <a:solidFill>
                  <a:schemeClr val="dk2"/>
                </a:solidFill>
              </a:rPr>
              <a:t>Where the D-statistic was first devised and used as one of the lines of evidence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16"/>
          <p:cNvPicPr preferRelativeResize="0"/>
          <p:nvPr/>
        </p:nvPicPr>
        <p:blipFill rotWithShape="1">
          <a:blip r:embed="rId3">
            <a:alphaModFix/>
          </a:blip>
          <a:srcRect/>
          <a:stretch/>
        </p:blipFill>
        <p:spPr>
          <a:xfrm>
            <a:off x="444025" y="172925"/>
            <a:ext cx="3886325" cy="2104325"/>
          </a:xfrm>
          <a:prstGeom prst="rect">
            <a:avLst/>
          </a:prstGeom>
          <a:noFill/>
          <a:ln>
            <a:noFill/>
          </a:ln>
        </p:spPr>
      </p:pic>
      <p:pic>
        <p:nvPicPr>
          <p:cNvPr id="502" name="Google Shape;502;p16"/>
          <p:cNvPicPr preferRelativeResize="0"/>
          <p:nvPr/>
        </p:nvPicPr>
        <p:blipFill rotWithShape="1">
          <a:blip r:embed="rId4">
            <a:alphaModFix/>
          </a:blip>
          <a:srcRect/>
          <a:stretch/>
        </p:blipFill>
        <p:spPr>
          <a:xfrm>
            <a:off x="4193825" y="2443437"/>
            <a:ext cx="4826217" cy="2104325"/>
          </a:xfrm>
          <a:prstGeom prst="rect">
            <a:avLst/>
          </a:prstGeom>
          <a:noFill/>
          <a:ln>
            <a:noFill/>
          </a:ln>
        </p:spPr>
      </p:pic>
      <p:sp>
        <p:nvSpPr>
          <p:cNvPr id="503" name="Google Shape;503;p16"/>
          <p:cNvSpPr txBox="1"/>
          <p:nvPr/>
        </p:nvSpPr>
        <p:spPr>
          <a:xfrm>
            <a:off x="7629200" y="4618550"/>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Green et al. 2010</a:t>
            </a:r>
            <a:endParaRPr sz="1200" b="0" i="0" u="none" strike="noStrike" cap="none">
              <a:solidFill>
                <a:srgbClr val="45818E"/>
              </a:solidFill>
              <a:latin typeface="Open Sans"/>
              <a:ea typeface="Open Sans"/>
              <a:cs typeface="Open Sans"/>
              <a:sym typeface="Open Sans"/>
            </a:endParaRPr>
          </a:p>
        </p:txBody>
      </p:sp>
      <p:pic>
        <p:nvPicPr>
          <p:cNvPr id="504" name="Google Shape;504;p16"/>
          <p:cNvPicPr preferRelativeResize="0"/>
          <p:nvPr/>
        </p:nvPicPr>
        <p:blipFill rotWithShape="1">
          <a:blip r:embed="rId5">
            <a:alphaModFix/>
          </a:blip>
          <a:srcRect/>
          <a:stretch/>
        </p:blipFill>
        <p:spPr>
          <a:xfrm>
            <a:off x="444021" y="2324881"/>
            <a:ext cx="3517920" cy="2341440"/>
          </a:xfrm>
          <a:prstGeom prst="rect">
            <a:avLst/>
          </a:prstGeom>
          <a:noFill/>
          <a:ln>
            <a:noFill/>
          </a:ln>
        </p:spPr>
      </p:pic>
      <p:sp>
        <p:nvSpPr>
          <p:cNvPr id="505" name="Google Shape;505;p16"/>
          <p:cNvSpPr txBox="1"/>
          <p:nvPr/>
        </p:nvSpPr>
        <p:spPr>
          <a:xfrm>
            <a:off x="4873150" y="1988025"/>
            <a:ext cx="41469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a:t>DNA extracted from 3 Neanderthal bones</a:t>
            </a:r>
            <a:endParaRPr/>
          </a:p>
        </p:txBody>
      </p:sp>
      <p:sp>
        <p:nvSpPr>
          <p:cNvPr id="506" name="Google Shape;506;p16"/>
          <p:cNvSpPr/>
          <p:nvPr/>
        </p:nvSpPr>
        <p:spPr>
          <a:xfrm>
            <a:off x="4258425" y="19084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7" name="Google Shape;507;p16"/>
          <p:cNvSpPr/>
          <p:nvPr/>
        </p:nvSpPr>
        <p:spPr>
          <a:xfrm>
            <a:off x="5696700" y="2419125"/>
            <a:ext cx="468900" cy="196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2" name="Google Shape;512;p18"/>
          <p:cNvPicPr preferRelativeResize="0"/>
          <p:nvPr/>
        </p:nvPicPr>
        <p:blipFill rotWithShape="1">
          <a:blip r:embed="rId3">
            <a:alphaModFix/>
          </a:blip>
          <a:srcRect/>
          <a:stretch/>
        </p:blipFill>
        <p:spPr>
          <a:xfrm>
            <a:off x="311701" y="1337970"/>
            <a:ext cx="3841699" cy="3137499"/>
          </a:xfrm>
          <a:prstGeom prst="rect">
            <a:avLst/>
          </a:prstGeom>
          <a:noFill/>
          <a:ln>
            <a:noFill/>
          </a:ln>
        </p:spPr>
      </p:pic>
      <p:pic>
        <p:nvPicPr>
          <p:cNvPr id="513" name="Google Shape;513;p18"/>
          <p:cNvPicPr preferRelativeResize="0"/>
          <p:nvPr/>
        </p:nvPicPr>
        <p:blipFill rotWithShape="1">
          <a:blip r:embed="rId4">
            <a:alphaModFix/>
          </a:blip>
          <a:srcRect/>
          <a:stretch/>
        </p:blipFill>
        <p:spPr>
          <a:xfrm>
            <a:off x="4889103" y="1337973"/>
            <a:ext cx="3641827" cy="3221199"/>
          </a:xfrm>
          <a:prstGeom prst="rect">
            <a:avLst/>
          </a:prstGeom>
          <a:noFill/>
          <a:ln>
            <a:noFill/>
          </a:ln>
        </p:spPr>
      </p:pic>
      <p:sp>
        <p:nvSpPr>
          <p:cNvPr id="514" name="Google Shape;514;p18"/>
          <p:cNvSpPr txBox="1"/>
          <p:nvPr/>
        </p:nvSpPr>
        <p:spPr>
          <a:xfrm>
            <a:off x="5322125" y="4559175"/>
            <a:ext cx="3208800" cy="3387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000" b="0" i="0" u="none" strike="noStrike" cap="none">
                <a:solidFill>
                  <a:srgbClr val="000000"/>
                </a:solidFill>
                <a:latin typeface="Arial"/>
                <a:ea typeface="Arial"/>
                <a:cs typeface="Arial"/>
                <a:sym typeface="Arial"/>
              </a:rPr>
              <a:t>(D from 3.8% to 5.3%, |Z| &gt; 7.0 SD) </a:t>
            </a:r>
            <a:endParaRPr sz="1500" b="0" i="0" u="none" strike="noStrike" cap="none">
              <a:solidFill>
                <a:srgbClr val="000000"/>
              </a:solidFill>
              <a:latin typeface="Open Sans"/>
              <a:ea typeface="Open Sans"/>
              <a:cs typeface="Open Sans"/>
              <a:sym typeface="Open Sans"/>
            </a:endParaRPr>
          </a:p>
        </p:txBody>
      </p:sp>
      <p:sp>
        <p:nvSpPr>
          <p:cNvPr id="515" name="Google Shape;515;p18"/>
          <p:cNvSpPr/>
          <p:nvPr/>
        </p:nvSpPr>
        <p:spPr>
          <a:xfrm>
            <a:off x="991850" y="4171175"/>
            <a:ext cx="7472700" cy="66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18"/>
          <p:cNvSpPr/>
          <p:nvPr/>
        </p:nvSpPr>
        <p:spPr>
          <a:xfrm>
            <a:off x="118800" y="1338025"/>
            <a:ext cx="8713500" cy="3221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7" name="Google Shape;517;p18"/>
          <p:cNvSpPr txBox="1"/>
          <p:nvPr/>
        </p:nvSpPr>
        <p:spPr>
          <a:xfrm>
            <a:off x="513600" y="2931500"/>
            <a:ext cx="7923900" cy="109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800" b="1">
                <a:solidFill>
                  <a:schemeClr val="dk2"/>
                </a:solidFill>
              </a:rPr>
              <a:t>How to test?</a:t>
            </a:r>
            <a:endParaRPr sz="1800" b="1">
              <a:solidFill>
                <a:schemeClr val="dk2"/>
              </a:solidFill>
            </a:endParaRPr>
          </a:p>
          <a:p>
            <a:pPr marL="0" lvl="0" indent="0" algn="l" rtl="0">
              <a:lnSpc>
                <a:spcPct val="115000"/>
              </a:lnSpc>
              <a:spcBef>
                <a:spcPts val="0"/>
              </a:spcBef>
              <a:spcAft>
                <a:spcPts val="0"/>
              </a:spcAft>
              <a:buNone/>
            </a:pPr>
            <a:r>
              <a:rPr lang="en-GB" sz="1800">
                <a:solidFill>
                  <a:schemeClr val="dk2"/>
                </a:solidFill>
              </a:rPr>
              <a:t>Take biallelic SNPs where 2 humans from different populations carry different alleles &amp; the Neanderthal carries the derived allele</a:t>
            </a:r>
            <a:endParaRPr sz="1800">
              <a:solidFill>
                <a:schemeClr val="dk2"/>
              </a:solidFill>
            </a:endParaRPr>
          </a:p>
        </p:txBody>
      </p:sp>
      <p:sp>
        <p:nvSpPr>
          <p:cNvPr id="518" name="Google Shape;518;p18"/>
          <p:cNvSpPr txBox="1">
            <a:spLocks noGrp="1"/>
          </p:cNvSpPr>
          <p:nvPr>
            <p:ph type="title"/>
          </p:nvPr>
        </p:nvSpPr>
        <p:spPr>
          <a:xfrm>
            <a:off x="463650" y="187600"/>
            <a:ext cx="8216700" cy="873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Test gene flow between Neandertals &amp; modern humans </a:t>
            </a:r>
            <a:endParaRPr/>
          </a:p>
        </p:txBody>
      </p:sp>
      <p:sp>
        <p:nvSpPr>
          <p:cNvPr id="519" name="Google Shape;519;p18"/>
          <p:cNvSpPr txBox="1">
            <a:spLocks noGrp="1"/>
          </p:cNvSpPr>
          <p:nvPr>
            <p:ph type="body" idx="1"/>
          </p:nvPr>
        </p:nvSpPr>
        <p:spPr>
          <a:xfrm>
            <a:off x="467900" y="1338025"/>
            <a:ext cx="8520600" cy="15420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1800"/>
              <a:buNone/>
            </a:pPr>
            <a:r>
              <a:rPr lang="en-GB" b="1">
                <a:latin typeface="Arial"/>
                <a:ea typeface="Arial"/>
                <a:cs typeface="Arial"/>
                <a:sym typeface="Arial"/>
              </a:rPr>
              <a:t>Prediction</a:t>
            </a:r>
            <a:r>
              <a:rPr lang="en-GB">
                <a:latin typeface="Arial"/>
                <a:ea typeface="Arial"/>
                <a:cs typeface="Arial"/>
                <a:sym typeface="Arial"/>
              </a:rPr>
              <a:t>: If there was gene flow into </a:t>
            </a:r>
            <a:r>
              <a:rPr lang="en-GB" b="1">
                <a:latin typeface="Arial"/>
                <a:ea typeface="Arial"/>
                <a:cs typeface="Arial"/>
                <a:sym typeface="Arial"/>
              </a:rPr>
              <a:t>specific human populations</a:t>
            </a:r>
            <a:r>
              <a:rPr lang="en-GB">
                <a:latin typeface="Arial"/>
                <a:ea typeface="Arial"/>
                <a:cs typeface="Arial"/>
                <a:sym typeface="Arial"/>
              </a:rPr>
              <a:t>, then the Neanderthal sequence should match alleles in some human populations significantly </a:t>
            </a:r>
            <a:r>
              <a:rPr lang="en-GB" b="1">
                <a:latin typeface="Arial"/>
                <a:ea typeface="Arial"/>
                <a:cs typeface="Arial"/>
                <a:sym typeface="Arial"/>
              </a:rPr>
              <a:t>more often</a:t>
            </a:r>
            <a:r>
              <a:rPr lang="en-GB">
                <a:latin typeface="Arial"/>
                <a:ea typeface="Arial"/>
                <a:cs typeface="Arial"/>
                <a:sym typeface="Arial"/>
              </a:rPr>
              <a:t>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520" name="Google Shape;520;p18"/>
          <p:cNvSpPr/>
          <p:nvPr/>
        </p:nvSpPr>
        <p:spPr>
          <a:xfrm>
            <a:off x="288150" y="2814200"/>
            <a:ext cx="8567700" cy="1333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pic>
        <p:nvPicPr>
          <p:cNvPr id="525" name="Google Shape;525;g3f68fc15589_0_26"/>
          <p:cNvPicPr preferRelativeResize="0"/>
          <p:nvPr/>
        </p:nvPicPr>
        <p:blipFill rotWithShape="1">
          <a:blip r:embed="rId3">
            <a:alphaModFix/>
          </a:blip>
          <a:srcRect/>
          <a:stretch/>
        </p:blipFill>
        <p:spPr>
          <a:xfrm>
            <a:off x="311701" y="1337970"/>
            <a:ext cx="3841699" cy="3137499"/>
          </a:xfrm>
          <a:prstGeom prst="rect">
            <a:avLst/>
          </a:prstGeom>
          <a:noFill/>
          <a:ln>
            <a:noFill/>
          </a:ln>
        </p:spPr>
      </p:pic>
      <p:pic>
        <p:nvPicPr>
          <p:cNvPr id="526" name="Google Shape;526;g3f68fc15589_0_26"/>
          <p:cNvPicPr preferRelativeResize="0"/>
          <p:nvPr/>
        </p:nvPicPr>
        <p:blipFill rotWithShape="1">
          <a:blip r:embed="rId4">
            <a:alphaModFix/>
          </a:blip>
          <a:srcRect/>
          <a:stretch/>
        </p:blipFill>
        <p:spPr>
          <a:xfrm>
            <a:off x="4889103" y="1337973"/>
            <a:ext cx="3641827" cy="3221199"/>
          </a:xfrm>
          <a:prstGeom prst="rect">
            <a:avLst/>
          </a:prstGeom>
          <a:noFill/>
          <a:ln>
            <a:noFill/>
          </a:ln>
        </p:spPr>
      </p:pic>
      <p:sp>
        <p:nvSpPr>
          <p:cNvPr id="527" name="Google Shape;527;g3f68fc15589_0_26"/>
          <p:cNvSpPr txBox="1"/>
          <p:nvPr/>
        </p:nvSpPr>
        <p:spPr>
          <a:xfrm>
            <a:off x="5322125" y="4559175"/>
            <a:ext cx="3208800" cy="3387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000" b="0" i="0" u="none" strike="noStrike" cap="none">
                <a:solidFill>
                  <a:srgbClr val="000000"/>
                </a:solidFill>
                <a:latin typeface="Arial"/>
                <a:ea typeface="Arial"/>
                <a:cs typeface="Arial"/>
                <a:sym typeface="Arial"/>
              </a:rPr>
              <a:t>(D from 3.8% to 5.3%, |Z| &gt; 7.0 SD) </a:t>
            </a:r>
            <a:endParaRPr sz="1500" b="0" i="0" u="none" strike="noStrike" cap="none">
              <a:solidFill>
                <a:srgbClr val="000000"/>
              </a:solidFill>
              <a:latin typeface="Open Sans"/>
              <a:ea typeface="Open Sans"/>
              <a:cs typeface="Open Sans"/>
              <a:sym typeface="Open Sans"/>
            </a:endParaRPr>
          </a:p>
        </p:txBody>
      </p:sp>
      <p:sp>
        <p:nvSpPr>
          <p:cNvPr id="528" name="Google Shape;528;g3f68fc15589_0_26"/>
          <p:cNvSpPr/>
          <p:nvPr/>
        </p:nvSpPr>
        <p:spPr>
          <a:xfrm>
            <a:off x="991850" y="4171175"/>
            <a:ext cx="7472700" cy="66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g3f68fc15589_0_26"/>
          <p:cNvSpPr/>
          <p:nvPr/>
        </p:nvSpPr>
        <p:spPr>
          <a:xfrm>
            <a:off x="118800" y="1338025"/>
            <a:ext cx="8713500" cy="3221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30" name="Google Shape;530;g3f68fc15589_0_26"/>
          <p:cNvSpPr txBox="1"/>
          <p:nvPr/>
        </p:nvSpPr>
        <p:spPr>
          <a:xfrm>
            <a:off x="513600" y="2931500"/>
            <a:ext cx="7923900" cy="109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800" b="1">
                <a:solidFill>
                  <a:schemeClr val="dk2"/>
                </a:solidFill>
              </a:rPr>
              <a:t>How to test?</a:t>
            </a:r>
            <a:endParaRPr sz="1800" b="1">
              <a:solidFill>
                <a:schemeClr val="dk2"/>
              </a:solidFill>
            </a:endParaRPr>
          </a:p>
          <a:p>
            <a:pPr marL="0" lvl="0" indent="0" algn="l" rtl="0">
              <a:lnSpc>
                <a:spcPct val="115000"/>
              </a:lnSpc>
              <a:spcBef>
                <a:spcPts val="0"/>
              </a:spcBef>
              <a:spcAft>
                <a:spcPts val="0"/>
              </a:spcAft>
              <a:buNone/>
            </a:pPr>
            <a:r>
              <a:rPr lang="en-GB" sz="1800">
                <a:solidFill>
                  <a:schemeClr val="dk2"/>
                </a:solidFill>
              </a:rPr>
              <a:t>Take biallelic SNPs where 2 humans from different populations carry </a:t>
            </a:r>
            <a:r>
              <a:rPr lang="en-GB" sz="1800" b="1">
                <a:solidFill>
                  <a:schemeClr val="dk2"/>
                </a:solidFill>
              </a:rPr>
              <a:t>different alleles</a:t>
            </a:r>
            <a:r>
              <a:rPr lang="en-GB" sz="1800">
                <a:solidFill>
                  <a:schemeClr val="dk2"/>
                </a:solidFill>
              </a:rPr>
              <a:t> &amp; the </a:t>
            </a:r>
            <a:r>
              <a:rPr lang="en-GB" sz="1800" b="1">
                <a:solidFill>
                  <a:srgbClr val="598E9A"/>
                </a:solidFill>
              </a:rPr>
              <a:t>Neanderthal</a:t>
            </a:r>
            <a:r>
              <a:rPr lang="en-GB" sz="1800">
                <a:solidFill>
                  <a:schemeClr val="dk2"/>
                </a:solidFill>
              </a:rPr>
              <a:t> carries the </a:t>
            </a:r>
            <a:r>
              <a:rPr lang="en-GB" sz="1800" b="1">
                <a:solidFill>
                  <a:srgbClr val="598E9A"/>
                </a:solidFill>
              </a:rPr>
              <a:t>derived allele</a:t>
            </a:r>
            <a:endParaRPr sz="1800" b="1">
              <a:solidFill>
                <a:srgbClr val="598E9A"/>
              </a:solidFill>
            </a:endParaRPr>
          </a:p>
        </p:txBody>
      </p:sp>
      <p:sp>
        <p:nvSpPr>
          <p:cNvPr id="531" name="Google Shape;531;g3f68fc15589_0_26"/>
          <p:cNvSpPr txBox="1">
            <a:spLocks noGrp="1"/>
          </p:cNvSpPr>
          <p:nvPr>
            <p:ph type="title"/>
          </p:nvPr>
        </p:nvSpPr>
        <p:spPr>
          <a:xfrm>
            <a:off x="463650" y="187600"/>
            <a:ext cx="8216700" cy="873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Test gene flow between Neandertals &amp; modern humans </a:t>
            </a:r>
            <a:endParaRPr/>
          </a:p>
        </p:txBody>
      </p:sp>
      <p:sp>
        <p:nvSpPr>
          <p:cNvPr id="532" name="Google Shape;532;g3f68fc15589_0_26"/>
          <p:cNvSpPr txBox="1">
            <a:spLocks noGrp="1"/>
          </p:cNvSpPr>
          <p:nvPr>
            <p:ph type="body" idx="1"/>
          </p:nvPr>
        </p:nvSpPr>
        <p:spPr>
          <a:xfrm>
            <a:off x="467900" y="1338025"/>
            <a:ext cx="8520600" cy="15420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1800"/>
              <a:buNone/>
            </a:pPr>
            <a:r>
              <a:rPr lang="en-GB" b="1">
                <a:latin typeface="Arial"/>
                <a:ea typeface="Arial"/>
                <a:cs typeface="Arial"/>
                <a:sym typeface="Arial"/>
              </a:rPr>
              <a:t>Prediction</a:t>
            </a:r>
            <a:r>
              <a:rPr lang="en-GB">
                <a:latin typeface="Arial"/>
                <a:ea typeface="Arial"/>
                <a:cs typeface="Arial"/>
                <a:sym typeface="Arial"/>
              </a:rPr>
              <a:t>: If there was gene flow into </a:t>
            </a:r>
            <a:r>
              <a:rPr lang="en-GB" b="1">
                <a:latin typeface="Arial"/>
                <a:ea typeface="Arial"/>
                <a:cs typeface="Arial"/>
                <a:sym typeface="Arial"/>
              </a:rPr>
              <a:t>specific human populations</a:t>
            </a:r>
            <a:r>
              <a:rPr lang="en-GB">
                <a:latin typeface="Arial"/>
                <a:ea typeface="Arial"/>
                <a:cs typeface="Arial"/>
                <a:sym typeface="Arial"/>
              </a:rPr>
              <a:t>, then the Neanderthal sequence should match alleles in some human populations significantly </a:t>
            </a:r>
            <a:r>
              <a:rPr lang="en-GB" b="1">
                <a:latin typeface="Arial"/>
                <a:ea typeface="Arial"/>
                <a:cs typeface="Arial"/>
                <a:sym typeface="Arial"/>
              </a:rPr>
              <a:t>more often </a:t>
            </a:r>
            <a:r>
              <a:rPr lang="en-GB">
                <a:latin typeface="Arial"/>
                <a:ea typeface="Arial"/>
                <a:cs typeface="Arial"/>
                <a:sym typeface="Arial"/>
              </a:rPr>
              <a:t>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pic>
        <p:nvPicPr>
          <p:cNvPr id="537" name="Google Shape;537;g3f67a44fbd9_0_87"/>
          <p:cNvPicPr preferRelativeResize="0"/>
          <p:nvPr/>
        </p:nvPicPr>
        <p:blipFill rotWithShape="1">
          <a:blip r:embed="rId3">
            <a:alphaModFix/>
          </a:blip>
          <a:srcRect/>
          <a:stretch/>
        </p:blipFill>
        <p:spPr>
          <a:xfrm>
            <a:off x="311701" y="1337970"/>
            <a:ext cx="3841699" cy="3137499"/>
          </a:xfrm>
          <a:prstGeom prst="rect">
            <a:avLst/>
          </a:prstGeom>
          <a:noFill/>
          <a:ln>
            <a:noFill/>
          </a:ln>
        </p:spPr>
      </p:pic>
      <p:pic>
        <p:nvPicPr>
          <p:cNvPr id="538" name="Google Shape;538;g3f67a44fbd9_0_87"/>
          <p:cNvPicPr preferRelativeResize="0"/>
          <p:nvPr/>
        </p:nvPicPr>
        <p:blipFill rotWithShape="1">
          <a:blip r:embed="rId4">
            <a:alphaModFix/>
          </a:blip>
          <a:srcRect/>
          <a:stretch/>
        </p:blipFill>
        <p:spPr>
          <a:xfrm>
            <a:off x="4889103" y="1337973"/>
            <a:ext cx="3641827" cy="3221199"/>
          </a:xfrm>
          <a:prstGeom prst="rect">
            <a:avLst/>
          </a:prstGeom>
          <a:noFill/>
          <a:ln>
            <a:noFill/>
          </a:ln>
        </p:spPr>
      </p:pic>
      <p:sp>
        <p:nvSpPr>
          <p:cNvPr id="539" name="Google Shape;539;g3f67a44fbd9_0_87"/>
          <p:cNvSpPr txBox="1">
            <a:spLocks noGrp="1"/>
          </p:cNvSpPr>
          <p:nvPr>
            <p:ph type="body" idx="1"/>
          </p:nvPr>
        </p:nvSpPr>
        <p:spPr>
          <a:xfrm>
            <a:off x="311700" y="414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Prediction: If there was gene flow, then the Neanderthal sequence should match alleles in some humans significantly more often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540" name="Google Shape;540;g3f67a44fbd9_0_87"/>
          <p:cNvSpPr txBox="1"/>
          <p:nvPr/>
        </p:nvSpPr>
        <p:spPr>
          <a:xfrm>
            <a:off x="5322125" y="4559175"/>
            <a:ext cx="3208800" cy="3387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000" b="0" i="0" u="none" strike="noStrike" cap="none">
                <a:solidFill>
                  <a:srgbClr val="000000"/>
                </a:solidFill>
                <a:latin typeface="Arial"/>
                <a:ea typeface="Arial"/>
                <a:cs typeface="Arial"/>
                <a:sym typeface="Arial"/>
              </a:rPr>
              <a:t>(D from 3.8% to 5.3%, |Z| &gt; 7.0 SD) </a:t>
            </a:r>
            <a:endParaRPr sz="1500" b="0" i="0" u="none" strike="noStrike" cap="none">
              <a:solidFill>
                <a:srgbClr val="000000"/>
              </a:solidFill>
              <a:latin typeface="Open Sans"/>
              <a:ea typeface="Open Sans"/>
              <a:cs typeface="Open Sans"/>
              <a:sym typeface="Open Sans"/>
            </a:endParaRPr>
          </a:p>
        </p:txBody>
      </p:sp>
      <p:sp>
        <p:nvSpPr>
          <p:cNvPr id="541" name="Google Shape;541;g3f67a44fbd9_0_87"/>
          <p:cNvSpPr/>
          <p:nvPr/>
        </p:nvSpPr>
        <p:spPr>
          <a:xfrm>
            <a:off x="996800" y="4171175"/>
            <a:ext cx="7467900" cy="66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g3f67a44fbd9_0_87"/>
          <p:cNvSpPr/>
          <p:nvPr/>
        </p:nvSpPr>
        <p:spPr>
          <a:xfrm>
            <a:off x="4495575" y="1265950"/>
            <a:ext cx="4126800" cy="335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3" name="Google Shape;543;g3f67a44fbd9_0_87"/>
          <p:cNvSpPr/>
          <p:nvPr/>
        </p:nvSpPr>
        <p:spPr>
          <a:xfrm>
            <a:off x="3957302" y="1265950"/>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4" name="Google Shape;544;g3f67a44fbd9_0_87"/>
          <p:cNvSpPr txBox="1"/>
          <p:nvPr/>
        </p:nvSpPr>
        <p:spPr>
          <a:xfrm>
            <a:off x="4495575" y="1598575"/>
            <a:ext cx="3641700" cy="93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GB" sz="1800">
                <a:solidFill>
                  <a:schemeClr val="dk2"/>
                </a:solidFill>
              </a:rPr>
              <a:t>1 population from </a:t>
            </a:r>
            <a:r>
              <a:rPr lang="en-GB" sz="1800" b="1">
                <a:solidFill>
                  <a:schemeClr val="dk2"/>
                </a:solidFill>
              </a:rPr>
              <a:t>West Africa</a:t>
            </a:r>
            <a:endParaRPr sz="1800" b="1">
              <a:solidFill>
                <a:schemeClr val="dk2"/>
              </a:solidFill>
            </a:endParaRPr>
          </a:p>
          <a:p>
            <a:pPr marL="0" lvl="0" indent="0" algn="l" rtl="0">
              <a:lnSpc>
                <a:spcPct val="115000"/>
              </a:lnSpc>
              <a:spcBef>
                <a:spcPts val="1200"/>
              </a:spcBef>
              <a:spcAft>
                <a:spcPts val="1200"/>
              </a:spcAft>
              <a:buNone/>
            </a:pPr>
            <a:r>
              <a:rPr lang="en-GB" sz="1800">
                <a:solidFill>
                  <a:schemeClr val="dk2"/>
                </a:solidFill>
              </a:rPr>
              <a:t>1 population from </a:t>
            </a:r>
            <a:r>
              <a:rPr lang="en-GB" sz="1800" b="1">
                <a:solidFill>
                  <a:schemeClr val="dk2"/>
                </a:solidFill>
              </a:rPr>
              <a:t>South Africa</a:t>
            </a:r>
            <a:endParaRPr sz="1800" b="1">
              <a:solidFill>
                <a:schemeClr val="dk2"/>
              </a:solidFill>
            </a:endParaRPr>
          </a:p>
        </p:txBody>
      </p:sp>
      <p:pic>
        <p:nvPicPr>
          <p:cNvPr id="545" name="Google Shape;545;g3f67a44fbd9_0_87"/>
          <p:cNvPicPr preferRelativeResize="0"/>
          <p:nvPr/>
        </p:nvPicPr>
        <p:blipFill rotWithShape="1">
          <a:blip r:embed="rId5">
            <a:alphaModFix/>
          </a:blip>
          <a:srcRect r="48160" b="49285"/>
          <a:stretch/>
        </p:blipFill>
        <p:spPr>
          <a:xfrm>
            <a:off x="5596900" y="2510475"/>
            <a:ext cx="1974301" cy="1985600"/>
          </a:xfrm>
          <a:prstGeom prst="rect">
            <a:avLst/>
          </a:prstGeom>
          <a:noFill/>
          <a:ln>
            <a:noFill/>
          </a:ln>
        </p:spPr>
      </p:pic>
      <p:sp>
        <p:nvSpPr>
          <p:cNvPr id="546" name="Google Shape;546;g3f67a44fbd9_0_87"/>
          <p:cNvSpPr txBox="1"/>
          <p:nvPr/>
        </p:nvSpPr>
        <p:spPr>
          <a:xfrm>
            <a:off x="5596900" y="43497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547" name="Google Shape;547;g3f67a44fbd9_0_87"/>
          <p:cNvSpPr txBox="1"/>
          <p:nvPr/>
        </p:nvSpPr>
        <p:spPr>
          <a:xfrm>
            <a:off x="6058925" y="43497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548" name="Google Shape;548;g3f67a44fbd9_0_87"/>
          <p:cNvSpPr txBox="1"/>
          <p:nvPr/>
        </p:nvSpPr>
        <p:spPr>
          <a:xfrm>
            <a:off x="6556950" y="43497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549" name="Google Shape;549;g3f67a44fbd9_0_87"/>
          <p:cNvSpPr txBox="1"/>
          <p:nvPr/>
        </p:nvSpPr>
        <p:spPr>
          <a:xfrm>
            <a:off x="7040125" y="43497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550" name="Google Shape;550;g3f67a44fbd9_0_87"/>
          <p:cNvSpPr/>
          <p:nvPr/>
        </p:nvSpPr>
        <p:spPr>
          <a:xfrm>
            <a:off x="5505025" y="2484125"/>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51" name="Google Shape;551;g3f67a44fbd9_0_87"/>
          <p:cNvSpPr txBox="1"/>
          <p:nvPr/>
        </p:nvSpPr>
        <p:spPr>
          <a:xfrm>
            <a:off x="5505037" y="460070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San</a:t>
            </a:r>
            <a:endParaRPr>
              <a:solidFill>
                <a:srgbClr val="2A2A2A"/>
              </a:solidFill>
            </a:endParaRPr>
          </a:p>
        </p:txBody>
      </p:sp>
      <p:sp>
        <p:nvSpPr>
          <p:cNvPr id="552" name="Google Shape;552;g3f67a44fbd9_0_87"/>
          <p:cNvSpPr txBox="1"/>
          <p:nvPr/>
        </p:nvSpPr>
        <p:spPr>
          <a:xfrm>
            <a:off x="6066837" y="460070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YRI</a:t>
            </a:r>
            <a:endParaRPr>
              <a:solidFill>
                <a:srgbClr val="2A2A2A"/>
              </a:solidFill>
            </a:endParaRPr>
          </a:p>
        </p:txBody>
      </p:sp>
      <p:sp>
        <p:nvSpPr>
          <p:cNvPr id="553" name="Google Shape;553;g3f67a44fbd9_0_87"/>
          <p:cNvSpPr txBox="1"/>
          <p:nvPr/>
        </p:nvSpPr>
        <p:spPr>
          <a:xfrm>
            <a:off x="6563475" y="460070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Nea</a:t>
            </a:r>
            <a:endParaRPr>
              <a:solidFill>
                <a:srgbClr val="2A2A2A"/>
              </a:solidFill>
            </a:endParaRPr>
          </a:p>
        </p:txBody>
      </p:sp>
      <p:sp>
        <p:nvSpPr>
          <p:cNvPr id="554" name="Google Shape;554;g3f67a44fbd9_0_87"/>
          <p:cNvSpPr txBox="1"/>
          <p:nvPr/>
        </p:nvSpPr>
        <p:spPr>
          <a:xfrm>
            <a:off x="7164125" y="460070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Chimp</a:t>
            </a:r>
            <a:endParaRPr>
              <a:solidFill>
                <a:srgbClr val="2A2A2A"/>
              </a:solidFill>
            </a:endParaRPr>
          </a:p>
        </p:txBody>
      </p:sp>
      <p:pic>
        <p:nvPicPr>
          <p:cNvPr id="555" name="Google Shape;555;g3f67a44fbd9_0_87" title="Screenshot 2026-08-07 at 11.07.13.png"/>
          <p:cNvPicPr preferRelativeResize="0"/>
          <p:nvPr/>
        </p:nvPicPr>
        <p:blipFill>
          <a:blip r:embed="rId6">
            <a:alphaModFix/>
          </a:blip>
          <a:stretch>
            <a:fillRect/>
          </a:stretch>
        </p:blipFill>
        <p:spPr>
          <a:xfrm>
            <a:off x="996799" y="4171174"/>
            <a:ext cx="2747601" cy="8034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pic>
        <p:nvPicPr>
          <p:cNvPr id="560" name="Google Shape;560;g3f68fc15589_0_51"/>
          <p:cNvPicPr preferRelativeResize="0"/>
          <p:nvPr/>
        </p:nvPicPr>
        <p:blipFill rotWithShape="1">
          <a:blip r:embed="rId3">
            <a:alphaModFix/>
          </a:blip>
          <a:srcRect/>
          <a:stretch/>
        </p:blipFill>
        <p:spPr>
          <a:xfrm>
            <a:off x="311701" y="1337970"/>
            <a:ext cx="3841699" cy="3137499"/>
          </a:xfrm>
          <a:prstGeom prst="rect">
            <a:avLst/>
          </a:prstGeom>
          <a:noFill/>
          <a:ln>
            <a:noFill/>
          </a:ln>
        </p:spPr>
      </p:pic>
      <p:pic>
        <p:nvPicPr>
          <p:cNvPr id="561" name="Google Shape;561;g3f68fc15589_0_51"/>
          <p:cNvPicPr preferRelativeResize="0"/>
          <p:nvPr/>
        </p:nvPicPr>
        <p:blipFill rotWithShape="1">
          <a:blip r:embed="rId4">
            <a:alphaModFix/>
          </a:blip>
          <a:srcRect/>
          <a:stretch/>
        </p:blipFill>
        <p:spPr>
          <a:xfrm>
            <a:off x="4889103" y="1337973"/>
            <a:ext cx="3641827" cy="3221199"/>
          </a:xfrm>
          <a:prstGeom prst="rect">
            <a:avLst/>
          </a:prstGeom>
          <a:noFill/>
          <a:ln>
            <a:noFill/>
          </a:ln>
        </p:spPr>
      </p:pic>
      <p:sp>
        <p:nvSpPr>
          <p:cNvPr id="562" name="Google Shape;562;g3f68fc15589_0_51"/>
          <p:cNvSpPr txBox="1">
            <a:spLocks noGrp="1"/>
          </p:cNvSpPr>
          <p:nvPr>
            <p:ph type="body" idx="1"/>
          </p:nvPr>
        </p:nvSpPr>
        <p:spPr>
          <a:xfrm>
            <a:off x="311700" y="414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Prediction: If there was gene flow, then the Neanderthal sequence should match alleles in some humans significantly more often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563" name="Google Shape;563;g3f68fc15589_0_51"/>
          <p:cNvSpPr txBox="1"/>
          <p:nvPr/>
        </p:nvSpPr>
        <p:spPr>
          <a:xfrm>
            <a:off x="5322125" y="4559175"/>
            <a:ext cx="3208800" cy="3387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000" b="0" i="0" u="none" strike="noStrike" cap="none">
                <a:solidFill>
                  <a:srgbClr val="000000"/>
                </a:solidFill>
                <a:latin typeface="Arial"/>
                <a:ea typeface="Arial"/>
                <a:cs typeface="Arial"/>
                <a:sym typeface="Arial"/>
              </a:rPr>
              <a:t>(D from 3.8% to 5.3%, |Z| &gt; 7.0 SD) </a:t>
            </a:r>
            <a:endParaRPr sz="1500" b="0" i="0" u="none" strike="noStrike" cap="none">
              <a:solidFill>
                <a:srgbClr val="000000"/>
              </a:solidFill>
              <a:latin typeface="Open Sans"/>
              <a:ea typeface="Open Sans"/>
              <a:cs typeface="Open Sans"/>
              <a:sym typeface="Open Sans"/>
            </a:endParaRPr>
          </a:p>
        </p:txBody>
      </p:sp>
      <p:sp>
        <p:nvSpPr>
          <p:cNvPr id="564" name="Google Shape;564;g3f68fc15589_0_51"/>
          <p:cNvSpPr/>
          <p:nvPr/>
        </p:nvSpPr>
        <p:spPr>
          <a:xfrm>
            <a:off x="4047025" y="4171175"/>
            <a:ext cx="4417800" cy="66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g3f68fc15589_0_51"/>
          <p:cNvSpPr/>
          <p:nvPr/>
        </p:nvSpPr>
        <p:spPr>
          <a:xfrm>
            <a:off x="4495575" y="1265950"/>
            <a:ext cx="4126800" cy="335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66" name="Google Shape;566;g3f68fc15589_0_51"/>
          <p:cNvSpPr/>
          <p:nvPr/>
        </p:nvSpPr>
        <p:spPr>
          <a:xfrm>
            <a:off x="3957302" y="1265950"/>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567" name="Google Shape;567;g3f68fc15589_0_51"/>
          <p:cNvCxnSpPr>
            <a:stCxn id="568" idx="1"/>
          </p:cNvCxnSpPr>
          <p:nvPr/>
        </p:nvCxnSpPr>
        <p:spPr>
          <a:xfrm flipH="1">
            <a:off x="3600850" y="4046600"/>
            <a:ext cx="2146200" cy="226800"/>
          </a:xfrm>
          <a:prstGeom prst="straightConnector1">
            <a:avLst/>
          </a:prstGeom>
          <a:noFill/>
          <a:ln w="19050" cap="flat" cmpd="sng">
            <a:solidFill>
              <a:srgbClr val="45818E"/>
            </a:solidFill>
            <a:prstDash val="solid"/>
            <a:round/>
            <a:headEnd type="none" w="sm" len="sm"/>
            <a:tailEnd type="triangle" w="med" len="med"/>
          </a:ln>
        </p:spPr>
      </p:cxnSp>
      <p:sp>
        <p:nvSpPr>
          <p:cNvPr id="568" name="Google Shape;568;g3f68fc15589_0_51"/>
          <p:cNvSpPr txBox="1"/>
          <p:nvPr/>
        </p:nvSpPr>
        <p:spPr>
          <a:xfrm>
            <a:off x="5747050" y="3738800"/>
            <a:ext cx="30354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Same levels of matching to Neanderthal sequence</a:t>
            </a:r>
            <a:endParaRPr sz="1400" b="1" i="0" u="none" strike="noStrike" cap="none">
              <a:solidFill>
                <a:srgbClr val="45818E"/>
              </a:solidFill>
            </a:endParaRPr>
          </a:p>
        </p:txBody>
      </p:sp>
      <p:sp>
        <p:nvSpPr>
          <p:cNvPr id="569" name="Google Shape;569;g3f68fc15589_0_51"/>
          <p:cNvSpPr txBox="1"/>
          <p:nvPr/>
        </p:nvSpPr>
        <p:spPr>
          <a:xfrm>
            <a:off x="2048813" y="4020375"/>
            <a:ext cx="497400" cy="538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GB" sz="2300" b="1" i="0" u="none" strike="noStrike" cap="none">
                <a:solidFill>
                  <a:srgbClr val="000000"/>
                </a:solidFill>
              </a:rPr>
              <a:t>=</a:t>
            </a:r>
            <a:endParaRPr sz="2300" b="1" i="0" u="none" strike="noStrike" cap="none">
              <a:solidFill>
                <a:srgbClr val="000000"/>
              </a:solidFill>
            </a:endParaRPr>
          </a:p>
        </p:txBody>
      </p:sp>
      <p:sp>
        <p:nvSpPr>
          <p:cNvPr id="570" name="Google Shape;570;g3f68fc15589_0_51"/>
          <p:cNvSpPr txBox="1"/>
          <p:nvPr/>
        </p:nvSpPr>
        <p:spPr>
          <a:xfrm>
            <a:off x="5400000" y="4273400"/>
            <a:ext cx="3432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=&gt; Neanderthal equally close to both African populations</a:t>
            </a:r>
            <a:endParaRPr sz="1400" b="1" i="0" u="none" strike="noStrike" cap="none">
              <a:solidFill>
                <a:srgbClr val="45818E"/>
              </a:solidFill>
            </a:endParaRPr>
          </a:p>
        </p:txBody>
      </p:sp>
      <p:sp>
        <p:nvSpPr>
          <p:cNvPr id="571" name="Google Shape;571;g3f68fc15589_0_51"/>
          <p:cNvSpPr/>
          <p:nvPr/>
        </p:nvSpPr>
        <p:spPr>
          <a:xfrm>
            <a:off x="1114250" y="4150475"/>
            <a:ext cx="7095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72" name="Google Shape;572;g3f68fc15589_0_51"/>
          <p:cNvSpPr/>
          <p:nvPr/>
        </p:nvSpPr>
        <p:spPr>
          <a:xfrm>
            <a:off x="2546225" y="4150475"/>
            <a:ext cx="7095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73" name="Google Shape;573;g3f68fc15589_0_51"/>
          <p:cNvSpPr txBox="1"/>
          <p:nvPr/>
        </p:nvSpPr>
        <p:spPr>
          <a:xfrm>
            <a:off x="-116925" y="4150475"/>
            <a:ext cx="3000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99,515</a:t>
            </a:r>
            <a:endParaRPr b="1"/>
          </a:p>
          <a:p>
            <a:pPr marL="0" lvl="0" indent="0" algn="ctr" rtl="0">
              <a:spcBef>
                <a:spcPts val="0"/>
              </a:spcBef>
              <a:spcAft>
                <a:spcPts val="0"/>
              </a:spcAft>
              <a:buNone/>
            </a:pPr>
            <a:r>
              <a:rPr lang="en-GB" b="1"/>
              <a:t>(# of ABBA sites)</a:t>
            </a:r>
            <a:endParaRPr b="1"/>
          </a:p>
        </p:txBody>
      </p:sp>
      <p:sp>
        <p:nvSpPr>
          <p:cNvPr id="574" name="Google Shape;574;g3f68fc15589_0_51"/>
          <p:cNvSpPr txBox="1"/>
          <p:nvPr/>
        </p:nvSpPr>
        <p:spPr>
          <a:xfrm>
            <a:off x="1885488" y="4150475"/>
            <a:ext cx="2407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99,788</a:t>
            </a:r>
            <a:endParaRPr b="1"/>
          </a:p>
          <a:p>
            <a:pPr marL="0" lvl="0" indent="0" algn="ctr" rtl="0">
              <a:spcBef>
                <a:spcPts val="0"/>
              </a:spcBef>
              <a:spcAft>
                <a:spcPts val="0"/>
              </a:spcAft>
              <a:buNone/>
            </a:pPr>
            <a:r>
              <a:rPr lang="en-GB" b="1"/>
              <a:t>(# of BABA sites)</a:t>
            </a:r>
            <a:endParaRPr b="1"/>
          </a:p>
        </p:txBody>
      </p:sp>
      <p:sp>
        <p:nvSpPr>
          <p:cNvPr id="575" name="Google Shape;575;g3f68fc15589_0_51"/>
          <p:cNvSpPr txBox="1"/>
          <p:nvPr/>
        </p:nvSpPr>
        <p:spPr>
          <a:xfrm>
            <a:off x="5616138" y="3359713"/>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D = -0.1 +/- 0.3, , z=-0.4</a:t>
            </a:r>
            <a:endParaRPr/>
          </a:p>
        </p:txBody>
      </p:sp>
      <p:sp>
        <p:nvSpPr>
          <p:cNvPr id="576" name="Google Shape;576;g3f68fc15589_0_51"/>
          <p:cNvSpPr txBox="1"/>
          <p:nvPr/>
        </p:nvSpPr>
        <p:spPr>
          <a:xfrm>
            <a:off x="4495575" y="1598575"/>
            <a:ext cx="3641700" cy="93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GB" sz="1800">
                <a:solidFill>
                  <a:schemeClr val="dk2"/>
                </a:solidFill>
              </a:rPr>
              <a:t>1 population from </a:t>
            </a:r>
            <a:r>
              <a:rPr lang="en-GB" sz="1800" b="1">
                <a:solidFill>
                  <a:schemeClr val="dk2"/>
                </a:solidFill>
              </a:rPr>
              <a:t>West Africa</a:t>
            </a:r>
            <a:endParaRPr sz="1800" b="1">
              <a:solidFill>
                <a:schemeClr val="dk2"/>
              </a:solidFill>
            </a:endParaRPr>
          </a:p>
          <a:p>
            <a:pPr marL="0" lvl="0" indent="0" algn="l" rtl="0">
              <a:lnSpc>
                <a:spcPct val="115000"/>
              </a:lnSpc>
              <a:spcBef>
                <a:spcPts val="1200"/>
              </a:spcBef>
              <a:spcAft>
                <a:spcPts val="1200"/>
              </a:spcAft>
              <a:buNone/>
            </a:pPr>
            <a:r>
              <a:rPr lang="en-GB" sz="1800">
                <a:solidFill>
                  <a:schemeClr val="dk2"/>
                </a:solidFill>
              </a:rPr>
              <a:t>1 population from </a:t>
            </a:r>
            <a:r>
              <a:rPr lang="en-GB" sz="1800" b="1">
                <a:solidFill>
                  <a:schemeClr val="dk2"/>
                </a:solidFill>
              </a:rPr>
              <a:t>South Africa</a:t>
            </a:r>
            <a:endParaRPr sz="1800" b="1">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pic>
        <p:nvPicPr>
          <p:cNvPr id="581" name="Google Shape;581;g3f68fc15589_0_65"/>
          <p:cNvPicPr preferRelativeResize="0"/>
          <p:nvPr/>
        </p:nvPicPr>
        <p:blipFill rotWithShape="1">
          <a:blip r:embed="rId3">
            <a:alphaModFix/>
          </a:blip>
          <a:srcRect/>
          <a:stretch/>
        </p:blipFill>
        <p:spPr>
          <a:xfrm>
            <a:off x="311701" y="1337970"/>
            <a:ext cx="3841699" cy="3137499"/>
          </a:xfrm>
          <a:prstGeom prst="rect">
            <a:avLst/>
          </a:prstGeom>
          <a:noFill/>
          <a:ln>
            <a:noFill/>
          </a:ln>
        </p:spPr>
      </p:pic>
      <p:pic>
        <p:nvPicPr>
          <p:cNvPr id="582" name="Google Shape;582;g3f68fc15589_0_65"/>
          <p:cNvPicPr preferRelativeResize="0"/>
          <p:nvPr/>
        </p:nvPicPr>
        <p:blipFill rotWithShape="1">
          <a:blip r:embed="rId4">
            <a:alphaModFix/>
          </a:blip>
          <a:srcRect/>
          <a:stretch/>
        </p:blipFill>
        <p:spPr>
          <a:xfrm>
            <a:off x="4889103" y="1337973"/>
            <a:ext cx="3641827" cy="3221199"/>
          </a:xfrm>
          <a:prstGeom prst="rect">
            <a:avLst/>
          </a:prstGeom>
          <a:noFill/>
          <a:ln>
            <a:noFill/>
          </a:ln>
        </p:spPr>
      </p:pic>
      <p:sp>
        <p:nvSpPr>
          <p:cNvPr id="583" name="Google Shape;583;g3f68fc15589_0_65"/>
          <p:cNvSpPr txBox="1">
            <a:spLocks noGrp="1"/>
          </p:cNvSpPr>
          <p:nvPr>
            <p:ph type="body" idx="1"/>
          </p:nvPr>
        </p:nvSpPr>
        <p:spPr>
          <a:xfrm>
            <a:off x="311700" y="414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Prediction: If there was gene flow, then the Neanderthal sequence should match alleles in some humans significantly more often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584" name="Google Shape;584;g3f68fc15589_0_65"/>
          <p:cNvSpPr txBox="1"/>
          <p:nvPr/>
        </p:nvSpPr>
        <p:spPr>
          <a:xfrm>
            <a:off x="5322125" y="4559175"/>
            <a:ext cx="3208800" cy="3387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000" b="0" i="0" u="none" strike="noStrike" cap="none">
                <a:solidFill>
                  <a:srgbClr val="000000"/>
                </a:solidFill>
                <a:latin typeface="Arial"/>
                <a:ea typeface="Arial"/>
                <a:cs typeface="Arial"/>
                <a:sym typeface="Arial"/>
              </a:rPr>
              <a:t>(D from 3.8% to 5.3%, |Z| &gt; 7.0 SD) </a:t>
            </a:r>
            <a:endParaRPr sz="1500" b="0" i="0" u="none" strike="noStrike" cap="none">
              <a:solidFill>
                <a:srgbClr val="000000"/>
              </a:solidFill>
              <a:latin typeface="Open Sans"/>
              <a:ea typeface="Open Sans"/>
              <a:cs typeface="Open Sans"/>
              <a:sym typeface="Open Sans"/>
            </a:endParaRPr>
          </a:p>
        </p:txBody>
      </p:sp>
      <p:sp>
        <p:nvSpPr>
          <p:cNvPr id="585" name="Google Shape;585;g3f68fc15589_0_65"/>
          <p:cNvSpPr/>
          <p:nvPr/>
        </p:nvSpPr>
        <p:spPr>
          <a:xfrm>
            <a:off x="996800" y="4171175"/>
            <a:ext cx="7467900" cy="66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g3f68fc15589_0_65"/>
          <p:cNvSpPr/>
          <p:nvPr/>
        </p:nvSpPr>
        <p:spPr>
          <a:xfrm>
            <a:off x="4495575" y="1265950"/>
            <a:ext cx="4126800" cy="335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87" name="Google Shape;587;g3f68fc15589_0_65"/>
          <p:cNvSpPr txBox="1"/>
          <p:nvPr/>
        </p:nvSpPr>
        <p:spPr>
          <a:xfrm>
            <a:off x="4888988" y="1417100"/>
            <a:ext cx="3641700" cy="93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GB" sz="1800">
                <a:solidFill>
                  <a:schemeClr val="dk2"/>
                </a:solidFill>
              </a:rPr>
              <a:t>1 population from </a:t>
            </a:r>
            <a:r>
              <a:rPr lang="en-GB" sz="1800" b="1">
                <a:solidFill>
                  <a:schemeClr val="dk2"/>
                </a:solidFill>
              </a:rPr>
              <a:t>Europe</a:t>
            </a:r>
            <a:endParaRPr sz="1800" b="1">
              <a:solidFill>
                <a:schemeClr val="dk2"/>
              </a:solidFill>
            </a:endParaRPr>
          </a:p>
          <a:p>
            <a:pPr marL="0" lvl="0" indent="0" algn="l" rtl="0">
              <a:lnSpc>
                <a:spcPct val="115000"/>
              </a:lnSpc>
              <a:spcBef>
                <a:spcPts val="1200"/>
              </a:spcBef>
              <a:spcAft>
                <a:spcPts val="1200"/>
              </a:spcAft>
              <a:buNone/>
            </a:pPr>
            <a:r>
              <a:rPr lang="en-GB" sz="1800">
                <a:solidFill>
                  <a:schemeClr val="dk2"/>
                </a:solidFill>
              </a:rPr>
              <a:t>1 population from </a:t>
            </a:r>
            <a:r>
              <a:rPr lang="en-GB" sz="1800" b="1">
                <a:solidFill>
                  <a:schemeClr val="dk2"/>
                </a:solidFill>
              </a:rPr>
              <a:t>Oceania</a:t>
            </a:r>
            <a:endParaRPr sz="1800" b="1">
              <a:solidFill>
                <a:schemeClr val="dk2"/>
              </a:solidFill>
            </a:endParaRPr>
          </a:p>
        </p:txBody>
      </p:sp>
      <p:sp>
        <p:nvSpPr>
          <p:cNvPr id="588" name="Google Shape;588;g3f68fc15589_0_65"/>
          <p:cNvSpPr/>
          <p:nvPr/>
        </p:nvSpPr>
        <p:spPr>
          <a:xfrm>
            <a:off x="384900" y="1236300"/>
            <a:ext cx="3768600" cy="335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589" name="Google Shape;589;g3f68fc15589_0_65" title="Screenshot 2026-08-07 at 09.51.03.png"/>
          <p:cNvPicPr preferRelativeResize="0"/>
          <p:nvPr/>
        </p:nvPicPr>
        <p:blipFill>
          <a:blip r:embed="rId5">
            <a:alphaModFix/>
          </a:blip>
          <a:stretch>
            <a:fillRect/>
          </a:stretch>
        </p:blipFill>
        <p:spPr>
          <a:xfrm>
            <a:off x="311700" y="1236300"/>
            <a:ext cx="4041700" cy="3449690"/>
          </a:xfrm>
          <a:prstGeom prst="rect">
            <a:avLst/>
          </a:prstGeom>
          <a:noFill/>
          <a:ln>
            <a:noFill/>
          </a:ln>
        </p:spPr>
      </p:pic>
      <p:sp>
        <p:nvSpPr>
          <p:cNvPr id="590" name="Google Shape;590;g3f68fc15589_0_65"/>
          <p:cNvSpPr/>
          <p:nvPr/>
        </p:nvSpPr>
        <p:spPr>
          <a:xfrm>
            <a:off x="135825" y="1227175"/>
            <a:ext cx="335700" cy="335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91" name="Google Shape;591;g3f68fc15589_0_65"/>
          <p:cNvSpPr/>
          <p:nvPr/>
        </p:nvSpPr>
        <p:spPr>
          <a:xfrm>
            <a:off x="4353402" y="1265950"/>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92" name="Google Shape;592;g3f68fc15589_0_65"/>
          <p:cNvSpPr/>
          <p:nvPr/>
        </p:nvSpPr>
        <p:spPr>
          <a:xfrm>
            <a:off x="787300" y="4287800"/>
            <a:ext cx="7467900" cy="66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3" name="Google Shape;593;g3f68fc15589_0_65"/>
          <p:cNvPicPr preferRelativeResize="0"/>
          <p:nvPr/>
        </p:nvPicPr>
        <p:blipFill rotWithShape="1">
          <a:blip r:embed="rId6">
            <a:alphaModFix/>
          </a:blip>
          <a:srcRect r="48160" b="49285"/>
          <a:stretch/>
        </p:blipFill>
        <p:spPr>
          <a:xfrm>
            <a:off x="6032225" y="2377650"/>
            <a:ext cx="1974301" cy="1985600"/>
          </a:xfrm>
          <a:prstGeom prst="rect">
            <a:avLst/>
          </a:prstGeom>
          <a:noFill/>
          <a:ln>
            <a:noFill/>
          </a:ln>
        </p:spPr>
      </p:pic>
      <p:sp>
        <p:nvSpPr>
          <p:cNvPr id="594" name="Google Shape;594;g3f68fc15589_0_65"/>
          <p:cNvSpPr txBox="1"/>
          <p:nvPr/>
        </p:nvSpPr>
        <p:spPr>
          <a:xfrm>
            <a:off x="6032225" y="421695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595" name="Google Shape;595;g3f68fc15589_0_65"/>
          <p:cNvSpPr txBox="1"/>
          <p:nvPr/>
        </p:nvSpPr>
        <p:spPr>
          <a:xfrm>
            <a:off x="6494250" y="421695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596" name="Google Shape;596;g3f68fc15589_0_65"/>
          <p:cNvSpPr txBox="1"/>
          <p:nvPr/>
        </p:nvSpPr>
        <p:spPr>
          <a:xfrm>
            <a:off x="6992275" y="4216950"/>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597" name="Google Shape;597;g3f68fc15589_0_65"/>
          <p:cNvSpPr txBox="1"/>
          <p:nvPr/>
        </p:nvSpPr>
        <p:spPr>
          <a:xfrm>
            <a:off x="7475450" y="4216950"/>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598" name="Google Shape;598;g3f68fc15589_0_65"/>
          <p:cNvSpPr/>
          <p:nvPr/>
        </p:nvSpPr>
        <p:spPr>
          <a:xfrm>
            <a:off x="5940350" y="235130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99" name="Google Shape;599;g3f68fc15589_0_65"/>
          <p:cNvSpPr txBox="1"/>
          <p:nvPr/>
        </p:nvSpPr>
        <p:spPr>
          <a:xfrm>
            <a:off x="5940362" y="4467875"/>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FR</a:t>
            </a:r>
            <a:endParaRPr>
              <a:solidFill>
                <a:srgbClr val="2A2A2A"/>
              </a:solidFill>
            </a:endParaRPr>
          </a:p>
        </p:txBody>
      </p:sp>
      <p:sp>
        <p:nvSpPr>
          <p:cNvPr id="600" name="Google Shape;600;g3f68fc15589_0_65"/>
          <p:cNvSpPr txBox="1"/>
          <p:nvPr/>
        </p:nvSpPr>
        <p:spPr>
          <a:xfrm>
            <a:off x="6502162" y="4467875"/>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Pap</a:t>
            </a:r>
            <a:endParaRPr>
              <a:solidFill>
                <a:srgbClr val="2A2A2A"/>
              </a:solidFill>
            </a:endParaRPr>
          </a:p>
        </p:txBody>
      </p:sp>
      <p:sp>
        <p:nvSpPr>
          <p:cNvPr id="601" name="Google Shape;601;g3f68fc15589_0_65"/>
          <p:cNvSpPr txBox="1"/>
          <p:nvPr/>
        </p:nvSpPr>
        <p:spPr>
          <a:xfrm>
            <a:off x="6998800" y="4467875"/>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Nea</a:t>
            </a:r>
            <a:endParaRPr>
              <a:solidFill>
                <a:srgbClr val="2A2A2A"/>
              </a:solidFill>
            </a:endParaRPr>
          </a:p>
        </p:txBody>
      </p:sp>
      <p:sp>
        <p:nvSpPr>
          <p:cNvPr id="602" name="Google Shape;602;g3f68fc15589_0_65"/>
          <p:cNvSpPr txBox="1"/>
          <p:nvPr/>
        </p:nvSpPr>
        <p:spPr>
          <a:xfrm>
            <a:off x="7599450" y="4467875"/>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Chimp</a:t>
            </a:r>
            <a:endParaRPr>
              <a:solidFill>
                <a:srgbClr val="2A2A2A"/>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pic>
        <p:nvPicPr>
          <p:cNvPr id="607" name="Google Shape;607;g3f68fc15589_0_81"/>
          <p:cNvPicPr preferRelativeResize="0"/>
          <p:nvPr/>
        </p:nvPicPr>
        <p:blipFill rotWithShape="1">
          <a:blip r:embed="rId3">
            <a:alphaModFix/>
          </a:blip>
          <a:srcRect/>
          <a:stretch/>
        </p:blipFill>
        <p:spPr>
          <a:xfrm>
            <a:off x="311701" y="1337970"/>
            <a:ext cx="3841699" cy="3137499"/>
          </a:xfrm>
          <a:prstGeom prst="rect">
            <a:avLst/>
          </a:prstGeom>
          <a:noFill/>
          <a:ln>
            <a:noFill/>
          </a:ln>
        </p:spPr>
      </p:pic>
      <p:pic>
        <p:nvPicPr>
          <p:cNvPr id="608" name="Google Shape;608;g3f68fc15589_0_81"/>
          <p:cNvPicPr preferRelativeResize="0"/>
          <p:nvPr/>
        </p:nvPicPr>
        <p:blipFill rotWithShape="1">
          <a:blip r:embed="rId4">
            <a:alphaModFix/>
          </a:blip>
          <a:srcRect/>
          <a:stretch/>
        </p:blipFill>
        <p:spPr>
          <a:xfrm>
            <a:off x="4889103" y="1337973"/>
            <a:ext cx="3641827" cy="3221199"/>
          </a:xfrm>
          <a:prstGeom prst="rect">
            <a:avLst/>
          </a:prstGeom>
          <a:noFill/>
          <a:ln>
            <a:noFill/>
          </a:ln>
        </p:spPr>
      </p:pic>
      <p:sp>
        <p:nvSpPr>
          <p:cNvPr id="609" name="Google Shape;609;g3f68fc15589_0_81"/>
          <p:cNvSpPr txBox="1">
            <a:spLocks noGrp="1"/>
          </p:cNvSpPr>
          <p:nvPr>
            <p:ph type="body" idx="1"/>
          </p:nvPr>
        </p:nvSpPr>
        <p:spPr>
          <a:xfrm>
            <a:off x="311700" y="414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Prediction: If there was gene flow, then the Neanderthal sequence should match alleles in some humans significantly more often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610" name="Google Shape;610;g3f68fc15589_0_81"/>
          <p:cNvSpPr txBox="1"/>
          <p:nvPr/>
        </p:nvSpPr>
        <p:spPr>
          <a:xfrm>
            <a:off x="5322125" y="4559175"/>
            <a:ext cx="3208800" cy="3387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000" b="0" i="0" u="none" strike="noStrike" cap="none">
                <a:solidFill>
                  <a:srgbClr val="000000"/>
                </a:solidFill>
                <a:latin typeface="Arial"/>
                <a:ea typeface="Arial"/>
                <a:cs typeface="Arial"/>
                <a:sym typeface="Arial"/>
              </a:rPr>
              <a:t>(D from 3.8% to 5.3%, |Z| &gt; 7.0 SD) </a:t>
            </a:r>
            <a:endParaRPr sz="1500" b="0" i="0" u="none" strike="noStrike" cap="none">
              <a:solidFill>
                <a:srgbClr val="000000"/>
              </a:solidFill>
              <a:latin typeface="Open Sans"/>
              <a:ea typeface="Open Sans"/>
              <a:cs typeface="Open Sans"/>
              <a:sym typeface="Open Sans"/>
            </a:endParaRPr>
          </a:p>
        </p:txBody>
      </p:sp>
      <p:sp>
        <p:nvSpPr>
          <p:cNvPr id="611" name="Google Shape;611;g3f68fc15589_0_81"/>
          <p:cNvSpPr/>
          <p:nvPr/>
        </p:nvSpPr>
        <p:spPr>
          <a:xfrm>
            <a:off x="996800" y="4171175"/>
            <a:ext cx="7467900" cy="66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g3f68fc15589_0_81"/>
          <p:cNvSpPr/>
          <p:nvPr/>
        </p:nvSpPr>
        <p:spPr>
          <a:xfrm>
            <a:off x="4495575" y="1265950"/>
            <a:ext cx="4126800" cy="335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13" name="Google Shape;613;g3f68fc15589_0_81"/>
          <p:cNvSpPr/>
          <p:nvPr/>
        </p:nvSpPr>
        <p:spPr>
          <a:xfrm>
            <a:off x="384900" y="1236300"/>
            <a:ext cx="3768600" cy="335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614" name="Google Shape;614;g3f68fc15589_0_81" title="Screenshot 2026-08-07 at 09.51.03.png"/>
          <p:cNvPicPr preferRelativeResize="0"/>
          <p:nvPr/>
        </p:nvPicPr>
        <p:blipFill>
          <a:blip r:embed="rId5">
            <a:alphaModFix/>
          </a:blip>
          <a:stretch>
            <a:fillRect/>
          </a:stretch>
        </p:blipFill>
        <p:spPr>
          <a:xfrm>
            <a:off x="311700" y="1236300"/>
            <a:ext cx="4041700" cy="3449690"/>
          </a:xfrm>
          <a:prstGeom prst="rect">
            <a:avLst/>
          </a:prstGeom>
          <a:noFill/>
          <a:ln>
            <a:noFill/>
          </a:ln>
        </p:spPr>
      </p:pic>
      <p:sp>
        <p:nvSpPr>
          <p:cNvPr id="615" name="Google Shape;615;g3f68fc15589_0_81"/>
          <p:cNvSpPr/>
          <p:nvPr/>
        </p:nvSpPr>
        <p:spPr>
          <a:xfrm>
            <a:off x="135825" y="1227175"/>
            <a:ext cx="335700" cy="335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16" name="Google Shape;616;g3f68fc15589_0_81"/>
          <p:cNvSpPr/>
          <p:nvPr/>
        </p:nvSpPr>
        <p:spPr>
          <a:xfrm>
            <a:off x="4353402" y="1265950"/>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617" name="Google Shape;617;g3f68fc15589_0_81"/>
          <p:cNvCxnSpPr/>
          <p:nvPr/>
        </p:nvCxnSpPr>
        <p:spPr>
          <a:xfrm flipH="1">
            <a:off x="3714650" y="3984250"/>
            <a:ext cx="2035200" cy="330300"/>
          </a:xfrm>
          <a:prstGeom prst="straightConnector1">
            <a:avLst/>
          </a:prstGeom>
          <a:noFill/>
          <a:ln w="19050" cap="flat" cmpd="sng">
            <a:solidFill>
              <a:srgbClr val="45818E"/>
            </a:solidFill>
            <a:prstDash val="solid"/>
            <a:round/>
            <a:headEnd type="none" w="sm" len="sm"/>
            <a:tailEnd type="triangle" w="med" len="med"/>
          </a:ln>
        </p:spPr>
      </p:cxnSp>
      <p:sp>
        <p:nvSpPr>
          <p:cNvPr id="618" name="Google Shape;618;g3f68fc15589_0_81"/>
          <p:cNvSpPr txBox="1"/>
          <p:nvPr/>
        </p:nvSpPr>
        <p:spPr>
          <a:xfrm>
            <a:off x="5747050" y="3387793"/>
            <a:ext cx="30354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Same levels of matching to Neanderthal sequence</a:t>
            </a:r>
            <a:endParaRPr sz="1400" b="1" i="0" u="none" strike="noStrike" cap="none">
              <a:solidFill>
                <a:srgbClr val="45818E"/>
              </a:solidFill>
            </a:endParaRPr>
          </a:p>
        </p:txBody>
      </p:sp>
      <p:sp>
        <p:nvSpPr>
          <p:cNvPr id="619" name="Google Shape;619;g3f68fc15589_0_81"/>
          <p:cNvSpPr/>
          <p:nvPr/>
        </p:nvSpPr>
        <p:spPr>
          <a:xfrm>
            <a:off x="615650" y="4367550"/>
            <a:ext cx="2845800" cy="469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20" name="Google Shape;620;g3f68fc15589_0_81"/>
          <p:cNvSpPr txBox="1"/>
          <p:nvPr/>
        </p:nvSpPr>
        <p:spPr>
          <a:xfrm>
            <a:off x="-56525" y="4196375"/>
            <a:ext cx="3000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70,094</a:t>
            </a:r>
            <a:endParaRPr b="1"/>
          </a:p>
          <a:p>
            <a:pPr marL="0" lvl="0" indent="0" algn="ctr" rtl="0">
              <a:spcBef>
                <a:spcPts val="0"/>
              </a:spcBef>
              <a:spcAft>
                <a:spcPts val="0"/>
              </a:spcAft>
              <a:buNone/>
            </a:pPr>
            <a:r>
              <a:rPr lang="en-GB" b="1"/>
              <a:t>(# of ABBA sites)</a:t>
            </a:r>
            <a:endParaRPr b="1"/>
          </a:p>
        </p:txBody>
      </p:sp>
      <p:sp>
        <p:nvSpPr>
          <p:cNvPr id="621" name="Google Shape;621;g3f68fc15589_0_81"/>
          <p:cNvSpPr txBox="1"/>
          <p:nvPr/>
        </p:nvSpPr>
        <p:spPr>
          <a:xfrm>
            <a:off x="1945888" y="4196375"/>
            <a:ext cx="2407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70,093</a:t>
            </a:r>
            <a:endParaRPr b="1"/>
          </a:p>
          <a:p>
            <a:pPr marL="0" lvl="0" indent="0" algn="ctr" rtl="0">
              <a:spcBef>
                <a:spcPts val="0"/>
              </a:spcBef>
              <a:spcAft>
                <a:spcPts val="0"/>
              </a:spcAft>
              <a:buNone/>
            </a:pPr>
            <a:r>
              <a:rPr lang="en-GB" b="1"/>
              <a:t>(# of BABA sites)</a:t>
            </a:r>
            <a:endParaRPr b="1"/>
          </a:p>
        </p:txBody>
      </p:sp>
      <p:sp>
        <p:nvSpPr>
          <p:cNvPr id="622" name="Google Shape;622;g3f68fc15589_0_81"/>
          <p:cNvSpPr txBox="1"/>
          <p:nvPr/>
        </p:nvSpPr>
        <p:spPr>
          <a:xfrm>
            <a:off x="2114075" y="4171175"/>
            <a:ext cx="30000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300" b="1"/>
              <a:t>=</a:t>
            </a:r>
            <a:endParaRPr/>
          </a:p>
        </p:txBody>
      </p:sp>
      <p:sp>
        <p:nvSpPr>
          <p:cNvPr id="623" name="Google Shape;623;g3f68fc15589_0_81"/>
          <p:cNvSpPr txBox="1"/>
          <p:nvPr/>
        </p:nvSpPr>
        <p:spPr>
          <a:xfrm>
            <a:off x="5530925" y="407040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rgbClr val="45818E"/>
                </a:solidFill>
              </a:rPr>
              <a:t>=&gt; Neanderthal equally close to both non-African populations</a:t>
            </a:r>
            <a:endParaRPr/>
          </a:p>
        </p:txBody>
      </p:sp>
      <p:sp>
        <p:nvSpPr>
          <p:cNvPr id="624" name="Google Shape;624;g3f68fc15589_0_81"/>
          <p:cNvSpPr txBox="1"/>
          <p:nvPr/>
        </p:nvSpPr>
        <p:spPr>
          <a:xfrm>
            <a:off x="5426525" y="3066600"/>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D = 0 +/- 0.5, z=0.0</a:t>
            </a:r>
            <a:endParaRPr/>
          </a:p>
        </p:txBody>
      </p:sp>
      <p:sp>
        <p:nvSpPr>
          <p:cNvPr id="625" name="Google Shape;625;g3f68fc15589_0_81"/>
          <p:cNvSpPr txBox="1"/>
          <p:nvPr/>
        </p:nvSpPr>
        <p:spPr>
          <a:xfrm>
            <a:off x="4888988" y="1417100"/>
            <a:ext cx="3641700" cy="93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GB" sz="1800">
                <a:solidFill>
                  <a:schemeClr val="dk2"/>
                </a:solidFill>
              </a:rPr>
              <a:t>1 population from </a:t>
            </a:r>
            <a:r>
              <a:rPr lang="en-GB" sz="1800" b="1">
                <a:solidFill>
                  <a:schemeClr val="dk2"/>
                </a:solidFill>
              </a:rPr>
              <a:t>Europe</a:t>
            </a:r>
            <a:endParaRPr sz="1800" b="1">
              <a:solidFill>
                <a:schemeClr val="dk2"/>
              </a:solidFill>
            </a:endParaRPr>
          </a:p>
          <a:p>
            <a:pPr marL="0" lvl="0" indent="0" algn="l" rtl="0">
              <a:lnSpc>
                <a:spcPct val="115000"/>
              </a:lnSpc>
              <a:spcBef>
                <a:spcPts val="1200"/>
              </a:spcBef>
              <a:spcAft>
                <a:spcPts val="1200"/>
              </a:spcAft>
              <a:buNone/>
            </a:pPr>
            <a:r>
              <a:rPr lang="en-GB" sz="1800">
                <a:solidFill>
                  <a:schemeClr val="dk2"/>
                </a:solidFill>
              </a:rPr>
              <a:t>1 population from </a:t>
            </a:r>
            <a:r>
              <a:rPr lang="en-GB" sz="1800" b="1">
                <a:solidFill>
                  <a:schemeClr val="dk2"/>
                </a:solidFill>
              </a:rPr>
              <a:t>Oceania</a:t>
            </a:r>
            <a:endParaRPr sz="1800" b="1">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pic>
        <p:nvPicPr>
          <p:cNvPr id="630" name="Google Shape;630;g3f68fc15589_0_100"/>
          <p:cNvPicPr preferRelativeResize="0"/>
          <p:nvPr/>
        </p:nvPicPr>
        <p:blipFill rotWithShape="1">
          <a:blip r:embed="rId3">
            <a:alphaModFix/>
          </a:blip>
          <a:srcRect/>
          <a:stretch/>
        </p:blipFill>
        <p:spPr>
          <a:xfrm>
            <a:off x="562028" y="1279648"/>
            <a:ext cx="3641827" cy="3221199"/>
          </a:xfrm>
          <a:prstGeom prst="rect">
            <a:avLst/>
          </a:prstGeom>
          <a:noFill/>
          <a:ln>
            <a:noFill/>
          </a:ln>
        </p:spPr>
      </p:pic>
      <p:sp>
        <p:nvSpPr>
          <p:cNvPr id="631" name="Google Shape;631;g3f68fc15589_0_100"/>
          <p:cNvSpPr txBox="1">
            <a:spLocks noGrp="1"/>
          </p:cNvSpPr>
          <p:nvPr>
            <p:ph type="body" idx="1"/>
          </p:nvPr>
        </p:nvSpPr>
        <p:spPr>
          <a:xfrm>
            <a:off x="311700" y="414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Prediction: If there was gene flow, then the Neanderthal sequence should match alleles in some humans significantly more often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632" name="Google Shape;632;g3f68fc15589_0_100"/>
          <p:cNvSpPr txBox="1"/>
          <p:nvPr/>
        </p:nvSpPr>
        <p:spPr>
          <a:xfrm>
            <a:off x="778538" y="4629150"/>
            <a:ext cx="3208800" cy="3387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000" b="0" i="0" u="none" strike="noStrike" cap="none">
                <a:solidFill>
                  <a:srgbClr val="000000"/>
                </a:solidFill>
                <a:latin typeface="Arial"/>
                <a:ea typeface="Arial"/>
                <a:cs typeface="Arial"/>
                <a:sym typeface="Arial"/>
              </a:rPr>
              <a:t>(D from 3.8% to 5.3%, |Z| &gt; 7.0 SD) </a:t>
            </a:r>
            <a:endParaRPr sz="1500" b="0" i="0" u="none" strike="noStrike" cap="none">
              <a:solidFill>
                <a:srgbClr val="000000"/>
              </a:solidFill>
              <a:latin typeface="Open Sans"/>
              <a:ea typeface="Open Sans"/>
              <a:cs typeface="Open Sans"/>
              <a:sym typeface="Open Sans"/>
            </a:endParaRPr>
          </a:p>
        </p:txBody>
      </p:sp>
      <p:sp>
        <p:nvSpPr>
          <p:cNvPr id="633" name="Google Shape;633;g3f68fc15589_0_100"/>
          <p:cNvSpPr txBox="1"/>
          <p:nvPr/>
        </p:nvSpPr>
        <p:spPr>
          <a:xfrm>
            <a:off x="4908313" y="1456425"/>
            <a:ext cx="3641700" cy="93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GB" sz="1800">
                <a:solidFill>
                  <a:schemeClr val="dk2"/>
                </a:solidFill>
              </a:rPr>
              <a:t>1 population from </a:t>
            </a:r>
            <a:r>
              <a:rPr lang="en-GB" sz="1800" b="1">
                <a:solidFill>
                  <a:schemeClr val="dk2"/>
                </a:solidFill>
              </a:rPr>
              <a:t>Europe</a:t>
            </a:r>
            <a:endParaRPr sz="1800" b="1">
              <a:solidFill>
                <a:schemeClr val="dk2"/>
              </a:solidFill>
            </a:endParaRPr>
          </a:p>
          <a:p>
            <a:pPr marL="0" lvl="0" indent="0" algn="l" rtl="0">
              <a:lnSpc>
                <a:spcPct val="115000"/>
              </a:lnSpc>
              <a:spcBef>
                <a:spcPts val="1200"/>
              </a:spcBef>
              <a:spcAft>
                <a:spcPts val="1200"/>
              </a:spcAft>
              <a:buNone/>
            </a:pPr>
            <a:r>
              <a:rPr lang="en-GB" sz="1800">
                <a:solidFill>
                  <a:schemeClr val="dk2"/>
                </a:solidFill>
              </a:rPr>
              <a:t>1 population from </a:t>
            </a:r>
            <a:r>
              <a:rPr lang="en-GB" sz="1800" b="1">
                <a:solidFill>
                  <a:schemeClr val="dk2"/>
                </a:solidFill>
              </a:rPr>
              <a:t>West Africa</a:t>
            </a:r>
            <a:endParaRPr sz="1800" b="1">
              <a:solidFill>
                <a:schemeClr val="dk2"/>
              </a:solidFill>
            </a:endParaRPr>
          </a:p>
        </p:txBody>
      </p:sp>
      <p:sp>
        <p:nvSpPr>
          <p:cNvPr id="634" name="Google Shape;634;g3f68fc15589_0_100"/>
          <p:cNvSpPr/>
          <p:nvPr/>
        </p:nvSpPr>
        <p:spPr>
          <a:xfrm>
            <a:off x="4353402" y="1265950"/>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35" name="Google Shape;635;g3f68fc15589_0_100"/>
          <p:cNvSpPr/>
          <p:nvPr/>
        </p:nvSpPr>
        <p:spPr>
          <a:xfrm>
            <a:off x="562025" y="4101175"/>
            <a:ext cx="7472700" cy="785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36" name="Google Shape;636;g3f68fc15589_0_100"/>
          <p:cNvPicPr preferRelativeResize="0"/>
          <p:nvPr/>
        </p:nvPicPr>
        <p:blipFill rotWithShape="1">
          <a:blip r:embed="rId4">
            <a:alphaModFix/>
          </a:blip>
          <a:srcRect r="48160" b="49285"/>
          <a:stretch/>
        </p:blipFill>
        <p:spPr>
          <a:xfrm>
            <a:off x="5509525" y="2416975"/>
            <a:ext cx="1974301" cy="1985600"/>
          </a:xfrm>
          <a:prstGeom prst="rect">
            <a:avLst/>
          </a:prstGeom>
          <a:noFill/>
          <a:ln>
            <a:noFill/>
          </a:ln>
        </p:spPr>
      </p:pic>
      <p:sp>
        <p:nvSpPr>
          <p:cNvPr id="637" name="Google Shape;637;g3f68fc15589_0_100"/>
          <p:cNvSpPr txBox="1"/>
          <p:nvPr/>
        </p:nvSpPr>
        <p:spPr>
          <a:xfrm>
            <a:off x="5509525" y="42562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638" name="Google Shape;638;g3f68fc15589_0_100"/>
          <p:cNvSpPr txBox="1"/>
          <p:nvPr/>
        </p:nvSpPr>
        <p:spPr>
          <a:xfrm>
            <a:off x="5971550" y="42562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639" name="Google Shape;639;g3f68fc15589_0_100"/>
          <p:cNvSpPr txBox="1"/>
          <p:nvPr/>
        </p:nvSpPr>
        <p:spPr>
          <a:xfrm>
            <a:off x="6469575" y="42562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640" name="Google Shape;640;g3f68fc15589_0_100"/>
          <p:cNvSpPr txBox="1"/>
          <p:nvPr/>
        </p:nvSpPr>
        <p:spPr>
          <a:xfrm>
            <a:off x="6952750" y="42562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641" name="Google Shape;641;g3f68fc15589_0_100"/>
          <p:cNvSpPr/>
          <p:nvPr/>
        </p:nvSpPr>
        <p:spPr>
          <a:xfrm>
            <a:off x="5417650" y="2390625"/>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2" name="Google Shape;642;g3f68fc15589_0_100"/>
          <p:cNvSpPr txBox="1"/>
          <p:nvPr/>
        </p:nvSpPr>
        <p:spPr>
          <a:xfrm>
            <a:off x="5417662" y="450720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FR</a:t>
            </a:r>
            <a:endParaRPr>
              <a:solidFill>
                <a:srgbClr val="2A2A2A"/>
              </a:solidFill>
            </a:endParaRPr>
          </a:p>
        </p:txBody>
      </p:sp>
      <p:sp>
        <p:nvSpPr>
          <p:cNvPr id="643" name="Google Shape;643;g3f68fc15589_0_100"/>
          <p:cNvSpPr txBox="1"/>
          <p:nvPr/>
        </p:nvSpPr>
        <p:spPr>
          <a:xfrm>
            <a:off x="5979462" y="450720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YRI</a:t>
            </a:r>
            <a:endParaRPr>
              <a:solidFill>
                <a:srgbClr val="2A2A2A"/>
              </a:solidFill>
            </a:endParaRPr>
          </a:p>
        </p:txBody>
      </p:sp>
      <p:sp>
        <p:nvSpPr>
          <p:cNvPr id="644" name="Google Shape;644;g3f68fc15589_0_100"/>
          <p:cNvSpPr txBox="1"/>
          <p:nvPr/>
        </p:nvSpPr>
        <p:spPr>
          <a:xfrm>
            <a:off x="6476100" y="450720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Nea</a:t>
            </a:r>
            <a:endParaRPr>
              <a:solidFill>
                <a:srgbClr val="2A2A2A"/>
              </a:solidFill>
            </a:endParaRPr>
          </a:p>
        </p:txBody>
      </p:sp>
      <p:sp>
        <p:nvSpPr>
          <p:cNvPr id="645" name="Google Shape;645;g3f68fc15589_0_100"/>
          <p:cNvSpPr txBox="1"/>
          <p:nvPr/>
        </p:nvSpPr>
        <p:spPr>
          <a:xfrm>
            <a:off x="7076750" y="450720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Chimp</a:t>
            </a:r>
            <a:endParaRPr>
              <a:solidFill>
                <a:srgbClr val="2A2A2A"/>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pic>
        <p:nvPicPr>
          <p:cNvPr id="650" name="Google Shape;650;p19"/>
          <p:cNvPicPr preferRelativeResize="0"/>
          <p:nvPr/>
        </p:nvPicPr>
        <p:blipFill rotWithShape="1">
          <a:blip r:embed="rId3">
            <a:alphaModFix/>
          </a:blip>
          <a:srcRect/>
          <a:stretch/>
        </p:blipFill>
        <p:spPr>
          <a:xfrm>
            <a:off x="562028" y="1279648"/>
            <a:ext cx="3641827" cy="3221199"/>
          </a:xfrm>
          <a:prstGeom prst="rect">
            <a:avLst/>
          </a:prstGeom>
          <a:noFill/>
          <a:ln>
            <a:noFill/>
          </a:ln>
        </p:spPr>
      </p:pic>
      <p:sp>
        <p:nvSpPr>
          <p:cNvPr id="651" name="Google Shape;651;p19"/>
          <p:cNvSpPr txBox="1">
            <a:spLocks noGrp="1"/>
          </p:cNvSpPr>
          <p:nvPr>
            <p:ph type="body" idx="1"/>
          </p:nvPr>
        </p:nvSpPr>
        <p:spPr>
          <a:xfrm>
            <a:off x="311700" y="414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Prediction: If there was gene flow, then the Neanderthal sequence should match alleles in some humans significantly more often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652" name="Google Shape;652;p19"/>
          <p:cNvSpPr txBox="1"/>
          <p:nvPr/>
        </p:nvSpPr>
        <p:spPr>
          <a:xfrm>
            <a:off x="778538" y="4629150"/>
            <a:ext cx="3208800" cy="3849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300" b="0" i="0" u="none" strike="noStrike" cap="none">
                <a:solidFill>
                  <a:srgbClr val="000000"/>
                </a:solidFill>
                <a:latin typeface="Arial"/>
                <a:ea typeface="Arial"/>
                <a:cs typeface="Arial"/>
                <a:sym typeface="Arial"/>
              </a:rPr>
              <a:t>(</a:t>
            </a:r>
            <a:r>
              <a:rPr lang="en-GB" sz="1300" b="1" i="0" u="none" strike="noStrike" cap="none">
                <a:solidFill>
                  <a:srgbClr val="000000"/>
                </a:solidFill>
              </a:rPr>
              <a:t>D</a:t>
            </a:r>
            <a:r>
              <a:rPr lang="en-GB" sz="1300" b="0" i="0" u="none" strike="noStrike" cap="none">
                <a:solidFill>
                  <a:srgbClr val="000000"/>
                </a:solidFill>
                <a:latin typeface="Arial"/>
                <a:ea typeface="Arial"/>
                <a:cs typeface="Arial"/>
                <a:sym typeface="Arial"/>
              </a:rPr>
              <a:t> from 3.</a:t>
            </a:r>
            <a:r>
              <a:rPr lang="en-GB" sz="1300"/>
              <a:t>8</a:t>
            </a:r>
            <a:r>
              <a:rPr lang="en-GB" sz="1300" b="0" i="0" u="none" strike="noStrike" cap="none">
                <a:solidFill>
                  <a:srgbClr val="000000"/>
                </a:solidFill>
                <a:latin typeface="Arial"/>
                <a:ea typeface="Arial"/>
                <a:cs typeface="Arial"/>
                <a:sym typeface="Arial"/>
              </a:rPr>
              <a:t> to 5.</a:t>
            </a:r>
            <a:r>
              <a:rPr lang="en-GB" sz="1300"/>
              <a:t>3</a:t>
            </a:r>
            <a:r>
              <a:rPr lang="en-GB" sz="1300" b="0" i="0" u="none" strike="noStrike" cap="none">
                <a:solidFill>
                  <a:srgbClr val="000000"/>
                </a:solidFill>
                <a:latin typeface="Arial"/>
                <a:ea typeface="Arial"/>
                <a:cs typeface="Arial"/>
                <a:sym typeface="Arial"/>
              </a:rPr>
              <a:t>, </a:t>
            </a:r>
            <a:r>
              <a:rPr lang="en-GB" sz="1300" b="1" i="0" u="none" strike="noStrike" cap="none">
                <a:solidFill>
                  <a:srgbClr val="CC0000"/>
                </a:solidFill>
              </a:rPr>
              <a:t>|Z| &gt; 7.0</a:t>
            </a:r>
            <a:r>
              <a:rPr lang="en-GB" sz="1300" b="0" i="0" u="none" strike="noStrike" cap="none">
                <a:solidFill>
                  <a:srgbClr val="000000"/>
                </a:solidFill>
                <a:latin typeface="Arial"/>
                <a:ea typeface="Arial"/>
                <a:cs typeface="Arial"/>
                <a:sym typeface="Arial"/>
              </a:rPr>
              <a:t>)</a:t>
            </a:r>
            <a:r>
              <a:rPr lang="en-GB" sz="1000" b="0" i="0" u="none" strike="noStrike" cap="none">
                <a:solidFill>
                  <a:srgbClr val="000000"/>
                </a:solidFill>
                <a:latin typeface="Arial"/>
                <a:ea typeface="Arial"/>
                <a:cs typeface="Arial"/>
                <a:sym typeface="Arial"/>
              </a:rPr>
              <a:t> </a:t>
            </a:r>
            <a:endParaRPr sz="1500" b="0" i="0" u="none" strike="noStrike" cap="none">
              <a:solidFill>
                <a:srgbClr val="000000"/>
              </a:solidFill>
              <a:latin typeface="Open Sans"/>
              <a:ea typeface="Open Sans"/>
              <a:cs typeface="Open Sans"/>
              <a:sym typeface="Open Sans"/>
            </a:endParaRPr>
          </a:p>
        </p:txBody>
      </p:sp>
      <p:sp>
        <p:nvSpPr>
          <p:cNvPr id="653" name="Google Shape;653;p19"/>
          <p:cNvSpPr/>
          <p:nvPr/>
        </p:nvSpPr>
        <p:spPr>
          <a:xfrm>
            <a:off x="4353402" y="1265950"/>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54" name="Google Shape;654;p19"/>
          <p:cNvSpPr txBox="1"/>
          <p:nvPr/>
        </p:nvSpPr>
        <p:spPr>
          <a:xfrm>
            <a:off x="2122725" y="4032050"/>
            <a:ext cx="30000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300" b="1"/>
              <a:t>!=</a:t>
            </a:r>
            <a:endParaRPr/>
          </a:p>
        </p:txBody>
      </p:sp>
      <p:sp>
        <p:nvSpPr>
          <p:cNvPr id="655" name="Google Shape;655;p19"/>
          <p:cNvSpPr txBox="1"/>
          <p:nvPr/>
        </p:nvSpPr>
        <p:spPr>
          <a:xfrm>
            <a:off x="0" y="4395813"/>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 of </a:t>
            </a:r>
            <a:r>
              <a:rPr lang="en-GB" b="1">
                <a:solidFill>
                  <a:srgbClr val="CC0000"/>
                </a:solidFill>
              </a:rPr>
              <a:t>BABA </a:t>
            </a:r>
            <a:r>
              <a:rPr lang="en-GB" b="1"/>
              <a:t>sites)</a:t>
            </a:r>
            <a:endParaRPr b="1"/>
          </a:p>
        </p:txBody>
      </p:sp>
      <p:sp>
        <p:nvSpPr>
          <p:cNvPr id="656" name="Google Shape;656;p19"/>
          <p:cNvSpPr txBox="1"/>
          <p:nvPr/>
        </p:nvSpPr>
        <p:spPr>
          <a:xfrm>
            <a:off x="1889175" y="4326125"/>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 of ABBA sites)</a:t>
            </a:r>
            <a:endParaRPr b="1"/>
          </a:p>
        </p:txBody>
      </p:sp>
      <p:sp>
        <p:nvSpPr>
          <p:cNvPr id="657" name="Google Shape;657;p19"/>
          <p:cNvSpPr txBox="1"/>
          <p:nvPr/>
        </p:nvSpPr>
        <p:spPr>
          <a:xfrm>
            <a:off x="4889163" y="1746825"/>
            <a:ext cx="3641700" cy="93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GB" sz="1800">
                <a:solidFill>
                  <a:schemeClr val="dk2"/>
                </a:solidFill>
              </a:rPr>
              <a:t>1 population from </a:t>
            </a:r>
            <a:r>
              <a:rPr lang="en-GB" sz="1800" b="1">
                <a:solidFill>
                  <a:schemeClr val="dk2"/>
                </a:solidFill>
              </a:rPr>
              <a:t>Europe</a:t>
            </a:r>
            <a:endParaRPr sz="1800" b="1">
              <a:solidFill>
                <a:schemeClr val="dk2"/>
              </a:solidFill>
            </a:endParaRPr>
          </a:p>
          <a:p>
            <a:pPr marL="0" lvl="0" indent="0" algn="l" rtl="0">
              <a:lnSpc>
                <a:spcPct val="115000"/>
              </a:lnSpc>
              <a:spcBef>
                <a:spcPts val="1200"/>
              </a:spcBef>
              <a:spcAft>
                <a:spcPts val="1200"/>
              </a:spcAft>
              <a:buNone/>
            </a:pPr>
            <a:r>
              <a:rPr lang="en-GB" sz="1800">
                <a:solidFill>
                  <a:schemeClr val="dk2"/>
                </a:solidFill>
              </a:rPr>
              <a:t>1 population from </a:t>
            </a:r>
            <a:r>
              <a:rPr lang="en-GB" sz="1800" b="1">
                <a:solidFill>
                  <a:schemeClr val="dk2"/>
                </a:solidFill>
              </a:rPr>
              <a:t>West Africa</a:t>
            </a:r>
            <a:endParaRPr sz="1800" b="1">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pic>
        <p:nvPicPr>
          <p:cNvPr id="662" name="Google Shape;662;g3f68fc15589_0_245"/>
          <p:cNvPicPr preferRelativeResize="0"/>
          <p:nvPr/>
        </p:nvPicPr>
        <p:blipFill rotWithShape="1">
          <a:blip r:embed="rId3">
            <a:alphaModFix/>
          </a:blip>
          <a:srcRect/>
          <a:stretch/>
        </p:blipFill>
        <p:spPr>
          <a:xfrm>
            <a:off x="562028" y="1279648"/>
            <a:ext cx="3641827" cy="3221199"/>
          </a:xfrm>
          <a:prstGeom prst="rect">
            <a:avLst/>
          </a:prstGeom>
          <a:noFill/>
          <a:ln>
            <a:noFill/>
          </a:ln>
        </p:spPr>
      </p:pic>
      <p:sp>
        <p:nvSpPr>
          <p:cNvPr id="663" name="Google Shape;663;g3f68fc15589_0_245"/>
          <p:cNvSpPr txBox="1">
            <a:spLocks noGrp="1"/>
          </p:cNvSpPr>
          <p:nvPr>
            <p:ph type="body" idx="1"/>
          </p:nvPr>
        </p:nvSpPr>
        <p:spPr>
          <a:xfrm>
            <a:off x="311700" y="414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Prediction: If there was gene flow, then the Neanderthal sequence should match alleles in some humans significantly more often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664" name="Google Shape;664;g3f68fc15589_0_245"/>
          <p:cNvSpPr txBox="1"/>
          <p:nvPr/>
        </p:nvSpPr>
        <p:spPr>
          <a:xfrm>
            <a:off x="778538" y="4629150"/>
            <a:ext cx="3208800" cy="3849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300" b="0" i="0" u="none" strike="noStrike" cap="none">
                <a:solidFill>
                  <a:srgbClr val="000000"/>
                </a:solidFill>
                <a:latin typeface="Arial"/>
                <a:ea typeface="Arial"/>
                <a:cs typeface="Arial"/>
                <a:sym typeface="Arial"/>
              </a:rPr>
              <a:t>(</a:t>
            </a:r>
            <a:r>
              <a:rPr lang="en-GB" sz="1300" b="1" i="0" u="none" strike="noStrike" cap="none">
                <a:solidFill>
                  <a:srgbClr val="000000"/>
                </a:solidFill>
              </a:rPr>
              <a:t>D</a:t>
            </a:r>
            <a:r>
              <a:rPr lang="en-GB" sz="1300" b="0" i="0" u="none" strike="noStrike" cap="none">
                <a:solidFill>
                  <a:srgbClr val="000000"/>
                </a:solidFill>
                <a:latin typeface="Arial"/>
                <a:ea typeface="Arial"/>
                <a:cs typeface="Arial"/>
                <a:sym typeface="Arial"/>
              </a:rPr>
              <a:t> from 3.</a:t>
            </a:r>
            <a:r>
              <a:rPr lang="en-GB" sz="1300"/>
              <a:t>8</a:t>
            </a:r>
            <a:r>
              <a:rPr lang="en-GB" sz="1300" b="0" i="0" u="none" strike="noStrike" cap="none">
                <a:solidFill>
                  <a:srgbClr val="000000"/>
                </a:solidFill>
                <a:latin typeface="Arial"/>
                <a:ea typeface="Arial"/>
                <a:cs typeface="Arial"/>
                <a:sym typeface="Arial"/>
              </a:rPr>
              <a:t> to 5.</a:t>
            </a:r>
            <a:r>
              <a:rPr lang="en-GB" sz="1300"/>
              <a:t>3</a:t>
            </a:r>
            <a:r>
              <a:rPr lang="en-GB" sz="1300" b="0" i="0" u="none" strike="noStrike" cap="none">
                <a:solidFill>
                  <a:srgbClr val="000000"/>
                </a:solidFill>
                <a:latin typeface="Arial"/>
                <a:ea typeface="Arial"/>
                <a:cs typeface="Arial"/>
                <a:sym typeface="Arial"/>
              </a:rPr>
              <a:t>, </a:t>
            </a:r>
            <a:r>
              <a:rPr lang="en-GB" sz="1300" b="1" i="0" u="none" strike="noStrike" cap="none">
                <a:solidFill>
                  <a:srgbClr val="CC0000"/>
                </a:solidFill>
              </a:rPr>
              <a:t>|Z| &gt; 7.0</a:t>
            </a:r>
            <a:r>
              <a:rPr lang="en-GB" sz="1300" b="0" i="0" u="none" strike="noStrike" cap="none">
                <a:solidFill>
                  <a:srgbClr val="000000"/>
                </a:solidFill>
                <a:latin typeface="Arial"/>
                <a:ea typeface="Arial"/>
                <a:cs typeface="Arial"/>
                <a:sym typeface="Arial"/>
              </a:rPr>
              <a:t>)</a:t>
            </a:r>
            <a:r>
              <a:rPr lang="en-GB" sz="1000" b="0" i="0" u="none" strike="noStrike" cap="none">
                <a:solidFill>
                  <a:srgbClr val="000000"/>
                </a:solidFill>
                <a:latin typeface="Arial"/>
                <a:ea typeface="Arial"/>
                <a:cs typeface="Arial"/>
                <a:sym typeface="Arial"/>
              </a:rPr>
              <a:t> </a:t>
            </a:r>
            <a:endParaRPr sz="1500" b="0" i="0" u="none" strike="noStrike" cap="none">
              <a:solidFill>
                <a:srgbClr val="000000"/>
              </a:solidFill>
              <a:latin typeface="Open Sans"/>
              <a:ea typeface="Open Sans"/>
              <a:cs typeface="Open Sans"/>
              <a:sym typeface="Open Sans"/>
            </a:endParaRPr>
          </a:p>
        </p:txBody>
      </p:sp>
      <p:sp>
        <p:nvSpPr>
          <p:cNvPr id="665" name="Google Shape;665;g3f68fc15589_0_245"/>
          <p:cNvSpPr/>
          <p:nvPr/>
        </p:nvSpPr>
        <p:spPr>
          <a:xfrm>
            <a:off x="4353402" y="1265950"/>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66" name="Google Shape;666;g3f68fc15589_0_245"/>
          <p:cNvSpPr txBox="1"/>
          <p:nvPr/>
        </p:nvSpPr>
        <p:spPr>
          <a:xfrm>
            <a:off x="2122725" y="4032050"/>
            <a:ext cx="30000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300" b="1"/>
              <a:t>!=</a:t>
            </a:r>
            <a:endParaRPr/>
          </a:p>
        </p:txBody>
      </p:sp>
      <p:sp>
        <p:nvSpPr>
          <p:cNvPr id="667" name="Google Shape;667;g3f68fc15589_0_245"/>
          <p:cNvSpPr txBox="1"/>
          <p:nvPr/>
        </p:nvSpPr>
        <p:spPr>
          <a:xfrm>
            <a:off x="0" y="4395813"/>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 of </a:t>
            </a:r>
            <a:r>
              <a:rPr lang="en-GB" b="1">
                <a:solidFill>
                  <a:srgbClr val="CC0000"/>
                </a:solidFill>
              </a:rPr>
              <a:t>BABA </a:t>
            </a:r>
            <a:r>
              <a:rPr lang="en-GB" b="1"/>
              <a:t>sites)</a:t>
            </a:r>
            <a:endParaRPr b="1"/>
          </a:p>
        </p:txBody>
      </p:sp>
      <p:sp>
        <p:nvSpPr>
          <p:cNvPr id="668" name="Google Shape;668;g3f68fc15589_0_245"/>
          <p:cNvSpPr txBox="1"/>
          <p:nvPr/>
        </p:nvSpPr>
        <p:spPr>
          <a:xfrm>
            <a:off x="1889175" y="4326125"/>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 of ABBA sites)</a:t>
            </a:r>
            <a:endParaRPr b="1"/>
          </a:p>
        </p:txBody>
      </p:sp>
      <p:pic>
        <p:nvPicPr>
          <p:cNvPr id="669" name="Google Shape;669;g3f68fc15589_0_245"/>
          <p:cNvPicPr preferRelativeResize="0"/>
          <p:nvPr/>
        </p:nvPicPr>
        <p:blipFill rotWithShape="1">
          <a:blip r:embed="rId4">
            <a:alphaModFix/>
          </a:blip>
          <a:srcRect l="49249" b="50080"/>
          <a:stretch/>
        </p:blipFill>
        <p:spPr>
          <a:xfrm>
            <a:off x="6621025" y="1228275"/>
            <a:ext cx="1932749" cy="1954476"/>
          </a:xfrm>
          <a:prstGeom prst="rect">
            <a:avLst/>
          </a:prstGeom>
          <a:noFill/>
          <a:ln>
            <a:noFill/>
          </a:ln>
        </p:spPr>
      </p:pic>
      <p:sp>
        <p:nvSpPr>
          <p:cNvPr id="670" name="Google Shape;670;g3f68fc15589_0_245"/>
          <p:cNvSpPr txBox="1"/>
          <p:nvPr/>
        </p:nvSpPr>
        <p:spPr>
          <a:xfrm>
            <a:off x="7230100" y="30675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671" name="Google Shape;671;g3f68fc15589_0_245"/>
          <p:cNvSpPr txBox="1"/>
          <p:nvPr/>
        </p:nvSpPr>
        <p:spPr>
          <a:xfrm>
            <a:off x="7728125" y="30675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672" name="Google Shape;672;g3f68fc15589_0_245"/>
          <p:cNvSpPr txBox="1"/>
          <p:nvPr/>
        </p:nvSpPr>
        <p:spPr>
          <a:xfrm>
            <a:off x="8274750" y="30675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673" name="Google Shape;673;g3f68fc15589_0_245"/>
          <p:cNvSpPr txBox="1"/>
          <p:nvPr/>
        </p:nvSpPr>
        <p:spPr>
          <a:xfrm>
            <a:off x="6716788" y="30675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cxnSp>
        <p:nvCxnSpPr>
          <p:cNvPr id="674" name="Google Shape;674;g3f68fc15589_0_245"/>
          <p:cNvCxnSpPr>
            <a:stCxn id="673" idx="1"/>
          </p:cNvCxnSpPr>
          <p:nvPr/>
        </p:nvCxnSpPr>
        <p:spPr>
          <a:xfrm flipH="1">
            <a:off x="2055988" y="3252225"/>
            <a:ext cx="4660800" cy="975900"/>
          </a:xfrm>
          <a:prstGeom prst="straightConnector1">
            <a:avLst/>
          </a:prstGeom>
          <a:noFill/>
          <a:ln w="19050" cap="flat" cmpd="sng">
            <a:solidFill>
              <a:srgbClr val="45818E"/>
            </a:solidFill>
            <a:prstDash val="solid"/>
            <a:round/>
            <a:headEnd type="none" w="sm" len="sm"/>
            <a:tailEnd type="triangle" w="med" len="med"/>
          </a:ln>
        </p:spPr>
      </p:cxnSp>
      <p:sp>
        <p:nvSpPr>
          <p:cNvPr id="675" name="Google Shape;675;g3f68fc15589_0_245"/>
          <p:cNvSpPr txBox="1"/>
          <p:nvPr/>
        </p:nvSpPr>
        <p:spPr>
          <a:xfrm>
            <a:off x="6621037" y="336445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FR</a:t>
            </a:r>
            <a:endParaRPr>
              <a:solidFill>
                <a:srgbClr val="2A2A2A"/>
              </a:solidFill>
            </a:endParaRPr>
          </a:p>
        </p:txBody>
      </p:sp>
      <p:sp>
        <p:nvSpPr>
          <p:cNvPr id="676" name="Google Shape;676;g3f68fc15589_0_245"/>
          <p:cNvSpPr txBox="1"/>
          <p:nvPr/>
        </p:nvSpPr>
        <p:spPr>
          <a:xfrm>
            <a:off x="7182837" y="336445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YRI</a:t>
            </a:r>
            <a:endParaRPr>
              <a:solidFill>
                <a:srgbClr val="2A2A2A"/>
              </a:solidFill>
            </a:endParaRPr>
          </a:p>
        </p:txBody>
      </p:sp>
      <p:sp>
        <p:nvSpPr>
          <p:cNvPr id="677" name="Google Shape;677;g3f68fc15589_0_245"/>
          <p:cNvSpPr txBox="1"/>
          <p:nvPr/>
        </p:nvSpPr>
        <p:spPr>
          <a:xfrm>
            <a:off x="7679475" y="33644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Nea</a:t>
            </a:r>
            <a:endParaRPr>
              <a:solidFill>
                <a:srgbClr val="2A2A2A"/>
              </a:solidFill>
            </a:endParaRPr>
          </a:p>
        </p:txBody>
      </p:sp>
      <p:sp>
        <p:nvSpPr>
          <p:cNvPr id="678" name="Google Shape;678;g3f68fc15589_0_245"/>
          <p:cNvSpPr txBox="1"/>
          <p:nvPr/>
        </p:nvSpPr>
        <p:spPr>
          <a:xfrm>
            <a:off x="8280125" y="33644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Chimp</a:t>
            </a:r>
            <a:endParaRPr>
              <a:solidFill>
                <a:srgbClr val="2A2A2A"/>
              </a:solidFill>
            </a:endParaRPr>
          </a:p>
        </p:txBody>
      </p:sp>
      <p:cxnSp>
        <p:nvCxnSpPr>
          <p:cNvPr id="679" name="Google Shape;679;g3f68fc15589_0_245"/>
          <p:cNvCxnSpPr/>
          <p:nvPr/>
        </p:nvCxnSpPr>
        <p:spPr>
          <a:xfrm flipH="1">
            <a:off x="6978725" y="2532250"/>
            <a:ext cx="583200" cy="64500"/>
          </a:xfrm>
          <a:prstGeom prst="straightConnector1">
            <a:avLst/>
          </a:prstGeom>
          <a:noFill/>
          <a:ln w="28575" cap="flat" cmpd="sng">
            <a:solidFill>
              <a:srgbClr val="FF0000"/>
            </a:solidFill>
            <a:prstDash val="solid"/>
            <a:round/>
            <a:headEnd type="none" w="sm" len="sm"/>
            <a:tailEnd type="triangle"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pic>
        <p:nvPicPr>
          <p:cNvPr id="684" name="Google Shape;684;g3f68fc15589_0_267"/>
          <p:cNvPicPr preferRelativeResize="0"/>
          <p:nvPr/>
        </p:nvPicPr>
        <p:blipFill rotWithShape="1">
          <a:blip r:embed="rId3">
            <a:alphaModFix/>
          </a:blip>
          <a:srcRect/>
          <a:stretch/>
        </p:blipFill>
        <p:spPr>
          <a:xfrm>
            <a:off x="562028" y="1279648"/>
            <a:ext cx="3641827" cy="3221199"/>
          </a:xfrm>
          <a:prstGeom prst="rect">
            <a:avLst/>
          </a:prstGeom>
          <a:noFill/>
          <a:ln>
            <a:noFill/>
          </a:ln>
        </p:spPr>
      </p:pic>
      <p:sp>
        <p:nvSpPr>
          <p:cNvPr id="685" name="Google Shape;685;g3f68fc15589_0_267"/>
          <p:cNvSpPr txBox="1">
            <a:spLocks noGrp="1"/>
          </p:cNvSpPr>
          <p:nvPr>
            <p:ph type="body" idx="1"/>
          </p:nvPr>
        </p:nvSpPr>
        <p:spPr>
          <a:xfrm>
            <a:off x="311700" y="414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Prediction: If there was gene flow, then the Neanderthal sequence should match alleles in some humans significantly more often than in others</a:t>
            </a:r>
            <a:endParaRPr>
              <a:latin typeface="Arial"/>
              <a:ea typeface="Arial"/>
              <a:cs typeface="Arial"/>
              <a:sym typeface="Arial"/>
            </a:endParaRPr>
          </a:p>
          <a:p>
            <a:pPr marL="0" lvl="0" indent="0" algn="l" rtl="0">
              <a:lnSpc>
                <a:spcPct val="100000"/>
              </a:lnSpc>
              <a:spcBef>
                <a:spcPts val="1200"/>
              </a:spcBef>
              <a:spcAft>
                <a:spcPts val="0"/>
              </a:spcAft>
              <a:buClr>
                <a:srgbClr val="FF0000"/>
              </a:buClr>
              <a:buSzPts val="3175"/>
              <a:buFont typeface="Arial"/>
              <a:buNone/>
            </a:pPr>
            <a:endParaRPr/>
          </a:p>
        </p:txBody>
      </p:sp>
      <p:sp>
        <p:nvSpPr>
          <p:cNvPr id="686" name="Google Shape;686;g3f68fc15589_0_267"/>
          <p:cNvSpPr txBox="1"/>
          <p:nvPr/>
        </p:nvSpPr>
        <p:spPr>
          <a:xfrm>
            <a:off x="778538" y="4629150"/>
            <a:ext cx="3208800" cy="384900"/>
          </a:xfrm>
          <a:prstGeom prst="rect">
            <a:avLst/>
          </a:prstGeom>
          <a:noFill/>
          <a:ln>
            <a:noFill/>
          </a:ln>
        </p:spPr>
        <p:txBody>
          <a:bodyPr spcFirstLastPara="1" wrap="square" lIns="91425" tIns="91425" rIns="91425" bIns="91425" anchor="t" anchorCtr="0">
            <a:spAutoFit/>
          </a:bodyPr>
          <a:lstStyle/>
          <a:p>
            <a:pPr marL="457200" marR="0" lvl="0" indent="0" algn="l" rtl="0">
              <a:lnSpc>
                <a:spcPct val="115000"/>
              </a:lnSpc>
              <a:spcBef>
                <a:spcPts val="1200"/>
              </a:spcBef>
              <a:spcAft>
                <a:spcPts val="1200"/>
              </a:spcAft>
              <a:buClr>
                <a:srgbClr val="000000"/>
              </a:buClr>
              <a:buSzPts val="1000"/>
              <a:buFont typeface="Arial"/>
              <a:buNone/>
            </a:pPr>
            <a:r>
              <a:rPr lang="en-GB" sz="1300" b="0" i="0" u="none" strike="noStrike" cap="none">
                <a:solidFill>
                  <a:srgbClr val="000000"/>
                </a:solidFill>
                <a:latin typeface="Arial"/>
                <a:ea typeface="Arial"/>
                <a:cs typeface="Arial"/>
                <a:sym typeface="Arial"/>
              </a:rPr>
              <a:t>(</a:t>
            </a:r>
            <a:r>
              <a:rPr lang="en-GB" sz="1300" b="1" i="0" u="none" strike="noStrike" cap="none">
                <a:solidFill>
                  <a:srgbClr val="000000"/>
                </a:solidFill>
              </a:rPr>
              <a:t>D</a:t>
            </a:r>
            <a:r>
              <a:rPr lang="en-GB" sz="1300" b="0" i="0" u="none" strike="noStrike" cap="none">
                <a:solidFill>
                  <a:srgbClr val="000000"/>
                </a:solidFill>
                <a:latin typeface="Arial"/>
                <a:ea typeface="Arial"/>
                <a:cs typeface="Arial"/>
                <a:sym typeface="Arial"/>
              </a:rPr>
              <a:t> from 3.</a:t>
            </a:r>
            <a:r>
              <a:rPr lang="en-GB" sz="1300"/>
              <a:t>8</a:t>
            </a:r>
            <a:r>
              <a:rPr lang="en-GB" sz="1300" b="0" i="0" u="none" strike="noStrike" cap="none">
                <a:solidFill>
                  <a:srgbClr val="000000"/>
                </a:solidFill>
                <a:latin typeface="Arial"/>
                <a:ea typeface="Arial"/>
                <a:cs typeface="Arial"/>
                <a:sym typeface="Arial"/>
              </a:rPr>
              <a:t> to 5.</a:t>
            </a:r>
            <a:r>
              <a:rPr lang="en-GB" sz="1300"/>
              <a:t>3</a:t>
            </a:r>
            <a:r>
              <a:rPr lang="en-GB" sz="1300" b="0" i="0" u="none" strike="noStrike" cap="none">
                <a:solidFill>
                  <a:srgbClr val="000000"/>
                </a:solidFill>
                <a:latin typeface="Arial"/>
                <a:ea typeface="Arial"/>
                <a:cs typeface="Arial"/>
                <a:sym typeface="Arial"/>
              </a:rPr>
              <a:t>,</a:t>
            </a:r>
            <a:r>
              <a:rPr lang="en-GB" sz="1300" b="0" i="0" u="none" strike="noStrike" cap="none">
                <a:solidFill>
                  <a:srgbClr val="CC0000"/>
                </a:solidFill>
                <a:latin typeface="Arial"/>
                <a:ea typeface="Arial"/>
                <a:cs typeface="Arial"/>
                <a:sym typeface="Arial"/>
              </a:rPr>
              <a:t> </a:t>
            </a:r>
            <a:r>
              <a:rPr lang="en-GB" sz="1300" b="1" i="0" u="none" strike="noStrike" cap="none">
                <a:solidFill>
                  <a:srgbClr val="CC0000"/>
                </a:solidFill>
              </a:rPr>
              <a:t>|Z| &gt; 7.0</a:t>
            </a:r>
            <a:r>
              <a:rPr lang="en-GB" sz="1300" b="0" i="0" u="none" strike="noStrike" cap="none">
                <a:solidFill>
                  <a:srgbClr val="000000"/>
                </a:solidFill>
                <a:latin typeface="Arial"/>
                <a:ea typeface="Arial"/>
                <a:cs typeface="Arial"/>
                <a:sym typeface="Arial"/>
              </a:rPr>
              <a:t>)</a:t>
            </a:r>
            <a:r>
              <a:rPr lang="en-GB" sz="1000" b="0" i="0" u="none" strike="noStrike" cap="none">
                <a:solidFill>
                  <a:srgbClr val="000000"/>
                </a:solidFill>
                <a:latin typeface="Arial"/>
                <a:ea typeface="Arial"/>
                <a:cs typeface="Arial"/>
                <a:sym typeface="Arial"/>
              </a:rPr>
              <a:t> </a:t>
            </a:r>
            <a:endParaRPr sz="1500" b="0" i="0" u="none" strike="noStrike" cap="none">
              <a:solidFill>
                <a:srgbClr val="000000"/>
              </a:solidFill>
              <a:latin typeface="Open Sans"/>
              <a:ea typeface="Open Sans"/>
              <a:cs typeface="Open Sans"/>
              <a:sym typeface="Open Sans"/>
            </a:endParaRPr>
          </a:p>
        </p:txBody>
      </p:sp>
      <p:sp>
        <p:nvSpPr>
          <p:cNvPr id="687" name="Google Shape;687;g3f68fc15589_0_267"/>
          <p:cNvSpPr txBox="1"/>
          <p:nvPr/>
        </p:nvSpPr>
        <p:spPr>
          <a:xfrm>
            <a:off x="2122725" y="4032050"/>
            <a:ext cx="30000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300" b="1"/>
              <a:t>!=</a:t>
            </a:r>
            <a:endParaRPr/>
          </a:p>
        </p:txBody>
      </p:sp>
      <p:sp>
        <p:nvSpPr>
          <p:cNvPr id="688" name="Google Shape;688;g3f68fc15589_0_267"/>
          <p:cNvSpPr txBox="1"/>
          <p:nvPr/>
        </p:nvSpPr>
        <p:spPr>
          <a:xfrm>
            <a:off x="0" y="4395813"/>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 of </a:t>
            </a:r>
            <a:r>
              <a:rPr lang="en-GB" b="1">
                <a:solidFill>
                  <a:srgbClr val="CC0000"/>
                </a:solidFill>
              </a:rPr>
              <a:t>BABA</a:t>
            </a:r>
            <a:r>
              <a:rPr lang="en-GB" b="1"/>
              <a:t> sites)</a:t>
            </a:r>
            <a:endParaRPr b="1"/>
          </a:p>
        </p:txBody>
      </p:sp>
      <p:sp>
        <p:nvSpPr>
          <p:cNvPr id="689" name="Google Shape;689;g3f68fc15589_0_267"/>
          <p:cNvSpPr txBox="1"/>
          <p:nvPr/>
        </p:nvSpPr>
        <p:spPr>
          <a:xfrm>
            <a:off x="1889175" y="4326125"/>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 of ABBA sites)</a:t>
            </a:r>
            <a:endParaRPr b="1"/>
          </a:p>
        </p:txBody>
      </p:sp>
      <p:pic>
        <p:nvPicPr>
          <p:cNvPr id="690" name="Google Shape;690;g3f68fc15589_0_267"/>
          <p:cNvPicPr preferRelativeResize="0"/>
          <p:nvPr/>
        </p:nvPicPr>
        <p:blipFill rotWithShape="1">
          <a:blip r:embed="rId4">
            <a:alphaModFix/>
          </a:blip>
          <a:srcRect l="49249" b="50080"/>
          <a:stretch/>
        </p:blipFill>
        <p:spPr>
          <a:xfrm>
            <a:off x="6621025" y="1228275"/>
            <a:ext cx="1932749" cy="1954476"/>
          </a:xfrm>
          <a:prstGeom prst="rect">
            <a:avLst/>
          </a:prstGeom>
          <a:noFill/>
          <a:ln>
            <a:noFill/>
          </a:ln>
        </p:spPr>
      </p:pic>
      <p:sp>
        <p:nvSpPr>
          <p:cNvPr id="691" name="Google Shape;691;g3f68fc15589_0_267"/>
          <p:cNvSpPr txBox="1"/>
          <p:nvPr/>
        </p:nvSpPr>
        <p:spPr>
          <a:xfrm>
            <a:off x="7230100" y="30675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692" name="Google Shape;692;g3f68fc15589_0_267"/>
          <p:cNvSpPr txBox="1"/>
          <p:nvPr/>
        </p:nvSpPr>
        <p:spPr>
          <a:xfrm>
            <a:off x="7728125" y="30675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693" name="Google Shape;693;g3f68fc15589_0_267"/>
          <p:cNvSpPr txBox="1"/>
          <p:nvPr/>
        </p:nvSpPr>
        <p:spPr>
          <a:xfrm>
            <a:off x="8274750" y="30675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694" name="Google Shape;694;g3f68fc15589_0_267"/>
          <p:cNvSpPr txBox="1"/>
          <p:nvPr/>
        </p:nvSpPr>
        <p:spPr>
          <a:xfrm>
            <a:off x="6716788" y="30675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cxnSp>
        <p:nvCxnSpPr>
          <p:cNvPr id="695" name="Google Shape;695;g3f68fc15589_0_267"/>
          <p:cNvCxnSpPr>
            <a:stCxn id="694" idx="1"/>
          </p:cNvCxnSpPr>
          <p:nvPr/>
        </p:nvCxnSpPr>
        <p:spPr>
          <a:xfrm flipH="1">
            <a:off x="2055988" y="3252225"/>
            <a:ext cx="4660800" cy="975900"/>
          </a:xfrm>
          <a:prstGeom prst="straightConnector1">
            <a:avLst/>
          </a:prstGeom>
          <a:noFill/>
          <a:ln w="19050" cap="flat" cmpd="sng">
            <a:solidFill>
              <a:srgbClr val="45818E"/>
            </a:solidFill>
            <a:prstDash val="solid"/>
            <a:round/>
            <a:headEnd type="none" w="sm" len="sm"/>
            <a:tailEnd type="triangle" w="med" len="med"/>
          </a:ln>
        </p:spPr>
      </p:cxnSp>
      <p:sp>
        <p:nvSpPr>
          <p:cNvPr id="696" name="Google Shape;696;g3f68fc15589_0_267"/>
          <p:cNvSpPr txBox="1"/>
          <p:nvPr/>
        </p:nvSpPr>
        <p:spPr>
          <a:xfrm>
            <a:off x="6621037" y="336445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FR</a:t>
            </a:r>
            <a:endParaRPr>
              <a:solidFill>
                <a:srgbClr val="2A2A2A"/>
              </a:solidFill>
            </a:endParaRPr>
          </a:p>
        </p:txBody>
      </p:sp>
      <p:sp>
        <p:nvSpPr>
          <p:cNvPr id="697" name="Google Shape;697;g3f68fc15589_0_267"/>
          <p:cNvSpPr txBox="1"/>
          <p:nvPr/>
        </p:nvSpPr>
        <p:spPr>
          <a:xfrm>
            <a:off x="7182837" y="336445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YRI</a:t>
            </a:r>
            <a:endParaRPr>
              <a:solidFill>
                <a:srgbClr val="2A2A2A"/>
              </a:solidFill>
            </a:endParaRPr>
          </a:p>
        </p:txBody>
      </p:sp>
      <p:sp>
        <p:nvSpPr>
          <p:cNvPr id="698" name="Google Shape;698;g3f68fc15589_0_267"/>
          <p:cNvSpPr txBox="1"/>
          <p:nvPr/>
        </p:nvSpPr>
        <p:spPr>
          <a:xfrm>
            <a:off x="7679475" y="33644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Nea</a:t>
            </a:r>
            <a:endParaRPr>
              <a:solidFill>
                <a:srgbClr val="2A2A2A"/>
              </a:solidFill>
            </a:endParaRPr>
          </a:p>
        </p:txBody>
      </p:sp>
      <p:sp>
        <p:nvSpPr>
          <p:cNvPr id="699" name="Google Shape;699;g3f68fc15589_0_267"/>
          <p:cNvSpPr txBox="1"/>
          <p:nvPr/>
        </p:nvSpPr>
        <p:spPr>
          <a:xfrm>
            <a:off x="8280125" y="33644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Chimp</a:t>
            </a:r>
            <a:endParaRPr>
              <a:solidFill>
                <a:srgbClr val="2A2A2A"/>
              </a:solidFill>
            </a:endParaRPr>
          </a:p>
        </p:txBody>
      </p:sp>
      <p:cxnSp>
        <p:nvCxnSpPr>
          <p:cNvPr id="700" name="Google Shape;700;g3f68fc15589_0_267"/>
          <p:cNvCxnSpPr/>
          <p:nvPr/>
        </p:nvCxnSpPr>
        <p:spPr>
          <a:xfrm flipH="1">
            <a:off x="6978725" y="2532250"/>
            <a:ext cx="583200" cy="64500"/>
          </a:xfrm>
          <a:prstGeom prst="straightConnector1">
            <a:avLst/>
          </a:prstGeom>
          <a:noFill/>
          <a:ln w="28575" cap="flat" cmpd="sng">
            <a:solidFill>
              <a:srgbClr val="FF0000"/>
            </a:solidFill>
            <a:prstDash val="solid"/>
            <a:round/>
            <a:headEnd type="none" w="sm" len="sm"/>
            <a:tailEnd type="triangle" w="med" len="med"/>
          </a:ln>
        </p:spPr>
      </p:cxnSp>
      <p:sp>
        <p:nvSpPr>
          <p:cNvPr id="701" name="Google Shape;701;g3f68fc15589_0_267"/>
          <p:cNvSpPr/>
          <p:nvPr/>
        </p:nvSpPr>
        <p:spPr>
          <a:xfrm>
            <a:off x="174250" y="1228275"/>
            <a:ext cx="5343300" cy="1780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02" name="Google Shape;702;g3f68fc15589_0_267"/>
          <p:cNvSpPr txBox="1"/>
          <p:nvPr/>
        </p:nvSpPr>
        <p:spPr>
          <a:xfrm>
            <a:off x="383325" y="1368600"/>
            <a:ext cx="6156300" cy="985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800">
                <a:solidFill>
                  <a:schemeClr val="dk2"/>
                </a:solidFill>
                <a:latin typeface="Open Sans"/>
                <a:ea typeface="Open Sans"/>
                <a:cs typeface="Open Sans"/>
                <a:sym typeface="Open Sans"/>
              </a:rPr>
              <a:t>Finding: </a:t>
            </a:r>
            <a:r>
              <a:rPr lang="en-GB" sz="1700" b="1">
                <a:solidFill>
                  <a:srgbClr val="45818E"/>
                </a:solidFill>
              </a:rPr>
              <a:t>Neanderthal </a:t>
            </a:r>
            <a:r>
              <a:rPr lang="en-GB" sz="1700" b="1">
                <a:solidFill>
                  <a:srgbClr val="0C343D"/>
                </a:solidFill>
              </a:rPr>
              <a:t>shares </a:t>
            </a:r>
            <a:r>
              <a:rPr lang="en-GB" sz="1700" b="1">
                <a:solidFill>
                  <a:srgbClr val="45818E"/>
                </a:solidFill>
              </a:rPr>
              <a:t>significantly</a:t>
            </a:r>
            <a:r>
              <a:rPr lang="en-GB" sz="1700" b="1">
                <a:solidFill>
                  <a:srgbClr val="0C343D"/>
                </a:solidFill>
              </a:rPr>
              <a:t> more derived alleles </a:t>
            </a:r>
            <a:r>
              <a:rPr lang="en-GB" sz="1700" b="1">
                <a:solidFill>
                  <a:srgbClr val="45818E"/>
                </a:solidFill>
              </a:rPr>
              <a:t>with French</a:t>
            </a:r>
            <a:endParaRPr sz="1700" b="1">
              <a:solidFill>
                <a:srgbClr val="45818E"/>
              </a:solidFill>
            </a:endParaRPr>
          </a:p>
          <a:p>
            <a:pPr marL="0" marR="0" lvl="0" indent="0" algn="l" rtl="0">
              <a:lnSpc>
                <a:spcPct val="100000"/>
              </a:lnSpc>
              <a:spcBef>
                <a:spcPts val="0"/>
              </a:spcBef>
              <a:spcAft>
                <a:spcPts val="0"/>
              </a:spcAft>
              <a:buClr>
                <a:srgbClr val="000000"/>
              </a:buClr>
              <a:buSzPts val="1400"/>
              <a:buFont typeface="Arial"/>
              <a:buNone/>
            </a:pPr>
            <a:endParaRPr sz="1700" b="1">
              <a:solidFill>
                <a:srgbClr val="45818E"/>
              </a:solidFill>
            </a:endParaRPr>
          </a:p>
        </p:txBody>
      </p:sp>
      <p:sp>
        <p:nvSpPr>
          <p:cNvPr id="703" name="Google Shape;703;g3f68fc15589_0_267"/>
          <p:cNvSpPr txBox="1"/>
          <p:nvPr/>
        </p:nvSpPr>
        <p:spPr>
          <a:xfrm>
            <a:off x="383325" y="2125350"/>
            <a:ext cx="56799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700" b="1">
                <a:solidFill>
                  <a:srgbClr val="45818E"/>
                </a:solidFill>
              </a:rPr>
              <a:t>Neanderthal gene flow with non-Africans</a:t>
            </a:r>
            <a:endParaRPr sz="1700" b="1">
              <a:solidFill>
                <a:srgbClr val="45818E"/>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pic>
        <p:nvPicPr>
          <p:cNvPr id="708" name="Google Shape;708;p15"/>
          <p:cNvPicPr preferRelativeResize="0"/>
          <p:nvPr/>
        </p:nvPicPr>
        <p:blipFill rotWithShape="1">
          <a:blip r:embed="rId3">
            <a:alphaModFix/>
          </a:blip>
          <a:srcRect t="75081" b="6486"/>
          <a:stretch/>
        </p:blipFill>
        <p:spPr>
          <a:xfrm>
            <a:off x="3647375" y="1865525"/>
            <a:ext cx="4685325" cy="1524799"/>
          </a:xfrm>
          <a:prstGeom prst="rect">
            <a:avLst/>
          </a:prstGeom>
          <a:noFill/>
          <a:ln>
            <a:noFill/>
          </a:ln>
        </p:spPr>
      </p:pic>
      <p:pic>
        <p:nvPicPr>
          <p:cNvPr id="709" name="Google Shape;709;p15"/>
          <p:cNvPicPr preferRelativeResize="0"/>
          <p:nvPr/>
        </p:nvPicPr>
        <p:blipFill rotWithShape="1">
          <a:blip r:embed="rId3">
            <a:alphaModFix/>
          </a:blip>
          <a:srcRect b="25650"/>
          <a:stretch/>
        </p:blipFill>
        <p:spPr>
          <a:xfrm>
            <a:off x="334625" y="574963"/>
            <a:ext cx="3042275" cy="3993576"/>
          </a:xfrm>
          <a:prstGeom prst="rect">
            <a:avLst/>
          </a:prstGeom>
          <a:noFill/>
          <a:ln>
            <a:noFill/>
          </a:ln>
        </p:spPr>
      </p:pic>
      <p:sp>
        <p:nvSpPr>
          <p:cNvPr id="710" name="Google Shape;710;p15"/>
          <p:cNvSpPr txBox="1">
            <a:spLocks noGrp="1"/>
          </p:cNvSpPr>
          <p:nvPr>
            <p:ph type="title"/>
          </p:nvPr>
        </p:nvSpPr>
        <p:spPr>
          <a:xfrm>
            <a:off x="3761600" y="328850"/>
            <a:ext cx="52284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Evidence of gene flow from Neandertals to modern humans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g3f68fc15589_0_292"/>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716" name="Google Shape;716;g3f68fc15589_0_292"/>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717" name="Google Shape;717;g3f68fc15589_0_292"/>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g3f68fc15589_0_292"/>
          <p:cNvSpPr txBox="1"/>
          <p:nvPr/>
        </p:nvSpPr>
        <p:spPr>
          <a:xfrm>
            <a:off x="3481575" y="65830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ancestral allele = A</a:t>
            </a:r>
            <a:endParaRPr sz="1400" b="1" i="0" u="none" strike="noStrike" cap="none">
              <a:solidFill>
                <a:srgbClr val="45818E"/>
              </a:solidFill>
              <a:latin typeface="Open Sans"/>
              <a:ea typeface="Open Sans"/>
              <a:cs typeface="Open Sans"/>
              <a:sym typeface="Open Sans"/>
            </a:endParaRPr>
          </a:p>
        </p:txBody>
      </p:sp>
      <p:sp>
        <p:nvSpPr>
          <p:cNvPr id="719" name="Google Shape;719;g3f68fc15589_0_292"/>
          <p:cNvSpPr txBox="1"/>
          <p:nvPr/>
        </p:nvSpPr>
        <p:spPr>
          <a:xfrm>
            <a:off x="4183000" y="1152425"/>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latin typeface="Open Sans"/>
                <a:ea typeface="Open Sans"/>
                <a:cs typeface="Open Sans"/>
                <a:sym typeface="Open Sans"/>
              </a:rPr>
              <a:t>mutation</a:t>
            </a:r>
            <a:r>
              <a:rPr lang="en-GB" sz="1400" b="1" i="0" u="none" strike="noStrike" cap="none">
                <a:solidFill>
                  <a:srgbClr val="45818E"/>
                </a:solidFill>
                <a:latin typeface="Open Sans"/>
                <a:ea typeface="Open Sans"/>
                <a:cs typeface="Open Sans"/>
                <a:sym typeface="Open Sans"/>
              </a:rPr>
              <a:t> A -&gt; B</a:t>
            </a:r>
            <a:endParaRPr sz="1400" b="1" i="0" u="none" strike="noStrike" cap="none">
              <a:solidFill>
                <a:srgbClr val="45818E"/>
              </a:solidFill>
              <a:latin typeface="Open Sans"/>
              <a:ea typeface="Open Sans"/>
              <a:cs typeface="Open Sans"/>
              <a:sym typeface="Open Sans"/>
            </a:endParaRPr>
          </a:p>
        </p:txBody>
      </p:sp>
      <p:sp>
        <p:nvSpPr>
          <p:cNvPr id="720" name="Google Shape;720;g3f68fc15589_0_292"/>
          <p:cNvSpPr txBox="1"/>
          <p:nvPr/>
        </p:nvSpPr>
        <p:spPr>
          <a:xfrm>
            <a:off x="4120075" y="1646550"/>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where the B alleles </a:t>
            </a:r>
            <a:r>
              <a:rPr lang="en-GB" sz="1400" b="1" i="0" u="none" strike="noStrike" cap="none">
                <a:solidFill>
                  <a:srgbClr val="FF0000"/>
                </a:solidFill>
                <a:latin typeface="Open Sans"/>
                <a:ea typeface="Open Sans"/>
                <a:cs typeface="Open Sans"/>
                <a:sym typeface="Open Sans"/>
              </a:rPr>
              <a:t>coalesce</a:t>
            </a:r>
            <a:endParaRPr sz="1400" b="1" i="0" u="none" strike="noStrike" cap="none">
              <a:solidFill>
                <a:srgbClr val="FF0000"/>
              </a:solidFill>
              <a:latin typeface="Open Sans"/>
              <a:ea typeface="Open Sans"/>
              <a:cs typeface="Open Sans"/>
              <a:sym typeface="Open Sans"/>
            </a:endParaRPr>
          </a:p>
        </p:txBody>
      </p:sp>
      <p:cxnSp>
        <p:nvCxnSpPr>
          <p:cNvPr id="721" name="Google Shape;721;g3f68fc15589_0_292"/>
          <p:cNvCxnSpPr/>
          <p:nvPr/>
        </p:nvCxnSpPr>
        <p:spPr>
          <a:xfrm flipH="1">
            <a:off x="3188325" y="982000"/>
            <a:ext cx="803400" cy="280500"/>
          </a:xfrm>
          <a:prstGeom prst="straightConnector1">
            <a:avLst/>
          </a:prstGeom>
          <a:noFill/>
          <a:ln w="19050" cap="flat" cmpd="sng">
            <a:solidFill>
              <a:srgbClr val="45818E"/>
            </a:solidFill>
            <a:prstDash val="solid"/>
            <a:round/>
            <a:headEnd type="none" w="sm" len="sm"/>
            <a:tailEnd type="triangle" w="med" len="med"/>
          </a:ln>
        </p:spPr>
      </p:cxnSp>
      <p:cxnSp>
        <p:nvCxnSpPr>
          <p:cNvPr id="722" name="Google Shape;722;g3f68fc15589_0_292"/>
          <p:cNvCxnSpPr>
            <a:stCxn id="719" idx="1"/>
          </p:cNvCxnSpPr>
          <p:nvPr/>
        </p:nvCxnSpPr>
        <p:spPr>
          <a:xfrm flipH="1">
            <a:off x="3099100" y="1352525"/>
            <a:ext cx="1083900" cy="75900"/>
          </a:xfrm>
          <a:prstGeom prst="straightConnector1">
            <a:avLst/>
          </a:prstGeom>
          <a:noFill/>
          <a:ln w="19050" cap="flat" cmpd="sng">
            <a:solidFill>
              <a:srgbClr val="45818E"/>
            </a:solidFill>
            <a:prstDash val="solid"/>
            <a:round/>
            <a:headEnd type="none" w="sm" len="sm"/>
            <a:tailEnd type="triangle" w="med" len="med"/>
          </a:ln>
        </p:spPr>
      </p:cxnSp>
      <p:cxnSp>
        <p:nvCxnSpPr>
          <p:cNvPr id="723" name="Google Shape;723;g3f68fc15589_0_292"/>
          <p:cNvCxnSpPr>
            <a:stCxn id="720" idx="1"/>
          </p:cNvCxnSpPr>
          <p:nvPr/>
        </p:nvCxnSpPr>
        <p:spPr>
          <a:xfrm rot="10800000">
            <a:off x="2983675" y="1704450"/>
            <a:ext cx="1136400" cy="142200"/>
          </a:xfrm>
          <a:prstGeom prst="straightConnector1">
            <a:avLst/>
          </a:prstGeom>
          <a:noFill/>
          <a:ln w="19050" cap="flat" cmpd="sng">
            <a:solidFill>
              <a:srgbClr val="45818E"/>
            </a:solidFill>
            <a:prstDash val="solid"/>
            <a:round/>
            <a:headEnd type="none" w="sm" len="sm"/>
            <a:tailEnd type="triangle" w="med" len="med"/>
          </a:ln>
        </p:spPr>
      </p:cxnSp>
      <p:cxnSp>
        <p:nvCxnSpPr>
          <p:cNvPr id="724" name="Google Shape;724;g3f68fc15589_0_292"/>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725" name="Google Shape;725;g3f68fc15589_0_292"/>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g3f68fc15589_0_292"/>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727" name="Google Shape;727;g3f68fc15589_0_292"/>
          <p:cNvSpPr/>
          <p:nvPr/>
        </p:nvSpPr>
        <p:spPr>
          <a:xfrm>
            <a:off x="2231800" y="1098138"/>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28" name="Google Shape;728;g3f68fc15589_0_292"/>
          <p:cNvSpPr/>
          <p:nvPr/>
        </p:nvSpPr>
        <p:spPr>
          <a:xfrm>
            <a:off x="2702750" y="554413"/>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29" name="Google Shape;729;g3f68fc15589_0_292"/>
          <p:cNvSpPr txBox="1"/>
          <p:nvPr/>
        </p:nvSpPr>
        <p:spPr>
          <a:xfrm>
            <a:off x="3117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730" name="Google Shape;730;g3f68fc15589_0_292"/>
          <p:cNvSpPr txBox="1"/>
          <p:nvPr/>
        </p:nvSpPr>
        <p:spPr>
          <a:xfrm>
            <a:off x="7737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731" name="Google Shape;731;g3f68fc15589_0_292"/>
          <p:cNvSpPr txBox="1"/>
          <p:nvPr/>
        </p:nvSpPr>
        <p:spPr>
          <a:xfrm>
            <a:off x="12717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732" name="Google Shape;732;g3f68fc15589_0_292"/>
          <p:cNvSpPr txBox="1"/>
          <p:nvPr/>
        </p:nvSpPr>
        <p:spPr>
          <a:xfrm>
            <a:off x="18183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Outgroup</a:t>
            </a:r>
            <a:endParaRPr b="1">
              <a:solidFill>
                <a:srgbClr val="598E9A"/>
              </a:solidFill>
            </a:endParaRPr>
          </a:p>
        </p:txBody>
      </p:sp>
      <p:sp>
        <p:nvSpPr>
          <p:cNvPr id="733" name="Google Shape;733;g3f68fc15589_0_292"/>
          <p:cNvSpPr txBox="1"/>
          <p:nvPr/>
        </p:nvSpPr>
        <p:spPr>
          <a:xfrm>
            <a:off x="2954775" y="786250"/>
            <a:ext cx="5628300" cy="39666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200"/>
              </a:spcBef>
              <a:spcAft>
                <a:spcPts val="0"/>
              </a:spcAft>
              <a:buClr>
                <a:schemeClr val="dk2"/>
              </a:buClr>
              <a:buSzPts val="1800"/>
              <a:buChar char="●"/>
            </a:pPr>
            <a:r>
              <a:rPr lang="en-GB" sz="1800">
                <a:solidFill>
                  <a:schemeClr val="dk2"/>
                </a:solidFill>
              </a:rPr>
              <a:t>Excess of allele sharing between </a:t>
            </a:r>
            <a:r>
              <a:rPr lang="en-GB" sz="1800" b="1">
                <a:solidFill>
                  <a:schemeClr val="dk2"/>
                </a:solidFill>
              </a:rPr>
              <a:t>P3</a:t>
            </a:r>
            <a:r>
              <a:rPr lang="en-GB" sz="1800">
                <a:solidFill>
                  <a:schemeClr val="dk2"/>
                </a:solidFill>
              </a:rPr>
              <a:t> and </a:t>
            </a:r>
            <a:r>
              <a:rPr lang="en-GB" sz="1800" b="1">
                <a:solidFill>
                  <a:srgbClr val="598E9A"/>
                </a:solidFill>
              </a:rPr>
              <a:t>either</a:t>
            </a:r>
            <a:r>
              <a:rPr lang="en-GB" sz="1800">
                <a:solidFill>
                  <a:schemeClr val="dk2"/>
                </a:solidFill>
              </a:rPr>
              <a:t> </a:t>
            </a:r>
            <a:r>
              <a:rPr lang="en-GB" sz="1800" b="1">
                <a:solidFill>
                  <a:schemeClr val="dk2"/>
                </a:solidFill>
              </a:rPr>
              <a:t>P1</a:t>
            </a:r>
            <a:r>
              <a:rPr lang="en-GB" sz="1800">
                <a:solidFill>
                  <a:schemeClr val="dk2"/>
                </a:solidFill>
              </a:rPr>
              <a:t> or </a:t>
            </a:r>
            <a:r>
              <a:rPr lang="en-GB" sz="1800" b="1">
                <a:solidFill>
                  <a:schemeClr val="dk2"/>
                </a:solidFill>
              </a:rPr>
              <a:t>P2</a:t>
            </a:r>
            <a:endParaRPr sz="1800" b="1">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=&gt; important to think which populations make sense for P1,P2</a:t>
            </a:r>
            <a:endParaRPr sz="1800">
              <a:solidFill>
                <a:schemeClr val="dk2"/>
              </a:solidFill>
            </a:endParaRPr>
          </a:p>
          <a:p>
            <a:pPr marL="914400" lvl="1" indent="-342900" algn="l" rtl="0">
              <a:lnSpc>
                <a:spcPct val="115000"/>
              </a:lnSpc>
              <a:spcBef>
                <a:spcPts val="0"/>
              </a:spcBef>
              <a:spcAft>
                <a:spcPts val="0"/>
              </a:spcAft>
              <a:buClr>
                <a:schemeClr val="dk2"/>
              </a:buClr>
              <a:buSzPts val="1800"/>
              <a:buChar char="○"/>
            </a:pPr>
            <a:r>
              <a:rPr lang="en-GB" sz="1800">
                <a:solidFill>
                  <a:schemeClr val="dk2"/>
                </a:solidFill>
              </a:rPr>
              <a:t>If both P1 and P2 experienced gene flow from P3 cannot detect it!!</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b="1">
                <a:solidFill>
                  <a:schemeClr val="dk2"/>
                </a:solidFill>
              </a:rPr>
              <a:t>4 </a:t>
            </a:r>
            <a:r>
              <a:rPr lang="en-GB" sz="1800">
                <a:solidFill>
                  <a:schemeClr val="dk2"/>
                </a:solidFill>
              </a:rPr>
              <a:t>populations need to fit within this</a:t>
            </a:r>
            <a:r>
              <a:rPr lang="en-GB" sz="1800" b="1">
                <a:solidFill>
                  <a:schemeClr val="dk2"/>
                </a:solidFill>
              </a:rPr>
              <a:t> tree</a:t>
            </a:r>
            <a:r>
              <a:rPr lang="en-GB" sz="1800">
                <a:solidFill>
                  <a:schemeClr val="dk2"/>
                </a:solidFill>
              </a:rPr>
              <a:t>; </a:t>
            </a:r>
            <a:endParaRPr sz="1800">
              <a:solidFill>
                <a:schemeClr val="dk2"/>
              </a:solidFill>
            </a:endParaRPr>
          </a:p>
          <a:p>
            <a:pPr marL="914400" lvl="1" indent="-342900" algn="l" rtl="0">
              <a:lnSpc>
                <a:spcPct val="115000"/>
              </a:lnSpc>
              <a:spcBef>
                <a:spcPts val="0"/>
              </a:spcBef>
              <a:spcAft>
                <a:spcPts val="0"/>
              </a:spcAft>
              <a:buClr>
                <a:schemeClr val="dk2"/>
              </a:buClr>
              <a:buSzPts val="1800"/>
              <a:buChar char="○"/>
            </a:pPr>
            <a:r>
              <a:rPr lang="en-GB" sz="1800">
                <a:solidFill>
                  <a:schemeClr val="dk2"/>
                </a:solidFill>
              </a:rPr>
              <a:t>Ie P1, P2 sister populations</a:t>
            </a:r>
            <a:endParaRPr sz="1800">
              <a:solidFill>
                <a:schemeClr val="dk2"/>
              </a:solidFill>
            </a:endParaRPr>
          </a:p>
          <a:p>
            <a:pPr marL="914400" lvl="1" indent="-342900" algn="l" rtl="0">
              <a:lnSpc>
                <a:spcPct val="115000"/>
              </a:lnSpc>
              <a:spcBef>
                <a:spcPts val="0"/>
              </a:spcBef>
              <a:spcAft>
                <a:spcPts val="0"/>
              </a:spcAft>
              <a:buClr>
                <a:schemeClr val="dk2"/>
              </a:buClr>
              <a:buSzPts val="1800"/>
              <a:buChar char="○"/>
            </a:pPr>
            <a:r>
              <a:rPr lang="en-GB" sz="1800">
                <a:solidFill>
                  <a:schemeClr val="dk2"/>
                </a:solidFill>
              </a:rPr>
              <a:t>P3 branches next</a:t>
            </a:r>
            <a:endParaRPr sz="1800">
              <a:solidFill>
                <a:schemeClr val="dk2"/>
              </a:solidFill>
            </a:endParaRPr>
          </a:p>
          <a:p>
            <a:pPr marL="914400" lvl="1" indent="-342900" algn="l" rtl="0">
              <a:lnSpc>
                <a:spcPct val="115000"/>
              </a:lnSpc>
              <a:spcBef>
                <a:spcPts val="0"/>
              </a:spcBef>
              <a:spcAft>
                <a:spcPts val="0"/>
              </a:spcAft>
              <a:buClr>
                <a:schemeClr val="dk2"/>
              </a:buClr>
              <a:buSzPts val="1800"/>
              <a:buChar char="○"/>
            </a:pPr>
            <a:r>
              <a:rPr lang="en-GB" sz="1800">
                <a:solidFill>
                  <a:schemeClr val="dk2"/>
                </a:solidFill>
              </a:rPr>
              <a:t>outgroup</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Be careful with </a:t>
            </a:r>
            <a:r>
              <a:rPr lang="en-GB" sz="1800" b="1">
                <a:solidFill>
                  <a:schemeClr val="dk2"/>
                </a:solidFill>
              </a:rPr>
              <a:t>reference genome</a:t>
            </a:r>
            <a:r>
              <a:rPr lang="en-GB" sz="1800">
                <a:solidFill>
                  <a:schemeClr val="dk2"/>
                </a:solidFill>
              </a:rPr>
              <a:t> used for </a:t>
            </a:r>
            <a:r>
              <a:rPr lang="en-GB" sz="1800" b="1">
                <a:solidFill>
                  <a:schemeClr val="dk2"/>
                </a:solidFill>
              </a:rPr>
              <a:t>mapping </a:t>
            </a:r>
            <a:r>
              <a:rPr lang="en-GB" sz="1800">
                <a:solidFill>
                  <a:schemeClr val="dk2"/>
                </a:solidFill>
              </a:rPr>
              <a:t>the data (avoid reference bias)</a:t>
            </a:r>
            <a:endParaRPr sz="1800">
              <a:solidFill>
                <a:schemeClr val="dk2"/>
              </a:solidFill>
            </a:endParaRPr>
          </a:p>
        </p:txBody>
      </p:sp>
      <p:sp>
        <p:nvSpPr>
          <p:cNvPr id="734" name="Google Shape;734;g3f68fc15589_0_292"/>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35" name="Google Shape;735;g3f68fc15589_0_292"/>
          <p:cNvSpPr txBox="1"/>
          <p:nvPr/>
        </p:nvSpPr>
        <p:spPr>
          <a:xfrm>
            <a:off x="3368800" y="153075"/>
            <a:ext cx="3000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accent5"/>
                </a:solidFill>
                <a:latin typeface="PT Sans Narrow"/>
                <a:ea typeface="PT Sans Narrow"/>
                <a:cs typeface="PT Sans Narrow"/>
                <a:sym typeface="PT Sans Narrow"/>
              </a:rPr>
              <a:t>Tips</a:t>
            </a:r>
            <a:endParaRPr/>
          </a:p>
        </p:txBody>
      </p:sp>
      <p:sp>
        <p:nvSpPr>
          <p:cNvPr id="736" name="Google Shape;736;g3f68fc15589_0_292"/>
          <p:cNvSpPr/>
          <p:nvPr/>
        </p:nvSpPr>
        <p:spPr>
          <a:xfrm>
            <a:off x="2983675" y="2801325"/>
            <a:ext cx="5628300" cy="2162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g3f68fc15589_0_469"/>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742" name="Google Shape;742;g3f68fc15589_0_469"/>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743" name="Google Shape;743;g3f68fc15589_0_469"/>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g3f68fc15589_0_469"/>
          <p:cNvSpPr txBox="1"/>
          <p:nvPr/>
        </p:nvSpPr>
        <p:spPr>
          <a:xfrm>
            <a:off x="3481575" y="65830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ancestral allele = A</a:t>
            </a:r>
            <a:endParaRPr sz="1400" b="1" i="0" u="none" strike="noStrike" cap="none">
              <a:solidFill>
                <a:srgbClr val="45818E"/>
              </a:solidFill>
              <a:latin typeface="Open Sans"/>
              <a:ea typeface="Open Sans"/>
              <a:cs typeface="Open Sans"/>
              <a:sym typeface="Open Sans"/>
            </a:endParaRPr>
          </a:p>
        </p:txBody>
      </p:sp>
      <p:sp>
        <p:nvSpPr>
          <p:cNvPr id="745" name="Google Shape;745;g3f68fc15589_0_469"/>
          <p:cNvSpPr txBox="1"/>
          <p:nvPr/>
        </p:nvSpPr>
        <p:spPr>
          <a:xfrm>
            <a:off x="4183000" y="1152425"/>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latin typeface="Open Sans"/>
                <a:ea typeface="Open Sans"/>
                <a:cs typeface="Open Sans"/>
                <a:sym typeface="Open Sans"/>
              </a:rPr>
              <a:t>mutation</a:t>
            </a:r>
            <a:r>
              <a:rPr lang="en-GB" sz="1400" b="1" i="0" u="none" strike="noStrike" cap="none">
                <a:solidFill>
                  <a:srgbClr val="45818E"/>
                </a:solidFill>
                <a:latin typeface="Open Sans"/>
                <a:ea typeface="Open Sans"/>
                <a:cs typeface="Open Sans"/>
                <a:sym typeface="Open Sans"/>
              </a:rPr>
              <a:t> A -&gt; B</a:t>
            </a:r>
            <a:endParaRPr sz="1400" b="1" i="0" u="none" strike="noStrike" cap="none">
              <a:solidFill>
                <a:srgbClr val="45818E"/>
              </a:solidFill>
              <a:latin typeface="Open Sans"/>
              <a:ea typeface="Open Sans"/>
              <a:cs typeface="Open Sans"/>
              <a:sym typeface="Open Sans"/>
            </a:endParaRPr>
          </a:p>
        </p:txBody>
      </p:sp>
      <p:sp>
        <p:nvSpPr>
          <p:cNvPr id="746" name="Google Shape;746;g3f68fc15589_0_469"/>
          <p:cNvSpPr txBox="1"/>
          <p:nvPr/>
        </p:nvSpPr>
        <p:spPr>
          <a:xfrm>
            <a:off x="4120075" y="1646550"/>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where the B alleles </a:t>
            </a:r>
            <a:r>
              <a:rPr lang="en-GB" sz="1400" b="1" i="0" u="none" strike="noStrike" cap="none">
                <a:solidFill>
                  <a:srgbClr val="FF0000"/>
                </a:solidFill>
                <a:latin typeface="Open Sans"/>
                <a:ea typeface="Open Sans"/>
                <a:cs typeface="Open Sans"/>
                <a:sym typeface="Open Sans"/>
              </a:rPr>
              <a:t>coalesce</a:t>
            </a:r>
            <a:endParaRPr sz="1400" b="1" i="0" u="none" strike="noStrike" cap="none">
              <a:solidFill>
                <a:srgbClr val="FF0000"/>
              </a:solidFill>
              <a:latin typeface="Open Sans"/>
              <a:ea typeface="Open Sans"/>
              <a:cs typeface="Open Sans"/>
              <a:sym typeface="Open Sans"/>
            </a:endParaRPr>
          </a:p>
        </p:txBody>
      </p:sp>
      <p:cxnSp>
        <p:nvCxnSpPr>
          <p:cNvPr id="747" name="Google Shape;747;g3f68fc15589_0_469"/>
          <p:cNvCxnSpPr/>
          <p:nvPr/>
        </p:nvCxnSpPr>
        <p:spPr>
          <a:xfrm flipH="1">
            <a:off x="3188325" y="982000"/>
            <a:ext cx="803400" cy="280500"/>
          </a:xfrm>
          <a:prstGeom prst="straightConnector1">
            <a:avLst/>
          </a:prstGeom>
          <a:noFill/>
          <a:ln w="19050" cap="flat" cmpd="sng">
            <a:solidFill>
              <a:srgbClr val="45818E"/>
            </a:solidFill>
            <a:prstDash val="solid"/>
            <a:round/>
            <a:headEnd type="none" w="sm" len="sm"/>
            <a:tailEnd type="triangle" w="med" len="med"/>
          </a:ln>
        </p:spPr>
      </p:cxnSp>
      <p:cxnSp>
        <p:nvCxnSpPr>
          <p:cNvPr id="748" name="Google Shape;748;g3f68fc15589_0_469"/>
          <p:cNvCxnSpPr>
            <a:stCxn id="745" idx="1"/>
          </p:cNvCxnSpPr>
          <p:nvPr/>
        </p:nvCxnSpPr>
        <p:spPr>
          <a:xfrm flipH="1">
            <a:off x="3099100" y="1352525"/>
            <a:ext cx="1083900" cy="75900"/>
          </a:xfrm>
          <a:prstGeom prst="straightConnector1">
            <a:avLst/>
          </a:prstGeom>
          <a:noFill/>
          <a:ln w="19050" cap="flat" cmpd="sng">
            <a:solidFill>
              <a:srgbClr val="45818E"/>
            </a:solidFill>
            <a:prstDash val="solid"/>
            <a:round/>
            <a:headEnd type="none" w="sm" len="sm"/>
            <a:tailEnd type="triangle" w="med" len="med"/>
          </a:ln>
        </p:spPr>
      </p:cxnSp>
      <p:cxnSp>
        <p:nvCxnSpPr>
          <p:cNvPr id="749" name="Google Shape;749;g3f68fc15589_0_469"/>
          <p:cNvCxnSpPr>
            <a:stCxn id="746" idx="1"/>
          </p:cNvCxnSpPr>
          <p:nvPr/>
        </p:nvCxnSpPr>
        <p:spPr>
          <a:xfrm rot="10800000">
            <a:off x="2983675" y="1704450"/>
            <a:ext cx="1136400" cy="142200"/>
          </a:xfrm>
          <a:prstGeom prst="straightConnector1">
            <a:avLst/>
          </a:prstGeom>
          <a:noFill/>
          <a:ln w="19050" cap="flat" cmpd="sng">
            <a:solidFill>
              <a:srgbClr val="45818E"/>
            </a:solidFill>
            <a:prstDash val="solid"/>
            <a:round/>
            <a:headEnd type="none" w="sm" len="sm"/>
            <a:tailEnd type="triangle" w="med" len="med"/>
          </a:ln>
        </p:spPr>
      </p:cxnSp>
      <p:cxnSp>
        <p:nvCxnSpPr>
          <p:cNvPr id="750" name="Google Shape;750;g3f68fc15589_0_469"/>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751" name="Google Shape;751;g3f68fc15589_0_469"/>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g3f68fc15589_0_469"/>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753" name="Google Shape;753;g3f68fc15589_0_469"/>
          <p:cNvSpPr/>
          <p:nvPr/>
        </p:nvSpPr>
        <p:spPr>
          <a:xfrm>
            <a:off x="2231800" y="1098138"/>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54" name="Google Shape;754;g3f68fc15589_0_469"/>
          <p:cNvSpPr/>
          <p:nvPr/>
        </p:nvSpPr>
        <p:spPr>
          <a:xfrm>
            <a:off x="2702750" y="554413"/>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55" name="Google Shape;755;g3f68fc15589_0_469"/>
          <p:cNvSpPr txBox="1"/>
          <p:nvPr/>
        </p:nvSpPr>
        <p:spPr>
          <a:xfrm>
            <a:off x="3117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756" name="Google Shape;756;g3f68fc15589_0_469"/>
          <p:cNvSpPr txBox="1"/>
          <p:nvPr/>
        </p:nvSpPr>
        <p:spPr>
          <a:xfrm>
            <a:off x="7737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757" name="Google Shape;757;g3f68fc15589_0_469"/>
          <p:cNvSpPr txBox="1"/>
          <p:nvPr/>
        </p:nvSpPr>
        <p:spPr>
          <a:xfrm>
            <a:off x="12717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758" name="Google Shape;758;g3f68fc15589_0_469"/>
          <p:cNvSpPr txBox="1"/>
          <p:nvPr/>
        </p:nvSpPr>
        <p:spPr>
          <a:xfrm>
            <a:off x="18183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Outgroup</a:t>
            </a:r>
            <a:endParaRPr b="1">
              <a:solidFill>
                <a:srgbClr val="598E9A"/>
              </a:solidFill>
            </a:endParaRPr>
          </a:p>
        </p:txBody>
      </p:sp>
      <p:sp>
        <p:nvSpPr>
          <p:cNvPr id="759" name="Google Shape;759;g3f68fc15589_0_469"/>
          <p:cNvSpPr txBox="1"/>
          <p:nvPr/>
        </p:nvSpPr>
        <p:spPr>
          <a:xfrm>
            <a:off x="2954775" y="786250"/>
            <a:ext cx="5628300" cy="39666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200"/>
              </a:spcBef>
              <a:spcAft>
                <a:spcPts val="0"/>
              </a:spcAft>
              <a:buClr>
                <a:schemeClr val="dk2"/>
              </a:buClr>
              <a:buSzPts val="1800"/>
              <a:buChar char="●"/>
            </a:pPr>
            <a:r>
              <a:rPr lang="en-GB" sz="1800">
                <a:solidFill>
                  <a:schemeClr val="dk2"/>
                </a:solidFill>
              </a:rPr>
              <a:t>Excess of allele sharing between </a:t>
            </a:r>
            <a:r>
              <a:rPr lang="en-GB" sz="1800" b="1">
                <a:solidFill>
                  <a:schemeClr val="dk2"/>
                </a:solidFill>
              </a:rPr>
              <a:t>P3</a:t>
            </a:r>
            <a:r>
              <a:rPr lang="en-GB" sz="1800">
                <a:solidFill>
                  <a:schemeClr val="dk2"/>
                </a:solidFill>
              </a:rPr>
              <a:t> and </a:t>
            </a:r>
            <a:r>
              <a:rPr lang="en-GB" sz="1800" b="1">
                <a:solidFill>
                  <a:srgbClr val="598E9A"/>
                </a:solidFill>
              </a:rPr>
              <a:t>either</a:t>
            </a:r>
            <a:r>
              <a:rPr lang="en-GB" sz="1800">
                <a:solidFill>
                  <a:schemeClr val="dk2"/>
                </a:solidFill>
              </a:rPr>
              <a:t> </a:t>
            </a:r>
            <a:r>
              <a:rPr lang="en-GB" sz="1800" b="1">
                <a:solidFill>
                  <a:schemeClr val="dk2"/>
                </a:solidFill>
              </a:rPr>
              <a:t>P1</a:t>
            </a:r>
            <a:r>
              <a:rPr lang="en-GB" sz="1800">
                <a:solidFill>
                  <a:schemeClr val="dk2"/>
                </a:solidFill>
              </a:rPr>
              <a:t> or </a:t>
            </a:r>
            <a:r>
              <a:rPr lang="en-GB" sz="1800" b="1">
                <a:solidFill>
                  <a:schemeClr val="dk2"/>
                </a:solidFill>
              </a:rPr>
              <a:t>P2</a:t>
            </a:r>
            <a:endParaRPr sz="1800" b="1">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=&gt; important to think which populations make sense for P1,P2</a:t>
            </a:r>
            <a:endParaRPr sz="1800">
              <a:solidFill>
                <a:schemeClr val="dk2"/>
              </a:solidFill>
            </a:endParaRPr>
          </a:p>
          <a:p>
            <a:pPr marL="914400" lvl="1" indent="-342900" algn="l" rtl="0">
              <a:lnSpc>
                <a:spcPct val="115000"/>
              </a:lnSpc>
              <a:spcBef>
                <a:spcPts val="0"/>
              </a:spcBef>
              <a:spcAft>
                <a:spcPts val="0"/>
              </a:spcAft>
              <a:buClr>
                <a:schemeClr val="dk2"/>
              </a:buClr>
              <a:buSzPts val="1800"/>
              <a:buChar char="○"/>
            </a:pPr>
            <a:r>
              <a:rPr lang="en-GB" sz="1800">
                <a:solidFill>
                  <a:schemeClr val="dk2"/>
                </a:solidFill>
              </a:rPr>
              <a:t>If both P1 and P2 experienced gene flow from P3 cannot detect it!!</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b="1">
                <a:solidFill>
                  <a:schemeClr val="dk2"/>
                </a:solidFill>
              </a:rPr>
              <a:t>4 </a:t>
            </a:r>
            <a:r>
              <a:rPr lang="en-GB" sz="1800">
                <a:solidFill>
                  <a:schemeClr val="dk2"/>
                </a:solidFill>
              </a:rPr>
              <a:t>populations need to fit within this</a:t>
            </a:r>
            <a:r>
              <a:rPr lang="en-GB" sz="1800" b="1">
                <a:solidFill>
                  <a:schemeClr val="dk2"/>
                </a:solidFill>
              </a:rPr>
              <a:t> tree</a:t>
            </a:r>
            <a:r>
              <a:rPr lang="en-GB" sz="1800">
                <a:solidFill>
                  <a:schemeClr val="dk2"/>
                </a:solidFill>
              </a:rPr>
              <a:t>; </a:t>
            </a:r>
            <a:endParaRPr sz="1800">
              <a:solidFill>
                <a:schemeClr val="dk2"/>
              </a:solidFill>
            </a:endParaRPr>
          </a:p>
          <a:p>
            <a:pPr marL="914400" lvl="1" indent="-342900" algn="l" rtl="0">
              <a:lnSpc>
                <a:spcPct val="115000"/>
              </a:lnSpc>
              <a:spcBef>
                <a:spcPts val="0"/>
              </a:spcBef>
              <a:spcAft>
                <a:spcPts val="0"/>
              </a:spcAft>
              <a:buClr>
                <a:schemeClr val="dk2"/>
              </a:buClr>
              <a:buSzPts val="1800"/>
              <a:buChar char="○"/>
            </a:pPr>
            <a:r>
              <a:rPr lang="en-GB" sz="1800">
                <a:solidFill>
                  <a:schemeClr val="dk2"/>
                </a:solidFill>
              </a:rPr>
              <a:t>Ie P1, P2 sister populations</a:t>
            </a:r>
            <a:endParaRPr sz="1800">
              <a:solidFill>
                <a:schemeClr val="dk2"/>
              </a:solidFill>
            </a:endParaRPr>
          </a:p>
          <a:p>
            <a:pPr marL="914400" lvl="1" indent="-342900" algn="l" rtl="0">
              <a:lnSpc>
                <a:spcPct val="115000"/>
              </a:lnSpc>
              <a:spcBef>
                <a:spcPts val="0"/>
              </a:spcBef>
              <a:spcAft>
                <a:spcPts val="0"/>
              </a:spcAft>
              <a:buClr>
                <a:schemeClr val="dk2"/>
              </a:buClr>
              <a:buSzPts val="1800"/>
              <a:buChar char="○"/>
            </a:pPr>
            <a:r>
              <a:rPr lang="en-GB" sz="1800">
                <a:solidFill>
                  <a:schemeClr val="dk2"/>
                </a:solidFill>
              </a:rPr>
              <a:t>P3 branches next</a:t>
            </a:r>
            <a:endParaRPr sz="1800">
              <a:solidFill>
                <a:schemeClr val="dk2"/>
              </a:solidFill>
            </a:endParaRPr>
          </a:p>
          <a:p>
            <a:pPr marL="914400" lvl="1" indent="-342900" algn="l" rtl="0">
              <a:lnSpc>
                <a:spcPct val="115000"/>
              </a:lnSpc>
              <a:spcBef>
                <a:spcPts val="0"/>
              </a:spcBef>
              <a:spcAft>
                <a:spcPts val="0"/>
              </a:spcAft>
              <a:buClr>
                <a:schemeClr val="dk2"/>
              </a:buClr>
              <a:buSzPts val="1800"/>
              <a:buChar char="○"/>
            </a:pPr>
            <a:r>
              <a:rPr lang="en-GB" sz="1800">
                <a:solidFill>
                  <a:schemeClr val="dk2"/>
                </a:solidFill>
              </a:rPr>
              <a:t>outgroup</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Be careful with </a:t>
            </a:r>
            <a:r>
              <a:rPr lang="en-GB" sz="1800" b="1">
                <a:solidFill>
                  <a:schemeClr val="dk2"/>
                </a:solidFill>
              </a:rPr>
              <a:t>reference genome</a:t>
            </a:r>
            <a:r>
              <a:rPr lang="en-GB" sz="1800">
                <a:solidFill>
                  <a:schemeClr val="dk2"/>
                </a:solidFill>
              </a:rPr>
              <a:t> used for </a:t>
            </a:r>
            <a:r>
              <a:rPr lang="en-GB" sz="1800" b="1">
                <a:solidFill>
                  <a:schemeClr val="dk2"/>
                </a:solidFill>
              </a:rPr>
              <a:t>mapping </a:t>
            </a:r>
            <a:r>
              <a:rPr lang="en-GB" sz="1800">
                <a:solidFill>
                  <a:schemeClr val="dk2"/>
                </a:solidFill>
              </a:rPr>
              <a:t>the data (avoid reference bias)</a:t>
            </a:r>
            <a:endParaRPr sz="1800">
              <a:solidFill>
                <a:schemeClr val="dk2"/>
              </a:solidFill>
            </a:endParaRPr>
          </a:p>
        </p:txBody>
      </p:sp>
      <p:sp>
        <p:nvSpPr>
          <p:cNvPr id="760" name="Google Shape;760;g3f68fc15589_0_469"/>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61" name="Google Shape;761;g3f68fc15589_0_469"/>
          <p:cNvSpPr txBox="1"/>
          <p:nvPr/>
        </p:nvSpPr>
        <p:spPr>
          <a:xfrm>
            <a:off x="3368800" y="153075"/>
            <a:ext cx="3000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accent5"/>
                </a:solidFill>
                <a:latin typeface="PT Sans Narrow"/>
                <a:ea typeface="PT Sans Narrow"/>
                <a:cs typeface="PT Sans Narrow"/>
                <a:sym typeface="PT Sans Narrow"/>
              </a:rPr>
              <a:t>Tips</a:t>
            </a:r>
            <a:endParaRPr/>
          </a:p>
        </p:txBody>
      </p:sp>
      <p:pic>
        <p:nvPicPr>
          <p:cNvPr id="762" name="Google Shape;762;g3f68fc15589_0_469"/>
          <p:cNvPicPr preferRelativeResize="0"/>
          <p:nvPr/>
        </p:nvPicPr>
        <p:blipFill>
          <a:blip r:embed="rId4">
            <a:alphaModFix/>
          </a:blip>
          <a:stretch>
            <a:fillRect/>
          </a:stretch>
        </p:blipFill>
        <p:spPr>
          <a:xfrm>
            <a:off x="2889000" y="786250"/>
            <a:ext cx="5943300" cy="19783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3f68fc15589_0_317"/>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768" name="Google Shape;768;g3f68fc15589_0_317"/>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769" name="Google Shape;769;g3f68fc15589_0_317"/>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g3f68fc15589_0_317"/>
          <p:cNvSpPr txBox="1"/>
          <p:nvPr/>
        </p:nvSpPr>
        <p:spPr>
          <a:xfrm>
            <a:off x="3481575" y="65830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ancestral allele = A</a:t>
            </a:r>
            <a:endParaRPr sz="1400" b="1" i="0" u="none" strike="noStrike" cap="none">
              <a:solidFill>
                <a:srgbClr val="45818E"/>
              </a:solidFill>
              <a:latin typeface="Open Sans"/>
              <a:ea typeface="Open Sans"/>
              <a:cs typeface="Open Sans"/>
              <a:sym typeface="Open Sans"/>
            </a:endParaRPr>
          </a:p>
        </p:txBody>
      </p:sp>
      <p:sp>
        <p:nvSpPr>
          <p:cNvPr id="771" name="Google Shape;771;g3f68fc15589_0_317"/>
          <p:cNvSpPr txBox="1"/>
          <p:nvPr/>
        </p:nvSpPr>
        <p:spPr>
          <a:xfrm>
            <a:off x="4183000" y="1152425"/>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latin typeface="Open Sans"/>
                <a:ea typeface="Open Sans"/>
                <a:cs typeface="Open Sans"/>
                <a:sym typeface="Open Sans"/>
              </a:rPr>
              <a:t>mutation</a:t>
            </a:r>
            <a:r>
              <a:rPr lang="en-GB" sz="1400" b="1" i="0" u="none" strike="noStrike" cap="none">
                <a:solidFill>
                  <a:srgbClr val="45818E"/>
                </a:solidFill>
                <a:latin typeface="Open Sans"/>
                <a:ea typeface="Open Sans"/>
                <a:cs typeface="Open Sans"/>
                <a:sym typeface="Open Sans"/>
              </a:rPr>
              <a:t> A -&gt; B</a:t>
            </a:r>
            <a:endParaRPr sz="1400" b="1" i="0" u="none" strike="noStrike" cap="none">
              <a:solidFill>
                <a:srgbClr val="45818E"/>
              </a:solidFill>
              <a:latin typeface="Open Sans"/>
              <a:ea typeface="Open Sans"/>
              <a:cs typeface="Open Sans"/>
              <a:sym typeface="Open Sans"/>
            </a:endParaRPr>
          </a:p>
        </p:txBody>
      </p:sp>
      <p:sp>
        <p:nvSpPr>
          <p:cNvPr id="772" name="Google Shape;772;g3f68fc15589_0_317"/>
          <p:cNvSpPr txBox="1"/>
          <p:nvPr/>
        </p:nvSpPr>
        <p:spPr>
          <a:xfrm>
            <a:off x="4120075" y="1646550"/>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where the B alleles </a:t>
            </a:r>
            <a:r>
              <a:rPr lang="en-GB" sz="1400" b="1" i="0" u="none" strike="noStrike" cap="none">
                <a:solidFill>
                  <a:srgbClr val="FF0000"/>
                </a:solidFill>
                <a:latin typeface="Open Sans"/>
                <a:ea typeface="Open Sans"/>
                <a:cs typeface="Open Sans"/>
                <a:sym typeface="Open Sans"/>
              </a:rPr>
              <a:t>coalesce</a:t>
            </a:r>
            <a:endParaRPr sz="1400" b="1" i="0" u="none" strike="noStrike" cap="none">
              <a:solidFill>
                <a:srgbClr val="FF0000"/>
              </a:solidFill>
              <a:latin typeface="Open Sans"/>
              <a:ea typeface="Open Sans"/>
              <a:cs typeface="Open Sans"/>
              <a:sym typeface="Open Sans"/>
            </a:endParaRPr>
          </a:p>
        </p:txBody>
      </p:sp>
      <p:cxnSp>
        <p:nvCxnSpPr>
          <p:cNvPr id="773" name="Google Shape;773;g3f68fc15589_0_317"/>
          <p:cNvCxnSpPr/>
          <p:nvPr/>
        </p:nvCxnSpPr>
        <p:spPr>
          <a:xfrm flipH="1">
            <a:off x="3188325" y="982000"/>
            <a:ext cx="803400" cy="280500"/>
          </a:xfrm>
          <a:prstGeom prst="straightConnector1">
            <a:avLst/>
          </a:prstGeom>
          <a:noFill/>
          <a:ln w="19050" cap="flat" cmpd="sng">
            <a:solidFill>
              <a:srgbClr val="45818E"/>
            </a:solidFill>
            <a:prstDash val="solid"/>
            <a:round/>
            <a:headEnd type="none" w="sm" len="sm"/>
            <a:tailEnd type="triangle" w="med" len="med"/>
          </a:ln>
        </p:spPr>
      </p:cxnSp>
      <p:cxnSp>
        <p:nvCxnSpPr>
          <p:cNvPr id="774" name="Google Shape;774;g3f68fc15589_0_317"/>
          <p:cNvCxnSpPr>
            <a:stCxn id="771" idx="1"/>
          </p:cNvCxnSpPr>
          <p:nvPr/>
        </p:nvCxnSpPr>
        <p:spPr>
          <a:xfrm flipH="1">
            <a:off x="3099100" y="1352525"/>
            <a:ext cx="1083900" cy="75900"/>
          </a:xfrm>
          <a:prstGeom prst="straightConnector1">
            <a:avLst/>
          </a:prstGeom>
          <a:noFill/>
          <a:ln w="19050" cap="flat" cmpd="sng">
            <a:solidFill>
              <a:srgbClr val="45818E"/>
            </a:solidFill>
            <a:prstDash val="solid"/>
            <a:round/>
            <a:headEnd type="none" w="sm" len="sm"/>
            <a:tailEnd type="triangle" w="med" len="med"/>
          </a:ln>
        </p:spPr>
      </p:cxnSp>
      <p:cxnSp>
        <p:nvCxnSpPr>
          <p:cNvPr id="775" name="Google Shape;775;g3f68fc15589_0_317"/>
          <p:cNvCxnSpPr>
            <a:stCxn id="772" idx="1"/>
          </p:cNvCxnSpPr>
          <p:nvPr/>
        </p:nvCxnSpPr>
        <p:spPr>
          <a:xfrm rot="10800000">
            <a:off x="2983675" y="1704450"/>
            <a:ext cx="1136400" cy="142200"/>
          </a:xfrm>
          <a:prstGeom prst="straightConnector1">
            <a:avLst/>
          </a:prstGeom>
          <a:noFill/>
          <a:ln w="19050" cap="flat" cmpd="sng">
            <a:solidFill>
              <a:srgbClr val="45818E"/>
            </a:solidFill>
            <a:prstDash val="solid"/>
            <a:round/>
            <a:headEnd type="none" w="sm" len="sm"/>
            <a:tailEnd type="triangle" w="med" len="med"/>
          </a:ln>
        </p:spPr>
      </p:cxnSp>
      <p:cxnSp>
        <p:nvCxnSpPr>
          <p:cNvPr id="776" name="Google Shape;776;g3f68fc15589_0_317"/>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777" name="Google Shape;777;g3f68fc15589_0_317"/>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g3f68fc15589_0_317"/>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779" name="Google Shape;779;g3f68fc15589_0_317"/>
          <p:cNvSpPr/>
          <p:nvPr/>
        </p:nvSpPr>
        <p:spPr>
          <a:xfrm>
            <a:off x="2231800" y="1098138"/>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80" name="Google Shape;780;g3f68fc15589_0_317"/>
          <p:cNvSpPr/>
          <p:nvPr/>
        </p:nvSpPr>
        <p:spPr>
          <a:xfrm>
            <a:off x="2702750" y="554413"/>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81" name="Google Shape;781;g3f68fc15589_0_317"/>
          <p:cNvSpPr txBox="1"/>
          <p:nvPr/>
        </p:nvSpPr>
        <p:spPr>
          <a:xfrm>
            <a:off x="3117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782" name="Google Shape;782;g3f68fc15589_0_317"/>
          <p:cNvSpPr txBox="1"/>
          <p:nvPr/>
        </p:nvSpPr>
        <p:spPr>
          <a:xfrm>
            <a:off x="7737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783" name="Google Shape;783;g3f68fc15589_0_317"/>
          <p:cNvSpPr txBox="1"/>
          <p:nvPr/>
        </p:nvSpPr>
        <p:spPr>
          <a:xfrm>
            <a:off x="12717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784" name="Google Shape;784;g3f68fc15589_0_317"/>
          <p:cNvSpPr txBox="1"/>
          <p:nvPr/>
        </p:nvSpPr>
        <p:spPr>
          <a:xfrm>
            <a:off x="18183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Outgroup</a:t>
            </a:r>
            <a:endParaRPr b="1">
              <a:solidFill>
                <a:srgbClr val="598E9A"/>
              </a:solidFill>
            </a:endParaRPr>
          </a:p>
        </p:txBody>
      </p:sp>
      <p:sp>
        <p:nvSpPr>
          <p:cNvPr id="785" name="Google Shape;785;g3f68fc15589_0_317"/>
          <p:cNvSpPr txBox="1"/>
          <p:nvPr/>
        </p:nvSpPr>
        <p:spPr>
          <a:xfrm>
            <a:off x="2954775" y="1262500"/>
            <a:ext cx="5925000" cy="20442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200"/>
              </a:spcBef>
              <a:spcAft>
                <a:spcPts val="0"/>
              </a:spcAft>
              <a:buClr>
                <a:schemeClr val="dk2"/>
              </a:buClr>
              <a:buSzPts val="1800"/>
              <a:buChar char="●"/>
            </a:pPr>
            <a:r>
              <a:rPr lang="en-GB" sz="1800">
                <a:solidFill>
                  <a:schemeClr val="dk2"/>
                </a:solidFill>
              </a:rPr>
              <a:t>Genome-wide signal</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Rather than specific introgressed loci</a:t>
            </a:r>
            <a:endParaRPr sz="1800">
              <a:solidFill>
                <a:schemeClr val="dk2"/>
              </a:solidFill>
            </a:endParaRPr>
          </a:p>
          <a:p>
            <a:pPr marL="457200" lvl="0" indent="0" algn="l" rtl="0">
              <a:lnSpc>
                <a:spcPct val="115000"/>
              </a:lnSpc>
              <a:spcBef>
                <a:spcPts val="1200"/>
              </a:spcBef>
              <a:spcAft>
                <a:spcPts val="0"/>
              </a:spcAft>
              <a:buNone/>
            </a:pPr>
            <a:endParaRPr sz="1800">
              <a:solidFill>
                <a:schemeClr val="dk2"/>
              </a:solidFill>
            </a:endParaRPr>
          </a:p>
          <a:p>
            <a:pPr marL="457200" lvl="0" indent="-342900" algn="l" rtl="0">
              <a:lnSpc>
                <a:spcPct val="115000"/>
              </a:lnSpc>
              <a:spcBef>
                <a:spcPts val="1200"/>
              </a:spcBef>
              <a:spcAft>
                <a:spcPts val="0"/>
              </a:spcAft>
              <a:buClr>
                <a:srgbClr val="598E9A"/>
              </a:buClr>
              <a:buSzPts val="1800"/>
              <a:buChar char="●"/>
            </a:pPr>
            <a:r>
              <a:rPr lang="en-GB" sz="1800" b="1">
                <a:solidFill>
                  <a:srgbClr val="598E9A"/>
                </a:solidFill>
              </a:rPr>
              <a:t>Q: Introgression or ancestral population structure? </a:t>
            </a:r>
            <a:endParaRPr sz="1800" b="1">
              <a:solidFill>
                <a:srgbClr val="598E9A"/>
              </a:solidFill>
            </a:endParaRPr>
          </a:p>
        </p:txBody>
      </p:sp>
      <p:sp>
        <p:nvSpPr>
          <p:cNvPr id="786" name="Google Shape;786;g3f68fc15589_0_317"/>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87" name="Google Shape;787;g3f68fc15589_0_317"/>
          <p:cNvSpPr txBox="1"/>
          <p:nvPr/>
        </p:nvSpPr>
        <p:spPr>
          <a:xfrm>
            <a:off x="3119400" y="438200"/>
            <a:ext cx="3000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accent5"/>
                </a:solidFill>
                <a:latin typeface="PT Sans Narrow"/>
                <a:ea typeface="PT Sans Narrow"/>
                <a:cs typeface="PT Sans Narrow"/>
                <a:sym typeface="PT Sans Narrow"/>
              </a:rPr>
              <a:t>Limitations 1</a:t>
            </a:r>
            <a:endParaRPr/>
          </a:p>
        </p:txBody>
      </p:sp>
      <p:sp>
        <p:nvSpPr>
          <p:cNvPr id="788" name="Google Shape;788;g3f68fc15589_0_317"/>
          <p:cNvSpPr txBox="1"/>
          <p:nvPr/>
        </p:nvSpPr>
        <p:spPr>
          <a:xfrm>
            <a:off x="3481575" y="3603650"/>
            <a:ext cx="47421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GB" sz="1500" b="1">
                <a:solidFill>
                  <a:srgbClr val="2A2A2A"/>
                </a:solidFill>
              </a:rPr>
              <a:t>Ancestral population structure = non-random mating in the ancestor</a:t>
            </a:r>
            <a:endParaRPr sz="1500" b="1" i="0" u="none" strike="noStrike" cap="none">
              <a:solidFill>
                <a:srgbClr val="2A2A2A"/>
              </a:solidFill>
            </a:endParaRPr>
          </a:p>
        </p:txBody>
      </p:sp>
      <p:sp>
        <p:nvSpPr>
          <p:cNvPr id="789" name="Google Shape;789;g3f68fc15589_0_317"/>
          <p:cNvSpPr/>
          <p:nvPr/>
        </p:nvSpPr>
        <p:spPr>
          <a:xfrm>
            <a:off x="3605025" y="3510688"/>
            <a:ext cx="4495200" cy="8568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3f68fc15589_0_367"/>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pic>
        <p:nvPicPr>
          <p:cNvPr id="795" name="Google Shape;795;g3f68fc15589_0_367"/>
          <p:cNvPicPr preferRelativeResize="0"/>
          <p:nvPr/>
        </p:nvPicPr>
        <p:blipFill rotWithShape="1">
          <a:blip r:embed="rId3">
            <a:alphaModFix/>
          </a:blip>
          <a:srcRect/>
          <a:stretch/>
        </p:blipFill>
        <p:spPr>
          <a:xfrm>
            <a:off x="311698" y="1058500"/>
            <a:ext cx="3808375" cy="3915226"/>
          </a:xfrm>
          <a:prstGeom prst="rect">
            <a:avLst/>
          </a:prstGeom>
          <a:noFill/>
          <a:ln>
            <a:noFill/>
          </a:ln>
        </p:spPr>
      </p:pic>
      <p:sp>
        <p:nvSpPr>
          <p:cNvPr id="796" name="Google Shape;796;g3f68fc15589_0_367"/>
          <p:cNvSpPr/>
          <p:nvPr/>
        </p:nvSpPr>
        <p:spPr>
          <a:xfrm>
            <a:off x="2231800" y="3073500"/>
            <a:ext cx="19512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g3f68fc15589_0_367"/>
          <p:cNvSpPr txBox="1"/>
          <p:nvPr/>
        </p:nvSpPr>
        <p:spPr>
          <a:xfrm>
            <a:off x="3481575" y="658300"/>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ancestral allele = A</a:t>
            </a:r>
            <a:endParaRPr sz="1400" b="1" i="0" u="none" strike="noStrike" cap="none">
              <a:solidFill>
                <a:srgbClr val="45818E"/>
              </a:solidFill>
              <a:latin typeface="Open Sans"/>
              <a:ea typeface="Open Sans"/>
              <a:cs typeface="Open Sans"/>
              <a:sym typeface="Open Sans"/>
            </a:endParaRPr>
          </a:p>
        </p:txBody>
      </p:sp>
      <p:sp>
        <p:nvSpPr>
          <p:cNvPr id="798" name="Google Shape;798;g3f68fc15589_0_367"/>
          <p:cNvSpPr txBox="1"/>
          <p:nvPr/>
        </p:nvSpPr>
        <p:spPr>
          <a:xfrm>
            <a:off x="4183000" y="1152425"/>
            <a:ext cx="30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0C343D"/>
                </a:solidFill>
                <a:latin typeface="Open Sans"/>
                <a:ea typeface="Open Sans"/>
                <a:cs typeface="Open Sans"/>
                <a:sym typeface="Open Sans"/>
              </a:rPr>
              <a:t>mutation</a:t>
            </a:r>
            <a:r>
              <a:rPr lang="en-GB" sz="1400" b="1" i="0" u="none" strike="noStrike" cap="none">
                <a:solidFill>
                  <a:srgbClr val="45818E"/>
                </a:solidFill>
                <a:latin typeface="Open Sans"/>
                <a:ea typeface="Open Sans"/>
                <a:cs typeface="Open Sans"/>
                <a:sym typeface="Open Sans"/>
              </a:rPr>
              <a:t> A -&gt; B</a:t>
            </a:r>
            <a:endParaRPr sz="1400" b="1" i="0" u="none" strike="noStrike" cap="none">
              <a:solidFill>
                <a:srgbClr val="45818E"/>
              </a:solidFill>
              <a:latin typeface="Open Sans"/>
              <a:ea typeface="Open Sans"/>
              <a:cs typeface="Open Sans"/>
              <a:sym typeface="Open Sans"/>
            </a:endParaRPr>
          </a:p>
        </p:txBody>
      </p:sp>
      <p:sp>
        <p:nvSpPr>
          <p:cNvPr id="799" name="Google Shape;799;g3f68fc15589_0_367"/>
          <p:cNvSpPr txBox="1"/>
          <p:nvPr/>
        </p:nvSpPr>
        <p:spPr>
          <a:xfrm>
            <a:off x="4120075" y="1646550"/>
            <a:ext cx="3635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where the B alleles </a:t>
            </a:r>
            <a:r>
              <a:rPr lang="en-GB" sz="1400" b="1" i="0" u="none" strike="noStrike" cap="none">
                <a:solidFill>
                  <a:srgbClr val="FF0000"/>
                </a:solidFill>
                <a:latin typeface="Open Sans"/>
                <a:ea typeface="Open Sans"/>
                <a:cs typeface="Open Sans"/>
                <a:sym typeface="Open Sans"/>
              </a:rPr>
              <a:t>coalesce</a:t>
            </a:r>
            <a:endParaRPr sz="1400" b="1" i="0" u="none" strike="noStrike" cap="none">
              <a:solidFill>
                <a:srgbClr val="FF0000"/>
              </a:solidFill>
              <a:latin typeface="Open Sans"/>
              <a:ea typeface="Open Sans"/>
              <a:cs typeface="Open Sans"/>
              <a:sym typeface="Open Sans"/>
            </a:endParaRPr>
          </a:p>
        </p:txBody>
      </p:sp>
      <p:cxnSp>
        <p:nvCxnSpPr>
          <p:cNvPr id="800" name="Google Shape;800;g3f68fc15589_0_367"/>
          <p:cNvCxnSpPr/>
          <p:nvPr/>
        </p:nvCxnSpPr>
        <p:spPr>
          <a:xfrm flipH="1">
            <a:off x="3188325" y="982000"/>
            <a:ext cx="803400" cy="280500"/>
          </a:xfrm>
          <a:prstGeom prst="straightConnector1">
            <a:avLst/>
          </a:prstGeom>
          <a:noFill/>
          <a:ln w="19050" cap="flat" cmpd="sng">
            <a:solidFill>
              <a:srgbClr val="45818E"/>
            </a:solidFill>
            <a:prstDash val="solid"/>
            <a:round/>
            <a:headEnd type="none" w="sm" len="sm"/>
            <a:tailEnd type="triangle" w="med" len="med"/>
          </a:ln>
        </p:spPr>
      </p:cxnSp>
      <p:cxnSp>
        <p:nvCxnSpPr>
          <p:cNvPr id="801" name="Google Shape;801;g3f68fc15589_0_367"/>
          <p:cNvCxnSpPr>
            <a:stCxn id="798" idx="1"/>
          </p:cNvCxnSpPr>
          <p:nvPr/>
        </p:nvCxnSpPr>
        <p:spPr>
          <a:xfrm flipH="1">
            <a:off x="3099100" y="1352525"/>
            <a:ext cx="1083900" cy="75900"/>
          </a:xfrm>
          <a:prstGeom prst="straightConnector1">
            <a:avLst/>
          </a:prstGeom>
          <a:noFill/>
          <a:ln w="19050" cap="flat" cmpd="sng">
            <a:solidFill>
              <a:srgbClr val="45818E"/>
            </a:solidFill>
            <a:prstDash val="solid"/>
            <a:round/>
            <a:headEnd type="none" w="sm" len="sm"/>
            <a:tailEnd type="triangle" w="med" len="med"/>
          </a:ln>
        </p:spPr>
      </p:cxnSp>
      <p:cxnSp>
        <p:nvCxnSpPr>
          <p:cNvPr id="802" name="Google Shape;802;g3f68fc15589_0_367"/>
          <p:cNvCxnSpPr>
            <a:stCxn id="799" idx="1"/>
          </p:cNvCxnSpPr>
          <p:nvPr/>
        </p:nvCxnSpPr>
        <p:spPr>
          <a:xfrm rot="10800000">
            <a:off x="2983675" y="1704450"/>
            <a:ext cx="1136400" cy="142200"/>
          </a:xfrm>
          <a:prstGeom prst="straightConnector1">
            <a:avLst/>
          </a:prstGeom>
          <a:noFill/>
          <a:ln w="19050" cap="flat" cmpd="sng">
            <a:solidFill>
              <a:srgbClr val="45818E"/>
            </a:solidFill>
            <a:prstDash val="solid"/>
            <a:round/>
            <a:headEnd type="none" w="sm" len="sm"/>
            <a:tailEnd type="triangle" w="med" len="med"/>
          </a:ln>
        </p:spPr>
      </p:cxnSp>
      <p:cxnSp>
        <p:nvCxnSpPr>
          <p:cNvPr id="803" name="Google Shape;803;g3f68fc15589_0_367"/>
          <p:cNvCxnSpPr/>
          <p:nvPr/>
        </p:nvCxnSpPr>
        <p:spPr>
          <a:xfrm flipH="1">
            <a:off x="981625" y="4425350"/>
            <a:ext cx="370200" cy="50100"/>
          </a:xfrm>
          <a:prstGeom prst="straightConnector1">
            <a:avLst/>
          </a:prstGeom>
          <a:noFill/>
          <a:ln w="9525" cap="flat" cmpd="sng">
            <a:solidFill>
              <a:srgbClr val="FF0000"/>
            </a:solidFill>
            <a:prstDash val="solid"/>
            <a:round/>
            <a:headEnd type="none" w="sm" len="sm"/>
            <a:tailEnd type="triangle" w="med" len="med"/>
          </a:ln>
        </p:spPr>
      </p:cxnSp>
      <p:sp>
        <p:nvSpPr>
          <p:cNvPr id="804" name="Google Shape;804;g3f68fc15589_0_367"/>
          <p:cNvSpPr/>
          <p:nvPr/>
        </p:nvSpPr>
        <p:spPr>
          <a:xfrm>
            <a:off x="133875" y="3025675"/>
            <a:ext cx="2262600" cy="1900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g3f68fc15589_0_367"/>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806" name="Google Shape;806;g3f68fc15589_0_367"/>
          <p:cNvSpPr/>
          <p:nvPr/>
        </p:nvSpPr>
        <p:spPr>
          <a:xfrm>
            <a:off x="2231800" y="1098138"/>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07" name="Google Shape;807;g3f68fc15589_0_367"/>
          <p:cNvSpPr/>
          <p:nvPr/>
        </p:nvSpPr>
        <p:spPr>
          <a:xfrm>
            <a:off x="2702750" y="554413"/>
            <a:ext cx="5274000" cy="188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08" name="Google Shape;808;g3f68fc15589_0_367"/>
          <p:cNvSpPr txBox="1"/>
          <p:nvPr/>
        </p:nvSpPr>
        <p:spPr>
          <a:xfrm>
            <a:off x="31170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809" name="Google Shape;809;g3f68fc15589_0_367"/>
          <p:cNvSpPr txBox="1"/>
          <p:nvPr/>
        </p:nvSpPr>
        <p:spPr>
          <a:xfrm>
            <a:off x="773725"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810" name="Google Shape;810;g3f68fc15589_0_367"/>
          <p:cNvSpPr txBox="1"/>
          <p:nvPr/>
        </p:nvSpPr>
        <p:spPr>
          <a:xfrm>
            <a:off x="1271750" y="302567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811" name="Google Shape;811;g3f68fc15589_0_367"/>
          <p:cNvSpPr txBox="1"/>
          <p:nvPr/>
        </p:nvSpPr>
        <p:spPr>
          <a:xfrm>
            <a:off x="1818375" y="302567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Outgroup</a:t>
            </a:r>
            <a:endParaRPr b="1">
              <a:solidFill>
                <a:srgbClr val="598E9A"/>
              </a:solidFill>
            </a:endParaRPr>
          </a:p>
        </p:txBody>
      </p:sp>
      <p:sp>
        <p:nvSpPr>
          <p:cNvPr id="812" name="Google Shape;812;g3f68fc15589_0_367"/>
          <p:cNvSpPr txBox="1"/>
          <p:nvPr/>
        </p:nvSpPr>
        <p:spPr>
          <a:xfrm>
            <a:off x="2954775" y="1262500"/>
            <a:ext cx="5925000" cy="21981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200"/>
              </a:spcBef>
              <a:spcAft>
                <a:spcPts val="0"/>
              </a:spcAft>
              <a:buClr>
                <a:schemeClr val="dk2"/>
              </a:buClr>
              <a:buSzPts val="1800"/>
              <a:buChar char="●"/>
            </a:pPr>
            <a:r>
              <a:rPr lang="en-GB" sz="1800">
                <a:solidFill>
                  <a:schemeClr val="dk2"/>
                </a:solidFill>
              </a:rPr>
              <a:t>Undersampling can confound the D-statistic</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Misidentify the donor population &amp; gene flow events</a:t>
            </a:r>
            <a:endParaRPr sz="1800">
              <a:solidFill>
                <a:schemeClr val="dk2"/>
              </a:solidFill>
            </a:endParaRPr>
          </a:p>
          <a:p>
            <a:pPr marL="457200" lvl="0" indent="0" algn="l" rtl="0">
              <a:lnSpc>
                <a:spcPct val="115000"/>
              </a:lnSpc>
              <a:spcBef>
                <a:spcPts val="1200"/>
              </a:spcBef>
              <a:spcAft>
                <a:spcPts val="0"/>
              </a:spcAft>
              <a:buNone/>
            </a:pPr>
            <a:endParaRPr sz="1800">
              <a:solidFill>
                <a:schemeClr val="dk2"/>
              </a:solidFill>
            </a:endParaRPr>
          </a:p>
          <a:p>
            <a:pPr marL="457200" lvl="0" indent="-342900" algn="l" rtl="0">
              <a:lnSpc>
                <a:spcPct val="115000"/>
              </a:lnSpc>
              <a:spcBef>
                <a:spcPts val="1200"/>
              </a:spcBef>
              <a:spcAft>
                <a:spcPts val="0"/>
              </a:spcAft>
              <a:buClr>
                <a:srgbClr val="598E9A"/>
              </a:buClr>
              <a:buSzPts val="1800"/>
              <a:buChar char="●"/>
            </a:pPr>
            <a:r>
              <a:rPr lang="en-GB" sz="1800" b="1">
                <a:solidFill>
                  <a:srgbClr val="598E9A"/>
                </a:solidFill>
              </a:rPr>
              <a:t>Example in bears</a:t>
            </a:r>
            <a:endParaRPr sz="1800">
              <a:solidFill>
                <a:schemeClr val="dk2"/>
              </a:solidFill>
            </a:endParaRPr>
          </a:p>
          <a:p>
            <a:pPr marL="457200" lvl="0" indent="0" algn="l" rtl="0">
              <a:lnSpc>
                <a:spcPct val="115000"/>
              </a:lnSpc>
              <a:spcBef>
                <a:spcPts val="1200"/>
              </a:spcBef>
              <a:spcAft>
                <a:spcPts val="1200"/>
              </a:spcAft>
              <a:buNone/>
            </a:pPr>
            <a:endParaRPr sz="1800" b="1">
              <a:solidFill>
                <a:srgbClr val="598E9A"/>
              </a:solidFill>
            </a:endParaRPr>
          </a:p>
        </p:txBody>
      </p:sp>
      <p:sp>
        <p:nvSpPr>
          <p:cNvPr id="813" name="Google Shape;813;g3f68fc15589_0_367"/>
          <p:cNvSpPr/>
          <p:nvPr/>
        </p:nvSpPr>
        <p:spPr>
          <a:xfrm>
            <a:off x="219825" y="10321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14" name="Google Shape;814;g3f68fc15589_0_367"/>
          <p:cNvSpPr txBox="1"/>
          <p:nvPr/>
        </p:nvSpPr>
        <p:spPr>
          <a:xfrm>
            <a:off x="3119400" y="438200"/>
            <a:ext cx="5813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accent5"/>
                </a:solidFill>
                <a:latin typeface="PT Sans Narrow"/>
                <a:ea typeface="PT Sans Narrow"/>
                <a:cs typeface="PT Sans Narrow"/>
                <a:sym typeface="PT Sans Narrow"/>
              </a:rPr>
              <a:t>Limitations 2: Sampling problem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819" name="Google Shape;819;p21"/>
          <p:cNvPicPr preferRelativeResize="0"/>
          <p:nvPr/>
        </p:nvPicPr>
        <p:blipFill rotWithShape="1">
          <a:blip r:embed="rId3">
            <a:alphaModFix/>
          </a:blip>
          <a:srcRect/>
          <a:stretch/>
        </p:blipFill>
        <p:spPr>
          <a:xfrm>
            <a:off x="311700" y="1542725"/>
            <a:ext cx="8094024" cy="2517524"/>
          </a:xfrm>
          <a:prstGeom prst="rect">
            <a:avLst/>
          </a:prstGeom>
          <a:noFill/>
          <a:ln>
            <a:noFill/>
          </a:ln>
        </p:spPr>
      </p:pic>
      <p:sp>
        <p:nvSpPr>
          <p:cNvPr id="820" name="Google Shape;820;p2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sp>
        <p:nvSpPr>
          <p:cNvPr id="821" name="Google Shape;821;p21"/>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822" name="Google Shape;822;p21"/>
          <p:cNvSpPr txBox="1"/>
          <p:nvPr/>
        </p:nvSpPr>
        <p:spPr>
          <a:xfrm>
            <a:off x="3119400" y="438200"/>
            <a:ext cx="5813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accent5"/>
                </a:solidFill>
                <a:latin typeface="PT Sans Narrow"/>
                <a:ea typeface="PT Sans Narrow"/>
                <a:cs typeface="PT Sans Narrow"/>
                <a:sym typeface="PT Sans Narrow"/>
              </a:rPr>
              <a:t>Limitations 2: Sampling problem</a:t>
            </a:r>
            <a:endParaRPr/>
          </a:p>
        </p:txBody>
      </p:sp>
      <p:sp>
        <p:nvSpPr>
          <p:cNvPr id="823" name="Google Shape;823;p21"/>
          <p:cNvSpPr/>
          <p:nvPr/>
        </p:nvSpPr>
        <p:spPr>
          <a:xfrm rot="5400000">
            <a:off x="1719300" y="2660147"/>
            <a:ext cx="194700" cy="2605500"/>
          </a:xfrm>
          <a:prstGeom prst="rightBrace">
            <a:avLst>
              <a:gd name="adj1" fmla="val 50000"/>
              <a:gd name="adj2" fmla="val 50000"/>
            </a:avLst>
          </a:prstGeom>
          <a:noFill/>
          <a:ln w="38100"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24" name="Google Shape;824;p21"/>
          <p:cNvSpPr/>
          <p:nvPr/>
        </p:nvSpPr>
        <p:spPr>
          <a:xfrm>
            <a:off x="405650" y="1439175"/>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25" name="Google Shape;825;p21"/>
          <p:cNvSpPr/>
          <p:nvPr/>
        </p:nvSpPr>
        <p:spPr>
          <a:xfrm>
            <a:off x="3173400" y="1439175"/>
            <a:ext cx="5151000" cy="2724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26" name="Google Shape;826;p21"/>
          <p:cNvSpPr txBox="1"/>
          <p:nvPr/>
        </p:nvSpPr>
        <p:spPr>
          <a:xfrm>
            <a:off x="3397200" y="1911900"/>
            <a:ext cx="5482500" cy="17361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200"/>
              </a:spcBef>
              <a:spcAft>
                <a:spcPts val="0"/>
              </a:spcAft>
              <a:buClr>
                <a:schemeClr val="dk2"/>
              </a:buClr>
              <a:buSzPts val="1800"/>
              <a:buChar char="●"/>
            </a:pPr>
            <a:r>
              <a:rPr lang="en-GB" sz="1800">
                <a:solidFill>
                  <a:schemeClr val="dk2"/>
                </a:solidFill>
              </a:rPr>
              <a:t>Previous work had inferred gene flow from </a:t>
            </a:r>
            <a:r>
              <a:rPr lang="en-GB" sz="1800" b="1">
                <a:solidFill>
                  <a:schemeClr val="dk2"/>
                </a:solidFill>
              </a:rPr>
              <a:t>Polar </a:t>
            </a:r>
            <a:r>
              <a:rPr lang="en-GB" sz="1800">
                <a:solidFill>
                  <a:schemeClr val="dk2"/>
                </a:solidFill>
              </a:rPr>
              <a:t>bears to </a:t>
            </a:r>
            <a:r>
              <a:rPr lang="en-GB" sz="1800" b="1">
                <a:solidFill>
                  <a:schemeClr val="dk2"/>
                </a:solidFill>
              </a:rPr>
              <a:t>Alaska</a:t>
            </a:r>
            <a:r>
              <a:rPr lang="en-GB" sz="1800">
                <a:solidFill>
                  <a:schemeClr val="dk2"/>
                </a:solidFill>
              </a:rPr>
              <a:t> bears</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ABBA-BABA needs</a:t>
            </a:r>
            <a:r>
              <a:rPr lang="en-GB" sz="1800" b="1">
                <a:solidFill>
                  <a:schemeClr val="dk2"/>
                </a:solidFill>
              </a:rPr>
              <a:t> 4 </a:t>
            </a:r>
            <a:r>
              <a:rPr lang="en-GB" sz="1800">
                <a:solidFill>
                  <a:schemeClr val="dk2"/>
                </a:solidFill>
              </a:rPr>
              <a:t>populations</a:t>
            </a:r>
            <a:endParaRPr sz="1800">
              <a:solidFill>
                <a:schemeClr val="dk2"/>
              </a:solidFill>
            </a:endParaRPr>
          </a:p>
          <a:p>
            <a:pPr marL="457200" lvl="0" indent="-342900" algn="l" rtl="0">
              <a:lnSpc>
                <a:spcPct val="115000"/>
              </a:lnSpc>
              <a:spcBef>
                <a:spcPts val="0"/>
              </a:spcBef>
              <a:spcAft>
                <a:spcPts val="0"/>
              </a:spcAft>
              <a:buClr>
                <a:schemeClr val="dk2"/>
              </a:buClr>
              <a:buSzPts val="1800"/>
              <a:buChar char="●"/>
            </a:pPr>
            <a:r>
              <a:rPr lang="en-GB" sz="1800">
                <a:solidFill>
                  <a:schemeClr val="dk2"/>
                </a:solidFill>
              </a:rPr>
              <a:t>Let’s take </a:t>
            </a:r>
            <a:r>
              <a:rPr lang="en-GB" sz="1800" b="1">
                <a:solidFill>
                  <a:srgbClr val="598E9A"/>
                </a:solidFill>
              </a:rPr>
              <a:t>4 population subsets</a:t>
            </a:r>
            <a:r>
              <a:rPr lang="en-GB" sz="1800">
                <a:solidFill>
                  <a:schemeClr val="dk2"/>
                </a:solidFill>
              </a:rPr>
              <a:t> &amp; see what happens</a:t>
            </a:r>
            <a:endParaRPr sz="1800">
              <a:solidFill>
                <a:schemeClr val="dk2"/>
              </a:solidFill>
            </a:endParaRPr>
          </a:p>
        </p:txBody>
      </p:sp>
      <p:sp>
        <p:nvSpPr>
          <p:cNvPr id="827" name="Google Shape;827;p21"/>
          <p:cNvSpPr txBox="1"/>
          <p:nvPr/>
        </p:nvSpPr>
        <p:spPr>
          <a:xfrm>
            <a:off x="7377175" y="4579100"/>
            <a:ext cx="217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b="0" i="0" u="none" strike="noStrike" cap="none">
                <a:solidFill>
                  <a:srgbClr val="45818E"/>
                </a:solidFill>
                <a:latin typeface="Open Sans"/>
                <a:ea typeface="Open Sans"/>
                <a:cs typeface="Open Sans"/>
                <a:sym typeface="Open Sans"/>
              </a:rPr>
              <a:t>Tricou et al. 2021</a:t>
            </a:r>
            <a:endParaRPr b="0" i="0" u="none" strike="noStrike" cap="none">
              <a:solidFill>
                <a:srgbClr val="45818E"/>
              </a:solidFill>
              <a:latin typeface="Open Sans"/>
              <a:ea typeface="Open Sans"/>
              <a:cs typeface="Open Sans"/>
              <a:sym typeface="Open Sans"/>
            </a:endParaRPr>
          </a:p>
        </p:txBody>
      </p:sp>
      <p:sp>
        <p:nvSpPr>
          <p:cNvPr id="828" name="Google Shape;828;p21"/>
          <p:cNvSpPr txBox="1"/>
          <p:nvPr/>
        </p:nvSpPr>
        <p:spPr>
          <a:xfrm>
            <a:off x="1048200" y="41174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800" b="1">
                <a:solidFill>
                  <a:srgbClr val="598E9A"/>
                </a:solidFill>
              </a:rPr>
              <a:t>5-taxon tree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pic>
        <p:nvPicPr>
          <p:cNvPr id="833" name="Google Shape;833;g3f68fc15589_0_404"/>
          <p:cNvPicPr preferRelativeResize="0"/>
          <p:nvPr/>
        </p:nvPicPr>
        <p:blipFill rotWithShape="1">
          <a:blip r:embed="rId3">
            <a:alphaModFix/>
          </a:blip>
          <a:srcRect/>
          <a:stretch/>
        </p:blipFill>
        <p:spPr>
          <a:xfrm>
            <a:off x="311700" y="1542725"/>
            <a:ext cx="8094024" cy="2517524"/>
          </a:xfrm>
          <a:prstGeom prst="rect">
            <a:avLst/>
          </a:prstGeom>
          <a:noFill/>
          <a:ln>
            <a:noFill/>
          </a:ln>
        </p:spPr>
      </p:pic>
      <p:sp>
        <p:nvSpPr>
          <p:cNvPr id="834" name="Google Shape;834;g3f68fc15589_0_404"/>
          <p:cNvSpPr txBox="1"/>
          <p:nvPr/>
        </p:nvSpPr>
        <p:spPr>
          <a:xfrm>
            <a:off x="7377175" y="4579100"/>
            <a:ext cx="217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b="0" i="0" u="none" strike="noStrike" cap="none">
                <a:solidFill>
                  <a:srgbClr val="45818E"/>
                </a:solidFill>
                <a:latin typeface="Open Sans"/>
                <a:ea typeface="Open Sans"/>
                <a:cs typeface="Open Sans"/>
                <a:sym typeface="Open Sans"/>
              </a:rPr>
              <a:t>Tricou et al. 2021</a:t>
            </a:r>
            <a:endParaRPr b="0" i="0" u="none" strike="noStrike" cap="none">
              <a:solidFill>
                <a:srgbClr val="45818E"/>
              </a:solidFill>
              <a:latin typeface="Open Sans"/>
              <a:ea typeface="Open Sans"/>
              <a:cs typeface="Open Sans"/>
              <a:sym typeface="Open Sans"/>
            </a:endParaRPr>
          </a:p>
        </p:txBody>
      </p:sp>
      <p:sp>
        <p:nvSpPr>
          <p:cNvPr id="835" name="Google Shape;835;g3f68fc15589_0_404"/>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sp>
        <p:nvSpPr>
          <p:cNvPr id="836" name="Google Shape;836;g3f68fc15589_0_404"/>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837" name="Google Shape;837;g3f68fc15589_0_404"/>
          <p:cNvSpPr txBox="1"/>
          <p:nvPr/>
        </p:nvSpPr>
        <p:spPr>
          <a:xfrm>
            <a:off x="3119400" y="438200"/>
            <a:ext cx="5813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accent5"/>
                </a:solidFill>
                <a:latin typeface="PT Sans Narrow"/>
                <a:ea typeface="PT Sans Narrow"/>
                <a:cs typeface="PT Sans Narrow"/>
                <a:sym typeface="PT Sans Narrow"/>
              </a:rPr>
              <a:t>Limitations 2: Sampling problem</a:t>
            </a:r>
            <a:endParaRPr/>
          </a:p>
        </p:txBody>
      </p:sp>
      <p:sp>
        <p:nvSpPr>
          <p:cNvPr id="838" name="Google Shape;838;g3f68fc15589_0_404"/>
          <p:cNvSpPr txBox="1"/>
          <p:nvPr/>
        </p:nvSpPr>
        <p:spPr>
          <a:xfrm>
            <a:off x="1048200" y="41174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800" b="1">
                <a:solidFill>
                  <a:srgbClr val="598E9A"/>
                </a:solidFill>
              </a:rPr>
              <a:t>5-taxon tree</a:t>
            </a:r>
            <a:endParaRPr/>
          </a:p>
        </p:txBody>
      </p:sp>
      <p:sp>
        <p:nvSpPr>
          <p:cNvPr id="839" name="Google Shape;839;g3f68fc15589_0_404"/>
          <p:cNvSpPr/>
          <p:nvPr/>
        </p:nvSpPr>
        <p:spPr>
          <a:xfrm rot="5400000">
            <a:off x="1719300" y="2660147"/>
            <a:ext cx="194700" cy="2605500"/>
          </a:xfrm>
          <a:prstGeom prst="rightBrace">
            <a:avLst>
              <a:gd name="adj1" fmla="val 50000"/>
              <a:gd name="adj2" fmla="val 50000"/>
            </a:avLst>
          </a:prstGeom>
          <a:noFill/>
          <a:ln w="38100"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40" name="Google Shape;840;g3f68fc15589_0_404"/>
          <p:cNvSpPr/>
          <p:nvPr/>
        </p:nvSpPr>
        <p:spPr>
          <a:xfrm>
            <a:off x="359100" y="13266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41" name="Google Shape;841;g3f68fc15589_0_404"/>
          <p:cNvSpPr/>
          <p:nvPr/>
        </p:nvSpPr>
        <p:spPr>
          <a:xfrm>
            <a:off x="3263150" y="1542725"/>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42" name="Google Shape;842;g3f68fc15589_0_404"/>
          <p:cNvSpPr/>
          <p:nvPr/>
        </p:nvSpPr>
        <p:spPr>
          <a:xfrm>
            <a:off x="5791500" y="1444225"/>
            <a:ext cx="2513700" cy="2673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43" name="Google Shape;843;g3f68fc15589_0_404"/>
          <p:cNvSpPr txBox="1"/>
          <p:nvPr/>
        </p:nvSpPr>
        <p:spPr>
          <a:xfrm>
            <a:off x="5791500" y="2416752"/>
            <a:ext cx="3582600" cy="1015800"/>
          </a:xfrm>
          <a:prstGeom prst="rect">
            <a:avLst/>
          </a:prstGeom>
          <a:noFill/>
          <a:ln>
            <a:noFill/>
          </a:ln>
        </p:spPr>
        <p:txBody>
          <a:bodyPr spcFirstLastPara="1" wrap="square" lIns="91425" tIns="91425" rIns="91425" bIns="91425" anchor="t" anchorCtr="0">
            <a:spAutoFit/>
          </a:bodyPr>
          <a:lstStyle/>
          <a:p>
            <a:pPr marL="457200" lvl="0" indent="-342900" algn="l" rtl="0">
              <a:lnSpc>
                <a:spcPct val="100000"/>
              </a:lnSpc>
              <a:spcBef>
                <a:spcPts val="1200"/>
              </a:spcBef>
              <a:spcAft>
                <a:spcPts val="0"/>
              </a:spcAft>
              <a:buClr>
                <a:srgbClr val="2A2A2A"/>
              </a:buClr>
              <a:buSzPts val="1800"/>
              <a:buChar char="●"/>
            </a:pPr>
            <a:r>
              <a:rPr lang="en-GB" sz="1800">
                <a:solidFill>
                  <a:srgbClr val="2A2A2A"/>
                </a:solidFill>
              </a:rPr>
              <a:t>Remove Swedish bears</a:t>
            </a:r>
            <a:endParaRPr sz="1800">
              <a:solidFill>
                <a:srgbClr val="2A2A2A"/>
              </a:solidFill>
            </a:endParaRPr>
          </a:p>
          <a:p>
            <a:pPr marL="457200" lvl="0" indent="-342900" algn="l" rtl="0">
              <a:lnSpc>
                <a:spcPct val="100000"/>
              </a:lnSpc>
              <a:spcBef>
                <a:spcPts val="0"/>
              </a:spcBef>
              <a:spcAft>
                <a:spcPts val="0"/>
              </a:spcAft>
              <a:buClr>
                <a:srgbClr val="2A2A2A"/>
              </a:buClr>
              <a:buSzPts val="1800"/>
              <a:buChar char="●"/>
            </a:pPr>
            <a:r>
              <a:rPr lang="en-GB" sz="1800">
                <a:solidFill>
                  <a:srgbClr val="2A2A2A"/>
                </a:solidFill>
              </a:rPr>
              <a:t>Correct gene flow event inferred </a:t>
            </a:r>
            <a:endParaRPr sz="1800">
              <a:solidFill>
                <a:srgbClr val="2A2A2A"/>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pic>
        <p:nvPicPr>
          <p:cNvPr id="848" name="Google Shape;848;g3f68fc15589_0_423"/>
          <p:cNvPicPr preferRelativeResize="0"/>
          <p:nvPr/>
        </p:nvPicPr>
        <p:blipFill rotWithShape="1">
          <a:blip r:embed="rId3">
            <a:alphaModFix/>
          </a:blip>
          <a:srcRect/>
          <a:stretch/>
        </p:blipFill>
        <p:spPr>
          <a:xfrm>
            <a:off x="311700" y="1542725"/>
            <a:ext cx="8094024" cy="2517524"/>
          </a:xfrm>
          <a:prstGeom prst="rect">
            <a:avLst/>
          </a:prstGeom>
          <a:noFill/>
          <a:ln>
            <a:noFill/>
          </a:ln>
        </p:spPr>
      </p:pic>
      <p:sp>
        <p:nvSpPr>
          <p:cNvPr id="849" name="Google Shape;849;g3f68fc15589_0_423"/>
          <p:cNvSpPr txBox="1"/>
          <p:nvPr/>
        </p:nvSpPr>
        <p:spPr>
          <a:xfrm>
            <a:off x="7388775" y="4648000"/>
            <a:ext cx="217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b="0" i="0" u="none" strike="noStrike" cap="none">
                <a:solidFill>
                  <a:srgbClr val="45818E"/>
                </a:solidFill>
                <a:latin typeface="Open Sans"/>
                <a:ea typeface="Open Sans"/>
                <a:cs typeface="Open Sans"/>
                <a:sym typeface="Open Sans"/>
              </a:rPr>
              <a:t>Tricou et al. 2021</a:t>
            </a:r>
            <a:endParaRPr b="0" i="0" u="none" strike="noStrike" cap="none">
              <a:solidFill>
                <a:srgbClr val="45818E"/>
              </a:solidFill>
              <a:latin typeface="Open Sans"/>
              <a:ea typeface="Open Sans"/>
              <a:cs typeface="Open Sans"/>
              <a:sym typeface="Open Sans"/>
            </a:endParaRPr>
          </a:p>
        </p:txBody>
      </p:sp>
      <p:sp>
        <p:nvSpPr>
          <p:cNvPr id="850" name="Google Shape;850;g3f68fc15589_0_423"/>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ABBA-BABA</a:t>
            </a:r>
            <a:endParaRPr/>
          </a:p>
        </p:txBody>
      </p:sp>
      <p:sp>
        <p:nvSpPr>
          <p:cNvPr id="851" name="Google Shape;851;g3f68fc15589_0_423"/>
          <p:cNvSpPr txBox="1">
            <a:spLocks noGrp="1"/>
          </p:cNvSpPr>
          <p:nvPr>
            <p:ph type="title"/>
          </p:nvPr>
        </p:nvSpPr>
        <p:spPr>
          <a:xfrm>
            <a:off x="359100" y="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D-statistic</a:t>
            </a:r>
            <a:endParaRPr/>
          </a:p>
        </p:txBody>
      </p:sp>
      <p:sp>
        <p:nvSpPr>
          <p:cNvPr id="852" name="Google Shape;852;g3f68fc15589_0_423"/>
          <p:cNvSpPr txBox="1"/>
          <p:nvPr/>
        </p:nvSpPr>
        <p:spPr>
          <a:xfrm>
            <a:off x="3119400" y="438200"/>
            <a:ext cx="5813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accent5"/>
                </a:solidFill>
                <a:latin typeface="PT Sans Narrow"/>
                <a:ea typeface="PT Sans Narrow"/>
                <a:cs typeface="PT Sans Narrow"/>
                <a:sym typeface="PT Sans Narrow"/>
              </a:rPr>
              <a:t>Limitations 2: Sampling problem</a:t>
            </a:r>
            <a:endParaRPr/>
          </a:p>
        </p:txBody>
      </p:sp>
      <p:sp>
        <p:nvSpPr>
          <p:cNvPr id="853" name="Google Shape;853;g3f68fc15589_0_423"/>
          <p:cNvSpPr txBox="1"/>
          <p:nvPr/>
        </p:nvSpPr>
        <p:spPr>
          <a:xfrm>
            <a:off x="1048200" y="4117400"/>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GB" sz="1800" b="1">
                <a:solidFill>
                  <a:srgbClr val="598E9A"/>
                </a:solidFill>
              </a:rPr>
              <a:t>5-taxon tree</a:t>
            </a:r>
            <a:endParaRPr/>
          </a:p>
        </p:txBody>
      </p:sp>
      <p:sp>
        <p:nvSpPr>
          <p:cNvPr id="854" name="Google Shape;854;g3f68fc15589_0_423"/>
          <p:cNvSpPr/>
          <p:nvPr/>
        </p:nvSpPr>
        <p:spPr>
          <a:xfrm rot="5400000">
            <a:off x="1719300" y="2660147"/>
            <a:ext cx="194700" cy="2605500"/>
          </a:xfrm>
          <a:prstGeom prst="rightBrace">
            <a:avLst>
              <a:gd name="adj1" fmla="val 50000"/>
              <a:gd name="adj2" fmla="val 50000"/>
            </a:avLst>
          </a:prstGeom>
          <a:noFill/>
          <a:ln w="38100"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55" name="Google Shape;855;g3f68fc15589_0_423"/>
          <p:cNvSpPr/>
          <p:nvPr/>
        </p:nvSpPr>
        <p:spPr>
          <a:xfrm>
            <a:off x="359100" y="1326650"/>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56" name="Google Shape;856;g3f68fc15589_0_423"/>
          <p:cNvSpPr/>
          <p:nvPr/>
        </p:nvSpPr>
        <p:spPr>
          <a:xfrm>
            <a:off x="3263150" y="1542725"/>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57" name="Google Shape;857;g3f68fc15589_0_423"/>
          <p:cNvSpPr txBox="1"/>
          <p:nvPr/>
        </p:nvSpPr>
        <p:spPr>
          <a:xfrm>
            <a:off x="5110050" y="3978800"/>
            <a:ext cx="4984200" cy="738900"/>
          </a:xfrm>
          <a:prstGeom prst="rect">
            <a:avLst/>
          </a:prstGeom>
          <a:noFill/>
          <a:ln>
            <a:noFill/>
          </a:ln>
        </p:spPr>
        <p:txBody>
          <a:bodyPr spcFirstLastPara="1" wrap="square" lIns="91425" tIns="91425" rIns="91425" bIns="91425" anchor="t" anchorCtr="0">
            <a:spAutoFit/>
          </a:bodyPr>
          <a:lstStyle/>
          <a:p>
            <a:pPr marL="457200" lvl="0" indent="-342900" algn="l" rtl="0">
              <a:lnSpc>
                <a:spcPct val="100000"/>
              </a:lnSpc>
              <a:spcBef>
                <a:spcPts val="1200"/>
              </a:spcBef>
              <a:spcAft>
                <a:spcPts val="0"/>
              </a:spcAft>
              <a:buClr>
                <a:srgbClr val="2A2A2A"/>
              </a:buClr>
              <a:buSzPts val="1800"/>
              <a:buChar char="●"/>
            </a:pPr>
            <a:r>
              <a:rPr lang="en-GB" sz="1800">
                <a:solidFill>
                  <a:srgbClr val="2A2A2A"/>
                </a:solidFill>
              </a:rPr>
              <a:t>Remove Polar bears</a:t>
            </a:r>
            <a:endParaRPr sz="1800">
              <a:solidFill>
                <a:srgbClr val="2A2A2A"/>
              </a:solidFill>
            </a:endParaRPr>
          </a:p>
          <a:p>
            <a:pPr marL="457200" lvl="0" indent="-342900" algn="l" rtl="0">
              <a:lnSpc>
                <a:spcPct val="100000"/>
              </a:lnSpc>
              <a:spcBef>
                <a:spcPts val="0"/>
              </a:spcBef>
              <a:spcAft>
                <a:spcPts val="0"/>
              </a:spcAft>
              <a:buClr>
                <a:srgbClr val="2A2A2A"/>
              </a:buClr>
              <a:buSzPts val="1800"/>
              <a:buChar char="●"/>
            </a:pPr>
            <a:r>
              <a:rPr lang="en-GB" sz="1800">
                <a:solidFill>
                  <a:srgbClr val="2A2A2A"/>
                </a:solidFill>
              </a:rPr>
              <a:t>False gene flow event inferred </a:t>
            </a:r>
            <a:endParaRPr sz="1800">
              <a:solidFill>
                <a:srgbClr val="2A2A2A"/>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3f68fc15589_0_439"/>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How else to test for gene flow?</a:t>
            </a:r>
            <a:endParaRPr/>
          </a:p>
        </p:txBody>
      </p:sp>
      <p:sp>
        <p:nvSpPr>
          <p:cNvPr id="863" name="Google Shape;863;g3f68fc15589_0_439"/>
          <p:cNvSpPr txBox="1">
            <a:spLocks noGrp="1"/>
          </p:cNvSpPr>
          <p:nvPr>
            <p:ph type="body" idx="1"/>
          </p:nvPr>
        </p:nvSpPr>
        <p:spPr>
          <a:xfrm>
            <a:off x="311700" y="1266325"/>
            <a:ext cx="50112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endParaRPr>
              <a:latin typeface="Arial"/>
              <a:ea typeface="Arial"/>
              <a:cs typeface="Arial"/>
              <a:sym typeface="Arial"/>
            </a:endParaRPr>
          </a:p>
          <a:p>
            <a:pPr marL="0" lvl="0" indent="0" algn="l" rtl="0">
              <a:lnSpc>
                <a:spcPct val="115000"/>
              </a:lnSpc>
              <a:spcBef>
                <a:spcPts val="1200"/>
              </a:spcBef>
              <a:spcAft>
                <a:spcPts val="1200"/>
              </a:spcAft>
              <a:buSzPts val="1800"/>
              <a:buNone/>
            </a:pPr>
            <a:endParaRPr>
              <a:latin typeface="Arial"/>
              <a:ea typeface="Arial"/>
              <a:cs typeface="Arial"/>
              <a:sym typeface="Arial"/>
            </a:endParaRPr>
          </a:p>
        </p:txBody>
      </p:sp>
      <p:sp>
        <p:nvSpPr>
          <p:cNvPr id="864" name="Google Shape;864;g3f68fc15589_0_439"/>
          <p:cNvSpPr/>
          <p:nvPr/>
        </p:nvSpPr>
        <p:spPr>
          <a:xfrm>
            <a:off x="5127475" y="1172000"/>
            <a:ext cx="4884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65" name="Google Shape;865;g3f68fc15589_0_439"/>
          <p:cNvSpPr/>
          <p:nvPr/>
        </p:nvSpPr>
        <p:spPr>
          <a:xfrm>
            <a:off x="8832300" y="1152425"/>
            <a:ext cx="2079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66" name="Google Shape;866;g3f68fc15589_0_439"/>
          <p:cNvSpPr/>
          <p:nvPr/>
        </p:nvSpPr>
        <p:spPr>
          <a:xfrm>
            <a:off x="2572075" y="3947350"/>
            <a:ext cx="658800" cy="409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67" name="Google Shape;867;g3f68fc15589_0_439"/>
          <p:cNvSpPr/>
          <p:nvPr/>
        </p:nvSpPr>
        <p:spPr>
          <a:xfrm>
            <a:off x="2519575" y="38478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68" name="Google Shape;868;g3f68fc15589_0_439"/>
          <p:cNvSpPr/>
          <p:nvPr/>
        </p:nvSpPr>
        <p:spPr>
          <a:xfrm>
            <a:off x="2519575" y="28244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69" name="Google Shape;869;g3f68fc15589_0_439"/>
          <p:cNvSpPr/>
          <p:nvPr/>
        </p:nvSpPr>
        <p:spPr>
          <a:xfrm>
            <a:off x="5684975" y="28244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70" name="Google Shape;870;g3f68fc15589_0_439"/>
          <p:cNvSpPr/>
          <p:nvPr/>
        </p:nvSpPr>
        <p:spPr>
          <a:xfrm>
            <a:off x="5385925" y="3905350"/>
            <a:ext cx="3495600" cy="49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71" name="Google Shape;871;g3f68fc15589_0_439"/>
          <p:cNvSpPr/>
          <p:nvPr/>
        </p:nvSpPr>
        <p:spPr>
          <a:xfrm>
            <a:off x="3291700" y="4302200"/>
            <a:ext cx="3495600" cy="49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72" name="Google Shape;872;g3f68fc15589_0_439"/>
          <p:cNvSpPr txBox="1">
            <a:spLocks noGrp="1"/>
          </p:cNvSpPr>
          <p:nvPr>
            <p:ph type="body" idx="1"/>
          </p:nvPr>
        </p:nvSpPr>
        <p:spPr>
          <a:xfrm>
            <a:off x="467900" y="1338025"/>
            <a:ext cx="8520600" cy="1542000"/>
          </a:xfrm>
          <a:prstGeom prst="rect">
            <a:avLst/>
          </a:prstGeom>
          <a:noFill/>
          <a:ln>
            <a:noFill/>
          </a:ln>
        </p:spPr>
        <p:txBody>
          <a:bodyPr spcFirstLastPara="1" wrap="square" lIns="91425" tIns="91425" rIns="91425" bIns="91425" anchor="t" anchorCtr="0">
            <a:noAutofit/>
          </a:bodyPr>
          <a:lstStyle/>
          <a:p>
            <a:pPr marL="457200" lvl="0" indent="-338455" algn="l" rtl="0">
              <a:lnSpc>
                <a:spcPct val="105000"/>
              </a:lnSpc>
              <a:spcBef>
                <a:spcPts val="0"/>
              </a:spcBef>
              <a:spcAft>
                <a:spcPts val="0"/>
              </a:spcAft>
              <a:buSzPts val="1730"/>
              <a:buFont typeface="Arial"/>
              <a:buChar char="●"/>
            </a:pPr>
            <a:r>
              <a:rPr lang="en-GB" sz="1730" b="1">
                <a:latin typeface="Arial"/>
                <a:ea typeface="Arial"/>
                <a:cs typeface="Arial"/>
                <a:sym typeface="Arial"/>
              </a:rPr>
              <a:t>Identify introgressed regions </a:t>
            </a:r>
            <a:r>
              <a:rPr lang="en-GB" sz="1730">
                <a:latin typeface="Arial"/>
                <a:ea typeface="Arial"/>
                <a:cs typeface="Arial"/>
                <a:sym typeface="Arial"/>
              </a:rPr>
              <a:t>within the genome</a:t>
            </a:r>
            <a:endParaRPr sz="1730">
              <a:latin typeface="Arial"/>
              <a:ea typeface="Arial"/>
              <a:cs typeface="Arial"/>
              <a:sym typeface="Arial"/>
            </a:endParaRPr>
          </a:p>
          <a:p>
            <a:pPr marL="457200" lvl="0" indent="-338455" algn="l" rtl="0">
              <a:lnSpc>
                <a:spcPct val="105000"/>
              </a:lnSpc>
              <a:spcBef>
                <a:spcPts val="0"/>
              </a:spcBef>
              <a:spcAft>
                <a:spcPts val="0"/>
              </a:spcAft>
              <a:buSzPts val="1730"/>
              <a:buFont typeface="Arial"/>
              <a:buChar char="●"/>
            </a:pPr>
            <a:r>
              <a:rPr lang="en-GB" sz="1730">
                <a:latin typeface="Arial"/>
                <a:ea typeface="Arial"/>
                <a:cs typeface="Arial"/>
                <a:sym typeface="Arial"/>
              </a:rPr>
              <a:t>That look </a:t>
            </a:r>
            <a:r>
              <a:rPr lang="en-GB" sz="1730" b="1">
                <a:latin typeface="Arial"/>
                <a:ea typeface="Arial"/>
                <a:cs typeface="Arial"/>
                <a:sym typeface="Arial"/>
              </a:rPr>
              <a:t>divergent</a:t>
            </a:r>
            <a:r>
              <a:rPr lang="en-GB" sz="1730">
                <a:latin typeface="Arial"/>
                <a:ea typeface="Arial"/>
                <a:cs typeface="Arial"/>
                <a:sym typeface="Arial"/>
              </a:rPr>
              <a:t> from the majority of regions of the target population</a:t>
            </a:r>
            <a:endParaRPr sz="1730">
              <a:latin typeface="Arial"/>
              <a:ea typeface="Arial"/>
              <a:cs typeface="Arial"/>
              <a:sym typeface="Arial"/>
            </a:endParaRPr>
          </a:p>
          <a:p>
            <a:pPr marL="457200" lvl="0" indent="0" algn="l" rtl="0">
              <a:lnSpc>
                <a:spcPct val="105000"/>
              </a:lnSpc>
              <a:spcBef>
                <a:spcPts val="0"/>
              </a:spcBef>
              <a:spcAft>
                <a:spcPts val="0"/>
              </a:spcAft>
              <a:buSzPts val="935"/>
              <a:buNone/>
            </a:pPr>
            <a:endParaRPr sz="1730">
              <a:latin typeface="Arial"/>
              <a:ea typeface="Arial"/>
              <a:cs typeface="Arial"/>
              <a:sym typeface="Arial"/>
            </a:endParaRPr>
          </a:p>
          <a:p>
            <a:pPr marL="457200" lvl="0" indent="-338455" algn="l" rtl="0">
              <a:lnSpc>
                <a:spcPct val="105000"/>
              </a:lnSpc>
              <a:spcBef>
                <a:spcPts val="0"/>
              </a:spcBef>
              <a:spcAft>
                <a:spcPts val="0"/>
              </a:spcAft>
              <a:buSzPts val="1730"/>
              <a:buFont typeface="Arial"/>
              <a:buChar char="●"/>
            </a:pPr>
            <a:r>
              <a:rPr lang="en-GB" sz="1730">
                <a:latin typeface="Arial"/>
                <a:ea typeface="Arial"/>
                <a:cs typeface="Arial"/>
                <a:sym typeface="Arial"/>
              </a:rPr>
              <a:t>Variation that does </a:t>
            </a:r>
            <a:r>
              <a:rPr lang="en-GB" sz="1730" b="1">
                <a:latin typeface="Arial"/>
                <a:ea typeface="Arial"/>
                <a:cs typeface="Arial"/>
                <a:sym typeface="Arial"/>
              </a:rPr>
              <a:t>not coalesce </a:t>
            </a:r>
            <a:r>
              <a:rPr lang="en-GB" sz="1730">
                <a:latin typeface="Arial"/>
                <a:ea typeface="Arial"/>
                <a:cs typeface="Arial"/>
                <a:sym typeface="Arial"/>
              </a:rPr>
              <a:t>within the target population because has external origin.</a:t>
            </a:r>
            <a:endParaRPr sz="1730">
              <a:latin typeface="Arial"/>
              <a:ea typeface="Arial"/>
              <a:cs typeface="Arial"/>
              <a:sym typeface="Arial"/>
            </a:endParaRPr>
          </a:p>
          <a:p>
            <a:pPr marL="0" lvl="0" indent="0" algn="l" rtl="0">
              <a:lnSpc>
                <a:spcPct val="90000"/>
              </a:lnSpc>
              <a:spcBef>
                <a:spcPts val="1200"/>
              </a:spcBef>
              <a:spcAft>
                <a:spcPts val="0"/>
              </a:spcAft>
              <a:buClr>
                <a:srgbClr val="FF0000"/>
              </a:buClr>
              <a:buSzPts val="2699"/>
              <a:buFont typeface="Arial"/>
              <a:buNone/>
            </a:pPr>
            <a:endParaRPr sz="153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3f68fc15589_0_498"/>
          <p:cNvSpPr txBox="1">
            <a:spLocks noGrp="1"/>
          </p:cNvSpPr>
          <p:nvPr>
            <p:ph type="title"/>
          </p:nvPr>
        </p:nvSpPr>
        <p:spPr>
          <a:xfrm>
            <a:off x="311700" y="445025"/>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How else to test for gene flow?</a:t>
            </a:r>
            <a:endParaRPr/>
          </a:p>
        </p:txBody>
      </p:sp>
      <p:sp>
        <p:nvSpPr>
          <p:cNvPr id="878" name="Google Shape;878;g3f68fc15589_0_498"/>
          <p:cNvSpPr txBox="1">
            <a:spLocks noGrp="1"/>
          </p:cNvSpPr>
          <p:nvPr>
            <p:ph type="body" idx="1"/>
          </p:nvPr>
        </p:nvSpPr>
        <p:spPr>
          <a:xfrm>
            <a:off x="311700" y="1266325"/>
            <a:ext cx="50112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800"/>
              <a:buNone/>
            </a:pPr>
            <a:endParaRPr>
              <a:latin typeface="Arial"/>
              <a:ea typeface="Arial"/>
              <a:cs typeface="Arial"/>
              <a:sym typeface="Arial"/>
            </a:endParaRPr>
          </a:p>
          <a:p>
            <a:pPr marL="0" lvl="0" indent="0" algn="l" rtl="0">
              <a:lnSpc>
                <a:spcPct val="115000"/>
              </a:lnSpc>
              <a:spcBef>
                <a:spcPts val="1200"/>
              </a:spcBef>
              <a:spcAft>
                <a:spcPts val="1200"/>
              </a:spcAft>
              <a:buSzPts val="1800"/>
              <a:buNone/>
            </a:pPr>
            <a:endParaRPr>
              <a:latin typeface="Arial"/>
              <a:ea typeface="Arial"/>
              <a:cs typeface="Arial"/>
              <a:sym typeface="Arial"/>
            </a:endParaRPr>
          </a:p>
        </p:txBody>
      </p:sp>
      <p:sp>
        <p:nvSpPr>
          <p:cNvPr id="879" name="Google Shape;879;g3f68fc15589_0_498"/>
          <p:cNvSpPr/>
          <p:nvPr/>
        </p:nvSpPr>
        <p:spPr>
          <a:xfrm>
            <a:off x="5127475" y="1172000"/>
            <a:ext cx="4884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0" name="Google Shape;880;g3f68fc15589_0_498"/>
          <p:cNvSpPr/>
          <p:nvPr/>
        </p:nvSpPr>
        <p:spPr>
          <a:xfrm>
            <a:off x="8832300" y="1152425"/>
            <a:ext cx="207900" cy="23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1" name="Google Shape;881;g3f68fc15589_0_498"/>
          <p:cNvSpPr/>
          <p:nvPr/>
        </p:nvSpPr>
        <p:spPr>
          <a:xfrm>
            <a:off x="2572075" y="3947350"/>
            <a:ext cx="658800" cy="409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2" name="Google Shape;882;g3f68fc15589_0_498"/>
          <p:cNvSpPr/>
          <p:nvPr/>
        </p:nvSpPr>
        <p:spPr>
          <a:xfrm>
            <a:off x="2519575" y="38478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3" name="Google Shape;883;g3f68fc15589_0_498"/>
          <p:cNvSpPr/>
          <p:nvPr/>
        </p:nvSpPr>
        <p:spPr>
          <a:xfrm>
            <a:off x="2519575" y="28244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4" name="Google Shape;884;g3f68fc15589_0_498"/>
          <p:cNvSpPr/>
          <p:nvPr/>
        </p:nvSpPr>
        <p:spPr>
          <a:xfrm>
            <a:off x="5684975" y="2824400"/>
            <a:ext cx="380700" cy="32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5" name="Google Shape;885;g3f68fc15589_0_498"/>
          <p:cNvSpPr/>
          <p:nvPr/>
        </p:nvSpPr>
        <p:spPr>
          <a:xfrm>
            <a:off x="5385925" y="3905350"/>
            <a:ext cx="3495600" cy="49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6" name="Google Shape;886;g3f68fc15589_0_498"/>
          <p:cNvSpPr/>
          <p:nvPr/>
        </p:nvSpPr>
        <p:spPr>
          <a:xfrm>
            <a:off x="3291700" y="4302200"/>
            <a:ext cx="3495600" cy="49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7" name="Google Shape;887;g3f68fc15589_0_498"/>
          <p:cNvSpPr txBox="1">
            <a:spLocks noGrp="1"/>
          </p:cNvSpPr>
          <p:nvPr>
            <p:ph type="body" idx="1"/>
          </p:nvPr>
        </p:nvSpPr>
        <p:spPr>
          <a:xfrm>
            <a:off x="467900" y="1338025"/>
            <a:ext cx="8520600" cy="1542000"/>
          </a:xfrm>
          <a:prstGeom prst="rect">
            <a:avLst/>
          </a:prstGeom>
          <a:noFill/>
          <a:ln>
            <a:noFill/>
          </a:ln>
        </p:spPr>
        <p:txBody>
          <a:bodyPr spcFirstLastPara="1" wrap="square" lIns="91425" tIns="91425" rIns="91425" bIns="91425" anchor="t" anchorCtr="0">
            <a:noAutofit/>
          </a:bodyPr>
          <a:lstStyle/>
          <a:p>
            <a:pPr marL="457200" lvl="0" indent="-338455" algn="l" rtl="0">
              <a:lnSpc>
                <a:spcPct val="105000"/>
              </a:lnSpc>
              <a:spcBef>
                <a:spcPts val="0"/>
              </a:spcBef>
              <a:spcAft>
                <a:spcPts val="0"/>
              </a:spcAft>
              <a:buSzPts val="1730"/>
              <a:buFont typeface="Arial"/>
              <a:buChar char="●"/>
            </a:pPr>
            <a:r>
              <a:rPr lang="en-GB" sz="1730" b="1">
                <a:latin typeface="Arial"/>
                <a:ea typeface="Arial"/>
                <a:cs typeface="Arial"/>
                <a:sym typeface="Arial"/>
              </a:rPr>
              <a:t>Identify introgressed regions </a:t>
            </a:r>
            <a:r>
              <a:rPr lang="en-GB" sz="1730">
                <a:latin typeface="Arial"/>
                <a:ea typeface="Arial"/>
                <a:cs typeface="Arial"/>
                <a:sym typeface="Arial"/>
              </a:rPr>
              <a:t>within the genome</a:t>
            </a:r>
            <a:endParaRPr sz="1730">
              <a:latin typeface="Arial"/>
              <a:ea typeface="Arial"/>
              <a:cs typeface="Arial"/>
              <a:sym typeface="Arial"/>
            </a:endParaRPr>
          </a:p>
          <a:p>
            <a:pPr marL="457200" lvl="0" indent="-338455" algn="l" rtl="0">
              <a:lnSpc>
                <a:spcPct val="105000"/>
              </a:lnSpc>
              <a:spcBef>
                <a:spcPts val="0"/>
              </a:spcBef>
              <a:spcAft>
                <a:spcPts val="0"/>
              </a:spcAft>
              <a:buSzPts val="1730"/>
              <a:buFont typeface="Arial"/>
              <a:buChar char="●"/>
            </a:pPr>
            <a:r>
              <a:rPr lang="en-GB" sz="1730">
                <a:latin typeface="Arial"/>
                <a:ea typeface="Arial"/>
                <a:cs typeface="Arial"/>
                <a:sym typeface="Arial"/>
              </a:rPr>
              <a:t>That look </a:t>
            </a:r>
            <a:r>
              <a:rPr lang="en-GB" sz="1730" b="1">
                <a:latin typeface="Arial"/>
                <a:ea typeface="Arial"/>
                <a:cs typeface="Arial"/>
                <a:sym typeface="Arial"/>
              </a:rPr>
              <a:t>divergent</a:t>
            </a:r>
            <a:r>
              <a:rPr lang="en-GB" sz="1730">
                <a:latin typeface="Arial"/>
                <a:ea typeface="Arial"/>
                <a:cs typeface="Arial"/>
                <a:sym typeface="Arial"/>
              </a:rPr>
              <a:t> from the majority of regions of the target population</a:t>
            </a:r>
            <a:endParaRPr sz="1730">
              <a:latin typeface="Arial"/>
              <a:ea typeface="Arial"/>
              <a:cs typeface="Arial"/>
              <a:sym typeface="Arial"/>
            </a:endParaRPr>
          </a:p>
          <a:p>
            <a:pPr marL="457200" lvl="0" indent="0" algn="l" rtl="0">
              <a:lnSpc>
                <a:spcPct val="105000"/>
              </a:lnSpc>
              <a:spcBef>
                <a:spcPts val="0"/>
              </a:spcBef>
              <a:spcAft>
                <a:spcPts val="0"/>
              </a:spcAft>
              <a:buSzPts val="935"/>
              <a:buNone/>
            </a:pPr>
            <a:endParaRPr sz="1730">
              <a:latin typeface="Arial"/>
              <a:ea typeface="Arial"/>
              <a:cs typeface="Arial"/>
              <a:sym typeface="Arial"/>
            </a:endParaRPr>
          </a:p>
          <a:p>
            <a:pPr marL="457200" lvl="0" indent="-338455" algn="l" rtl="0">
              <a:lnSpc>
                <a:spcPct val="105000"/>
              </a:lnSpc>
              <a:spcBef>
                <a:spcPts val="0"/>
              </a:spcBef>
              <a:spcAft>
                <a:spcPts val="0"/>
              </a:spcAft>
              <a:buSzPts val="1730"/>
              <a:buFont typeface="Arial"/>
              <a:buChar char="●"/>
            </a:pPr>
            <a:r>
              <a:rPr lang="en-GB" sz="1730">
                <a:latin typeface="Arial"/>
                <a:ea typeface="Arial"/>
                <a:cs typeface="Arial"/>
                <a:sym typeface="Arial"/>
              </a:rPr>
              <a:t>Variation that does </a:t>
            </a:r>
            <a:r>
              <a:rPr lang="en-GB" sz="1730" b="1">
                <a:latin typeface="Arial"/>
                <a:ea typeface="Arial"/>
                <a:cs typeface="Arial"/>
                <a:sym typeface="Arial"/>
              </a:rPr>
              <a:t>not coalesce </a:t>
            </a:r>
            <a:r>
              <a:rPr lang="en-GB" sz="1730">
                <a:latin typeface="Arial"/>
                <a:ea typeface="Arial"/>
                <a:cs typeface="Arial"/>
                <a:sym typeface="Arial"/>
              </a:rPr>
              <a:t>within the target population because has external origin.</a:t>
            </a:r>
            <a:endParaRPr sz="1730">
              <a:latin typeface="Arial"/>
              <a:ea typeface="Arial"/>
              <a:cs typeface="Arial"/>
              <a:sym typeface="Arial"/>
            </a:endParaRPr>
          </a:p>
          <a:p>
            <a:pPr marL="0" lvl="0" indent="0" algn="l" rtl="0">
              <a:lnSpc>
                <a:spcPct val="90000"/>
              </a:lnSpc>
              <a:spcBef>
                <a:spcPts val="1200"/>
              </a:spcBef>
              <a:spcAft>
                <a:spcPts val="0"/>
              </a:spcAft>
              <a:buClr>
                <a:srgbClr val="FF0000"/>
              </a:buClr>
              <a:buSzPts val="2699"/>
              <a:buFont typeface="Arial"/>
              <a:buNone/>
            </a:pPr>
            <a:endParaRPr sz="1530"/>
          </a:p>
        </p:txBody>
      </p:sp>
      <p:sp>
        <p:nvSpPr>
          <p:cNvPr id="888" name="Google Shape;888;g3f68fc15589_0_498"/>
          <p:cNvSpPr txBox="1">
            <a:spLocks noGrp="1"/>
          </p:cNvSpPr>
          <p:nvPr>
            <p:ph type="title"/>
          </p:nvPr>
        </p:nvSpPr>
        <p:spPr>
          <a:xfrm>
            <a:off x="393000" y="3192213"/>
            <a:ext cx="80970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Real example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22"/>
          <p:cNvSpPr txBox="1">
            <a:spLocks noGrp="1"/>
          </p:cNvSpPr>
          <p:nvPr>
            <p:ph type="title"/>
          </p:nvPr>
        </p:nvSpPr>
        <p:spPr>
          <a:xfrm>
            <a:off x="311700" y="16625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We can go from a genome-wide signal of Neanderthal SNPs to introgressed segments of Neanderthal DNA</a:t>
            </a:r>
            <a:endParaRPr/>
          </a:p>
        </p:txBody>
      </p:sp>
      <p:sp>
        <p:nvSpPr>
          <p:cNvPr id="894" name="Google Shape;894;p22"/>
          <p:cNvSpPr txBox="1">
            <a:spLocks noGrp="1"/>
          </p:cNvSpPr>
          <p:nvPr>
            <p:ph type="body" idx="1"/>
          </p:nvPr>
        </p:nvSpPr>
        <p:spPr>
          <a:xfrm>
            <a:off x="114225" y="1445850"/>
            <a:ext cx="47787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t>Introgressed segments</a:t>
            </a:r>
            <a:endParaRPr/>
          </a:p>
          <a:p>
            <a:pPr marL="457200" lvl="0" indent="-342900" algn="l" rtl="0">
              <a:lnSpc>
                <a:spcPct val="115000"/>
              </a:lnSpc>
              <a:spcBef>
                <a:spcPts val="1200"/>
              </a:spcBef>
              <a:spcAft>
                <a:spcPts val="0"/>
              </a:spcAft>
              <a:buSzPts val="1800"/>
              <a:buChar char="-"/>
            </a:pPr>
            <a:r>
              <a:rPr lang="en-GB"/>
              <a:t>Low divergence to Neandertal</a:t>
            </a:r>
            <a:endParaRPr/>
          </a:p>
          <a:p>
            <a:pPr marL="457200" lvl="0" indent="-342900" algn="l" rtl="0">
              <a:lnSpc>
                <a:spcPct val="115000"/>
              </a:lnSpc>
              <a:spcBef>
                <a:spcPts val="0"/>
              </a:spcBef>
              <a:spcAft>
                <a:spcPts val="0"/>
              </a:spcAft>
              <a:buSzPts val="1800"/>
              <a:buChar char="-"/>
            </a:pPr>
            <a:r>
              <a:rPr lang="en-GB"/>
              <a:t>High divergence to other humans</a:t>
            </a:r>
            <a:endParaRPr/>
          </a:p>
          <a:p>
            <a:pPr marL="0" lvl="0" indent="0" algn="l" rtl="0">
              <a:lnSpc>
                <a:spcPct val="115000"/>
              </a:lnSpc>
              <a:spcBef>
                <a:spcPts val="1200"/>
              </a:spcBef>
              <a:spcAft>
                <a:spcPts val="1200"/>
              </a:spcAft>
              <a:buSzPts val="1800"/>
              <a:buNone/>
            </a:pPr>
            <a:endParaRPr/>
          </a:p>
        </p:txBody>
      </p:sp>
      <p:pic>
        <p:nvPicPr>
          <p:cNvPr id="895" name="Google Shape;895;p22"/>
          <p:cNvPicPr preferRelativeResize="0"/>
          <p:nvPr/>
        </p:nvPicPr>
        <p:blipFill rotWithShape="1">
          <a:blip r:embed="rId3">
            <a:alphaModFix/>
          </a:blip>
          <a:srcRect/>
          <a:stretch/>
        </p:blipFill>
        <p:spPr>
          <a:xfrm>
            <a:off x="4693027" y="1273476"/>
            <a:ext cx="4089422" cy="3302700"/>
          </a:xfrm>
          <a:prstGeom prst="rect">
            <a:avLst/>
          </a:prstGeom>
          <a:noFill/>
          <a:ln>
            <a:noFill/>
          </a:ln>
        </p:spPr>
      </p:pic>
      <p:sp>
        <p:nvSpPr>
          <p:cNvPr id="896" name="Google Shape;896;p22"/>
          <p:cNvSpPr txBox="1"/>
          <p:nvPr/>
        </p:nvSpPr>
        <p:spPr>
          <a:xfrm>
            <a:off x="7323025" y="46923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Green et al. 2010</a:t>
            </a:r>
            <a:endParaRPr sz="1200" b="0" i="0" u="none" strike="noStrike" cap="none">
              <a:solidFill>
                <a:srgbClr val="45818E"/>
              </a:solidFill>
              <a:latin typeface="Open Sans"/>
              <a:ea typeface="Open Sans"/>
              <a:cs typeface="Open Sans"/>
              <a:sym typeface="Open Sans"/>
            </a:endParaRPr>
          </a:p>
        </p:txBody>
      </p:sp>
      <p:sp>
        <p:nvSpPr>
          <p:cNvPr id="897" name="Google Shape;897;p22"/>
          <p:cNvSpPr/>
          <p:nvPr/>
        </p:nvSpPr>
        <p:spPr>
          <a:xfrm>
            <a:off x="4521350" y="1273475"/>
            <a:ext cx="2183400" cy="231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8" name="Google Shape;898;p22"/>
          <p:cNvSpPr/>
          <p:nvPr/>
        </p:nvSpPr>
        <p:spPr>
          <a:xfrm>
            <a:off x="139650" y="1445850"/>
            <a:ext cx="8864700" cy="3521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3f68fc15589_0_513"/>
          <p:cNvSpPr txBox="1">
            <a:spLocks noGrp="1"/>
          </p:cNvSpPr>
          <p:nvPr>
            <p:ph type="title"/>
          </p:nvPr>
        </p:nvSpPr>
        <p:spPr>
          <a:xfrm>
            <a:off x="311700" y="16625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We can go from a genome-wide signal of Neanderthal SNPs to introgressed segments of Neanderthal DNA</a:t>
            </a:r>
            <a:endParaRPr/>
          </a:p>
        </p:txBody>
      </p:sp>
      <p:sp>
        <p:nvSpPr>
          <p:cNvPr id="904" name="Google Shape;904;g3f68fc15589_0_513"/>
          <p:cNvSpPr txBox="1">
            <a:spLocks noGrp="1"/>
          </p:cNvSpPr>
          <p:nvPr>
            <p:ph type="body" idx="1"/>
          </p:nvPr>
        </p:nvSpPr>
        <p:spPr>
          <a:xfrm>
            <a:off x="114225" y="1445850"/>
            <a:ext cx="47787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t>Introgressed segments</a:t>
            </a:r>
            <a:endParaRPr/>
          </a:p>
          <a:p>
            <a:pPr marL="457200" lvl="0" indent="-342900" algn="l" rtl="0">
              <a:lnSpc>
                <a:spcPct val="115000"/>
              </a:lnSpc>
              <a:spcBef>
                <a:spcPts val="1200"/>
              </a:spcBef>
              <a:spcAft>
                <a:spcPts val="0"/>
              </a:spcAft>
              <a:buSzPts val="1800"/>
              <a:buChar char="-"/>
            </a:pPr>
            <a:r>
              <a:rPr lang="en-GB"/>
              <a:t>Low divergence to Neandertal</a:t>
            </a:r>
            <a:endParaRPr/>
          </a:p>
          <a:p>
            <a:pPr marL="457200" lvl="0" indent="-342900" algn="l" rtl="0">
              <a:lnSpc>
                <a:spcPct val="115000"/>
              </a:lnSpc>
              <a:spcBef>
                <a:spcPts val="0"/>
              </a:spcBef>
              <a:spcAft>
                <a:spcPts val="0"/>
              </a:spcAft>
              <a:buSzPts val="1800"/>
              <a:buChar char="-"/>
            </a:pPr>
            <a:r>
              <a:rPr lang="en-GB"/>
              <a:t>High divergence to other humans</a:t>
            </a:r>
            <a:endParaRPr/>
          </a:p>
          <a:p>
            <a:pPr marL="0" lvl="0" indent="0" algn="l" rtl="0">
              <a:lnSpc>
                <a:spcPct val="115000"/>
              </a:lnSpc>
              <a:spcBef>
                <a:spcPts val="1200"/>
              </a:spcBef>
              <a:spcAft>
                <a:spcPts val="1200"/>
              </a:spcAft>
              <a:buSzPts val="1800"/>
              <a:buNone/>
            </a:pPr>
            <a:endParaRPr/>
          </a:p>
        </p:txBody>
      </p:sp>
      <p:pic>
        <p:nvPicPr>
          <p:cNvPr id="905" name="Google Shape;905;g3f68fc15589_0_513"/>
          <p:cNvPicPr preferRelativeResize="0"/>
          <p:nvPr/>
        </p:nvPicPr>
        <p:blipFill rotWithShape="1">
          <a:blip r:embed="rId3">
            <a:alphaModFix/>
          </a:blip>
          <a:srcRect/>
          <a:stretch/>
        </p:blipFill>
        <p:spPr>
          <a:xfrm>
            <a:off x="4693027" y="1273476"/>
            <a:ext cx="4089422" cy="3302700"/>
          </a:xfrm>
          <a:prstGeom prst="rect">
            <a:avLst/>
          </a:prstGeom>
          <a:noFill/>
          <a:ln>
            <a:noFill/>
          </a:ln>
        </p:spPr>
      </p:pic>
      <p:sp>
        <p:nvSpPr>
          <p:cNvPr id="906" name="Google Shape;906;g3f68fc15589_0_513"/>
          <p:cNvSpPr txBox="1"/>
          <p:nvPr/>
        </p:nvSpPr>
        <p:spPr>
          <a:xfrm>
            <a:off x="7323025" y="46923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Green et al. 2010</a:t>
            </a:r>
            <a:endParaRPr sz="1200" b="0" i="0" u="none" strike="noStrike" cap="none">
              <a:solidFill>
                <a:srgbClr val="45818E"/>
              </a:solidFill>
              <a:latin typeface="Open Sans"/>
              <a:ea typeface="Open Sans"/>
              <a:cs typeface="Open Sans"/>
              <a:sym typeface="Open Sans"/>
            </a:endParaRPr>
          </a:p>
        </p:txBody>
      </p:sp>
      <p:sp>
        <p:nvSpPr>
          <p:cNvPr id="907" name="Google Shape;907;g3f68fc15589_0_513"/>
          <p:cNvSpPr/>
          <p:nvPr/>
        </p:nvSpPr>
        <p:spPr>
          <a:xfrm>
            <a:off x="4521350" y="1273475"/>
            <a:ext cx="2183400" cy="231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8" name="Google Shape;908;g3f68fc15589_0_513"/>
          <p:cNvSpPr/>
          <p:nvPr/>
        </p:nvSpPr>
        <p:spPr>
          <a:xfrm>
            <a:off x="139650" y="1445850"/>
            <a:ext cx="4286100" cy="3521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09" name="Google Shape;909;g3f68fc15589_0_513"/>
          <p:cNvSpPr/>
          <p:nvPr/>
        </p:nvSpPr>
        <p:spPr>
          <a:xfrm>
            <a:off x="5344950" y="1905200"/>
            <a:ext cx="3262500" cy="1995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910" name="Google Shape;910;g3f68fc15589_0_513"/>
          <p:cNvCxnSpPr/>
          <p:nvPr/>
        </p:nvCxnSpPr>
        <p:spPr>
          <a:xfrm rot="10800000" flipH="1">
            <a:off x="4239775" y="4354225"/>
            <a:ext cx="1209600" cy="199200"/>
          </a:xfrm>
          <a:prstGeom prst="straightConnector1">
            <a:avLst/>
          </a:prstGeom>
          <a:noFill/>
          <a:ln w="19050" cap="flat" cmpd="sng">
            <a:solidFill>
              <a:srgbClr val="45818E"/>
            </a:solidFill>
            <a:prstDash val="solid"/>
            <a:round/>
            <a:headEnd type="none" w="sm" len="sm"/>
            <a:tailEnd type="triangle" w="med" len="med"/>
          </a:ln>
        </p:spPr>
      </p:cxnSp>
      <p:sp>
        <p:nvSpPr>
          <p:cNvPr id="911" name="Google Shape;911;g3f68fc15589_0_513"/>
          <p:cNvSpPr txBox="1"/>
          <p:nvPr/>
        </p:nvSpPr>
        <p:spPr>
          <a:xfrm>
            <a:off x="882650" y="1650475"/>
            <a:ext cx="363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Y axis = divergence of segments to other present-day humans</a:t>
            </a:r>
            <a:endParaRPr sz="1400" b="1" i="0" u="none" strike="noStrike" cap="none">
              <a:solidFill>
                <a:srgbClr val="45818E"/>
              </a:solidFill>
            </a:endParaRPr>
          </a:p>
        </p:txBody>
      </p:sp>
      <p:sp>
        <p:nvSpPr>
          <p:cNvPr id="912" name="Google Shape;912;g3f68fc15589_0_513"/>
          <p:cNvSpPr txBox="1"/>
          <p:nvPr/>
        </p:nvSpPr>
        <p:spPr>
          <a:xfrm>
            <a:off x="1054325" y="4351950"/>
            <a:ext cx="363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X axis = divergence of segments to Neanderthal sequence</a:t>
            </a:r>
            <a:endParaRPr sz="1400" b="1" i="0" u="none" strike="noStrike" cap="none">
              <a:solidFill>
                <a:srgbClr val="45818E"/>
              </a:solidFill>
            </a:endParaRPr>
          </a:p>
        </p:txBody>
      </p:sp>
      <p:cxnSp>
        <p:nvCxnSpPr>
          <p:cNvPr id="913" name="Google Shape;913;g3f68fc15589_0_513"/>
          <p:cNvCxnSpPr/>
          <p:nvPr/>
        </p:nvCxnSpPr>
        <p:spPr>
          <a:xfrm>
            <a:off x="3391825" y="1997925"/>
            <a:ext cx="1238100" cy="268200"/>
          </a:xfrm>
          <a:prstGeom prst="straightConnector1">
            <a:avLst/>
          </a:prstGeom>
          <a:noFill/>
          <a:ln w="19050" cap="flat" cmpd="sng">
            <a:solidFill>
              <a:srgbClr val="45818E"/>
            </a:solidFill>
            <a:prstDash val="solid"/>
            <a:round/>
            <a:headEnd type="none" w="sm" len="sm"/>
            <a:tailEnd type="triangle" w="med" len="med"/>
          </a:ln>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3f68fc15589_0_560"/>
          <p:cNvSpPr txBox="1">
            <a:spLocks noGrp="1"/>
          </p:cNvSpPr>
          <p:nvPr>
            <p:ph type="title"/>
          </p:nvPr>
        </p:nvSpPr>
        <p:spPr>
          <a:xfrm>
            <a:off x="311700" y="16625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We can go from a genome-wide signal of Neanderthal SNPs to introgressed segments of Neanderthal DNA</a:t>
            </a:r>
            <a:endParaRPr/>
          </a:p>
        </p:txBody>
      </p:sp>
      <p:sp>
        <p:nvSpPr>
          <p:cNvPr id="919" name="Google Shape;919;g3f68fc15589_0_560"/>
          <p:cNvSpPr txBox="1">
            <a:spLocks noGrp="1"/>
          </p:cNvSpPr>
          <p:nvPr>
            <p:ph type="body" idx="1"/>
          </p:nvPr>
        </p:nvSpPr>
        <p:spPr>
          <a:xfrm>
            <a:off x="114225" y="1445850"/>
            <a:ext cx="47787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t>Introgressed segments</a:t>
            </a:r>
            <a:endParaRPr/>
          </a:p>
          <a:p>
            <a:pPr marL="457200" lvl="0" indent="-342900" algn="l" rtl="0">
              <a:lnSpc>
                <a:spcPct val="115000"/>
              </a:lnSpc>
              <a:spcBef>
                <a:spcPts val="1200"/>
              </a:spcBef>
              <a:spcAft>
                <a:spcPts val="0"/>
              </a:spcAft>
              <a:buSzPts val="1800"/>
              <a:buChar char="-"/>
            </a:pPr>
            <a:r>
              <a:rPr lang="en-GB"/>
              <a:t>Low divergence to Neandertal</a:t>
            </a:r>
            <a:endParaRPr/>
          </a:p>
          <a:p>
            <a:pPr marL="457200" lvl="0" indent="-342900" algn="l" rtl="0">
              <a:lnSpc>
                <a:spcPct val="115000"/>
              </a:lnSpc>
              <a:spcBef>
                <a:spcPts val="0"/>
              </a:spcBef>
              <a:spcAft>
                <a:spcPts val="0"/>
              </a:spcAft>
              <a:buSzPts val="1800"/>
              <a:buChar char="-"/>
            </a:pPr>
            <a:r>
              <a:rPr lang="en-GB"/>
              <a:t>High divergence to other humans</a:t>
            </a:r>
            <a:endParaRPr/>
          </a:p>
          <a:p>
            <a:pPr marL="0" lvl="0" indent="0" algn="l" rtl="0">
              <a:lnSpc>
                <a:spcPct val="115000"/>
              </a:lnSpc>
              <a:spcBef>
                <a:spcPts val="1200"/>
              </a:spcBef>
              <a:spcAft>
                <a:spcPts val="1200"/>
              </a:spcAft>
              <a:buSzPts val="1800"/>
              <a:buNone/>
            </a:pPr>
            <a:endParaRPr/>
          </a:p>
        </p:txBody>
      </p:sp>
      <p:pic>
        <p:nvPicPr>
          <p:cNvPr id="920" name="Google Shape;920;g3f68fc15589_0_560"/>
          <p:cNvPicPr preferRelativeResize="0"/>
          <p:nvPr/>
        </p:nvPicPr>
        <p:blipFill rotWithShape="1">
          <a:blip r:embed="rId3">
            <a:alphaModFix/>
          </a:blip>
          <a:srcRect/>
          <a:stretch/>
        </p:blipFill>
        <p:spPr>
          <a:xfrm>
            <a:off x="4693027" y="1273476"/>
            <a:ext cx="4089422" cy="3302700"/>
          </a:xfrm>
          <a:prstGeom prst="rect">
            <a:avLst/>
          </a:prstGeom>
          <a:noFill/>
          <a:ln>
            <a:noFill/>
          </a:ln>
        </p:spPr>
      </p:pic>
      <p:sp>
        <p:nvSpPr>
          <p:cNvPr id="921" name="Google Shape;921;g3f68fc15589_0_560"/>
          <p:cNvSpPr txBox="1"/>
          <p:nvPr/>
        </p:nvSpPr>
        <p:spPr>
          <a:xfrm>
            <a:off x="7323025" y="46923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Green et al. 2010</a:t>
            </a:r>
            <a:endParaRPr sz="1200" b="0" i="0" u="none" strike="noStrike" cap="none">
              <a:solidFill>
                <a:srgbClr val="45818E"/>
              </a:solidFill>
              <a:latin typeface="Open Sans"/>
              <a:ea typeface="Open Sans"/>
              <a:cs typeface="Open Sans"/>
              <a:sym typeface="Open Sans"/>
            </a:endParaRPr>
          </a:p>
        </p:txBody>
      </p:sp>
      <p:sp>
        <p:nvSpPr>
          <p:cNvPr id="922" name="Google Shape;922;g3f68fc15589_0_560"/>
          <p:cNvSpPr/>
          <p:nvPr/>
        </p:nvSpPr>
        <p:spPr>
          <a:xfrm>
            <a:off x="4521350" y="1273475"/>
            <a:ext cx="2183400" cy="231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g3f68fc15589_0_560"/>
          <p:cNvSpPr/>
          <p:nvPr/>
        </p:nvSpPr>
        <p:spPr>
          <a:xfrm>
            <a:off x="139650" y="1445850"/>
            <a:ext cx="4286100" cy="3521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924" name="Google Shape;924;g3f68fc15589_0_560"/>
          <p:cNvCxnSpPr/>
          <p:nvPr/>
        </p:nvCxnSpPr>
        <p:spPr>
          <a:xfrm rot="10800000" flipH="1">
            <a:off x="4239775" y="4354225"/>
            <a:ext cx="1209600" cy="199200"/>
          </a:xfrm>
          <a:prstGeom prst="straightConnector1">
            <a:avLst/>
          </a:prstGeom>
          <a:noFill/>
          <a:ln w="19050" cap="flat" cmpd="sng">
            <a:solidFill>
              <a:srgbClr val="45818E"/>
            </a:solidFill>
            <a:prstDash val="solid"/>
            <a:round/>
            <a:headEnd type="none" w="sm" len="sm"/>
            <a:tailEnd type="triangle" w="med" len="med"/>
          </a:ln>
        </p:spPr>
      </p:cxnSp>
      <p:sp>
        <p:nvSpPr>
          <p:cNvPr id="925" name="Google Shape;925;g3f68fc15589_0_560"/>
          <p:cNvSpPr txBox="1"/>
          <p:nvPr/>
        </p:nvSpPr>
        <p:spPr>
          <a:xfrm>
            <a:off x="882650" y="1650475"/>
            <a:ext cx="363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Y axis = divergence of segments to other present-day humans</a:t>
            </a:r>
            <a:endParaRPr sz="1400" b="1" i="0" u="none" strike="noStrike" cap="none">
              <a:solidFill>
                <a:srgbClr val="45818E"/>
              </a:solidFill>
            </a:endParaRPr>
          </a:p>
        </p:txBody>
      </p:sp>
      <p:sp>
        <p:nvSpPr>
          <p:cNvPr id="926" name="Google Shape;926;g3f68fc15589_0_560"/>
          <p:cNvSpPr txBox="1"/>
          <p:nvPr/>
        </p:nvSpPr>
        <p:spPr>
          <a:xfrm>
            <a:off x="1054325" y="4351950"/>
            <a:ext cx="363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X axis = divergence of segments to Neanderthal sequence</a:t>
            </a:r>
            <a:endParaRPr sz="1400" b="1" i="0" u="none" strike="noStrike" cap="none">
              <a:solidFill>
                <a:srgbClr val="45818E"/>
              </a:solidFill>
            </a:endParaRPr>
          </a:p>
        </p:txBody>
      </p:sp>
      <p:cxnSp>
        <p:nvCxnSpPr>
          <p:cNvPr id="927" name="Google Shape;927;g3f68fc15589_0_560"/>
          <p:cNvCxnSpPr/>
          <p:nvPr/>
        </p:nvCxnSpPr>
        <p:spPr>
          <a:xfrm>
            <a:off x="3391825" y="1997925"/>
            <a:ext cx="1238100" cy="268200"/>
          </a:xfrm>
          <a:prstGeom prst="straightConnector1">
            <a:avLst/>
          </a:prstGeom>
          <a:noFill/>
          <a:ln w="19050" cap="flat" cmpd="sng">
            <a:solidFill>
              <a:srgbClr val="45818E"/>
            </a:solidFill>
            <a:prstDash val="solid"/>
            <a:round/>
            <a:headEnd type="none" w="sm" len="sm"/>
            <a:tailEnd type="triangle" w="med" len="med"/>
          </a:ln>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3f68fc15589_0_543"/>
          <p:cNvSpPr txBox="1">
            <a:spLocks noGrp="1"/>
          </p:cNvSpPr>
          <p:nvPr>
            <p:ph type="title"/>
          </p:nvPr>
        </p:nvSpPr>
        <p:spPr>
          <a:xfrm>
            <a:off x="311700" y="16625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We can go from a genome-wide signal of Neanderthal SNPs to introgressed segments of Neanderthal DNA</a:t>
            </a:r>
            <a:endParaRPr/>
          </a:p>
        </p:txBody>
      </p:sp>
      <p:sp>
        <p:nvSpPr>
          <p:cNvPr id="933" name="Google Shape;933;g3f68fc15589_0_543"/>
          <p:cNvSpPr txBox="1">
            <a:spLocks noGrp="1"/>
          </p:cNvSpPr>
          <p:nvPr>
            <p:ph type="body" idx="1"/>
          </p:nvPr>
        </p:nvSpPr>
        <p:spPr>
          <a:xfrm>
            <a:off x="114225" y="1445850"/>
            <a:ext cx="47787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t>Introgressed segments</a:t>
            </a:r>
            <a:endParaRPr/>
          </a:p>
          <a:p>
            <a:pPr marL="457200" lvl="0" indent="-342900" algn="l" rtl="0">
              <a:lnSpc>
                <a:spcPct val="115000"/>
              </a:lnSpc>
              <a:spcBef>
                <a:spcPts val="1200"/>
              </a:spcBef>
              <a:spcAft>
                <a:spcPts val="0"/>
              </a:spcAft>
              <a:buSzPts val="1800"/>
              <a:buChar char="-"/>
            </a:pPr>
            <a:r>
              <a:rPr lang="en-GB"/>
              <a:t>Low divergence to Neandertal</a:t>
            </a:r>
            <a:endParaRPr/>
          </a:p>
          <a:p>
            <a:pPr marL="457200" lvl="0" indent="-342900" algn="l" rtl="0">
              <a:lnSpc>
                <a:spcPct val="115000"/>
              </a:lnSpc>
              <a:spcBef>
                <a:spcPts val="0"/>
              </a:spcBef>
              <a:spcAft>
                <a:spcPts val="0"/>
              </a:spcAft>
              <a:buSzPts val="1800"/>
              <a:buChar char="-"/>
            </a:pPr>
            <a:r>
              <a:rPr lang="en-GB"/>
              <a:t>High divergence to other humans</a:t>
            </a:r>
            <a:endParaRPr/>
          </a:p>
          <a:p>
            <a:pPr marL="0" lvl="0" indent="0" algn="l" rtl="0">
              <a:lnSpc>
                <a:spcPct val="115000"/>
              </a:lnSpc>
              <a:spcBef>
                <a:spcPts val="1200"/>
              </a:spcBef>
              <a:spcAft>
                <a:spcPts val="1200"/>
              </a:spcAft>
              <a:buSzPts val="1800"/>
              <a:buNone/>
            </a:pPr>
            <a:endParaRPr/>
          </a:p>
        </p:txBody>
      </p:sp>
      <p:pic>
        <p:nvPicPr>
          <p:cNvPr id="934" name="Google Shape;934;g3f68fc15589_0_543"/>
          <p:cNvPicPr preferRelativeResize="0"/>
          <p:nvPr/>
        </p:nvPicPr>
        <p:blipFill rotWithShape="1">
          <a:blip r:embed="rId3">
            <a:alphaModFix/>
          </a:blip>
          <a:srcRect/>
          <a:stretch/>
        </p:blipFill>
        <p:spPr>
          <a:xfrm>
            <a:off x="4693027" y="1273476"/>
            <a:ext cx="4089422" cy="3302700"/>
          </a:xfrm>
          <a:prstGeom prst="rect">
            <a:avLst/>
          </a:prstGeom>
          <a:noFill/>
          <a:ln>
            <a:noFill/>
          </a:ln>
        </p:spPr>
      </p:pic>
      <p:sp>
        <p:nvSpPr>
          <p:cNvPr id="935" name="Google Shape;935;g3f68fc15589_0_543"/>
          <p:cNvSpPr txBox="1"/>
          <p:nvPr/>
        </p:nvSpPr>
        <p:spPr>
          <a:xfrm>
            <a:off x="7323025" y="46923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Green et al. 2010</a:t>
            </a:r>
            <a:endParaRPr sz="1200" b="0" i="0" u="none" strike="noStrike" cap="none">
              <a:solidFill>
                <a:srgbClr val="45818E"/>
              </a:solidFill>
              <a:latin typeface="Open Sans"/>
              <a:ea typeface="Open Sans"/>
              <a:cs typeface="Open Sans"/>
              <a:sym typeface="Open Sans"/>
            </a:endParaRPr>
          </a:p>
        </p:txBody>
      </p:sp>
      <p:sp>
        <p:nvSpPr>
          <p:cNvPr id="936" name="Google Shape;936;g3f68fc15589_0_543"/>
          <p:cNvSpPr/>
          <p:nvPr/>
        </p:nvSpPr>
        <p:spPr>
          <a:xfrm>
            <a:off x="4521350" y="1273475"/>
            <a:ext cx="2183400" cy="231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g3f68fc15589_0_543"/>
          <p:cNvSpPr/>
          <p:nvPr/>
        </p:nvSpPr>
        <p:spPr>
          <a:xfrm>
            <a:off x="139650" y="1445850"/>
            <a:ext cx="4286100" cy="3521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938" name="Google Shape;938;g3f68fc15589_0_543"/>
          <p:cNvCxnSpPr/>
          <p:nvPr/>
        </p:nvCxnSpPr>
        <p:spPr>
          <a:xfrm rot="10800000" flipH="1">
            <a:off x="4239775" y="4354225"/>
            <a:ext cx="1209600" cy="199200"/>
          </a:xfrm>
          <a:prstGeom prst="straightConnector1">
            <a:avLst/>
          </a:prstGeom>
          <a:noFill/>
          <a:ln w="19050" cap="flat" cmpd="sng">
            <a:solidFill>
              <a:srgbClr val="45818E"/>
            </a:solidFill>
            <a:prstDash val="solid"/>
            <a:round/>
            <a:headEnd type="none" w="sm" len="sm"/>
            <a:tailEnd type="triangle" w="med" len="med"/>
          </a:ln>
        </p:spPr>
      </p:cxnSp>
      <p:sp>
        <p:nvSpPr>
          <p:cNvPr id="939" name="Google Shape;939;g3f68fc15589_0_543"/>
          <p:cNvSpPr txBox="1"/>
          <p:nvPr/>
        </p:nvSpPr>
        <p:spPr>
          <a:xfrm>
            <a:off x="882650" y="1650475"/>
            <a:ext cx="363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Y axis = divergence of segments to other present-day humans</a:t>
            </a:r>
            <a:endParaRPr sz="1400" b="1" i="0" u="none" strike="noStrike" cap="none">
              <a:solidFill>
                <a:srgbClr val="45818E"/>
              </a:solidFill>
            </a:endParaRPr>
          </a:p>
        </p:txBody>
      </p:sp>
      <p:sp>
        <p:nvSpPr>
          <p:cNvPr id="940" name="Google Shape;940;g3f68fc15589_0_543"/>
          <p:cNvSpPr txBox="1"/>
          <p:nvPr/>
        </p:nvSpPr>
        <p:spPr>
          <a:xfrm>
            <a:off x="1054325" y="4351950"/>
            <a:ext cx="363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X axis = divergence of segments to Neanderthal sequence</a:t>
            </a:r>
            <a:endParaRPr sz="1400" b="1" i="0" u="none" strike="noStrike" cap="none">
              <a:solidFill>
                <a:srgbClr val="45818E"/>
              </a:solidFill>
            </a:endParaRPr>
          </a:p>
        </p:txBody>
      </p:sp>
      <p:cxnSp>
        <p:nvCxnSpPr>
          <p:cNvPr id="941" name="Google Shape;941;g3f68fc15589_0_543"/>
          <p:cNvCxnSpPr/>
          <p:nvPr/>
        </p:nvCxnSpPr>
        <p:spPr>
          <a:xfrm>
            <a:off x="3391825" y="1997925"/>
            <a:ext cx="1238100" cy="268200"/>
          </a:xfrm>
          <a:prstGeom prst="straightConnector1">
            <a:avLst/>
          </a:prstGeom>
          <a:noFill/>
          <a:ln w="19050" cap="flat" cmpd="sng">
            <a:solidFill>
              <a:srgbClr val="45818E"/>
            </a:solidFill>
            <a:prstDash val="solid"/>
            <a:round/>
            <a:headEnd type="none" w="sm" len="sm"/>
            <a:tailEnd type="triangle" w="med" len="med"/>
          </a:ln>
        </p:spPr>
      </p:cxnSp>
      <p:sp>
        <p:nvSpPr>
          <p:cNvPr id="942" name="Google Shape;942;g3f68fc15589_0_543"/>
          <p:cNvSpPr txBox="1"/>
          <p:nvPr/>
        </p:nvSpPr>
        <p:spPr>
          <a:xfrm>
            <a:off x="311700" y="2462413"/>
            <a:ext cx="4089300" cy="169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a:solidFill>
                  <a:srgbClr val="073763"/>
                </a:solidFill>
              </a:rPr>
              <a:t>Blue = </a:t>
            </a:r>
            <a:r>
              <a:rPr lang="en-GB" b="1">
                <a:solidFill>
                  <a:srgbClr val="073763"/>
                </a:solidFill>
              </a:rPr>
              <a:t>Many</a:t>
            </a:r>
            <a:r>
              <a:rPr lang="en-GB">
                <a:solidFill>
                  <a:srgbClr val="073763"/>
                </a:solidFill>
              </a:rPr>
              <a:t> European segments have </a:t>
            </a:r>
            <a:r>
              <a:rPr lang="en-GB" b="1">
                <a:solidFill>
                  <a:srgbClr val="073763"/>
                </a:solidFill>
              </a:rPr>
              <a:t>equal divergence</a:t>
            </a:r>
            <a:r>
              <a:rPr lang="en-GB">
                <a:solidFill>
                  <a:srgbClr val="073763"/>
                </a:solidFill>
              </a:rPr>
              <a:t> to both other humans &amp; Neanderthal </a:t>
            </a:r>
            <a:endParaRPr>
              <a:solidFill>
                <a:srgbClr val="073763"/>
              </a:solidFill>
            </a:endParaRPr>
          </a:p>
          <a:p>
            <a:pPr marL="0" marR="0" lvl="0" indent="0" algn="l" rtl="0">
              <a:lnSpc>
                <a:spcPct val="100000"/>
              </a:lnSpc>
              <a:spcBef>
                <a:spcPts val="0"/>
              </a:spcBef>
              <a:spcAft>
                <a:spcPts val="0"/>
              </a:spcAft>
              <a:buClr>
                <a:srgbClr val="000000"/>
              </a:buClr>
              <a:buSzPts val="1400"/>
              <a:buFont typeface="Arial"/>
              <a:buNone/>
            </a:pPr>
            <a:endParaRPr b="1">
              <a:solidFill>
                <a:srgbClr val="073763"/>
              </a:solidFill>
            </a:endParaRPr>
          </a:p>
          <a:p>
            <a:pPr marL="0" marR="0" lvl="0" indent="0" algn="l" rtl="0">
              <a:lnSpc>
                <a:spcPct val="100000"/>
              </a:lnSpc>
              <a:spcBef>
                <a:spcPts val="0"/>
              </a:spcBef>
              <a:spcAft>
                <a:spcPts val="0"/>
              </a:spcAft>
              <a:buClr>
                <a:srgbClr val="000000"/>
              </a:buClr>
              <a:buSzPts val="1400"/>
              <a:buFont typeface="Arial"/>
              <a:buNone/>
            </a:pPr>
            <a:r>
              <a:rPr lang="en-GB" b="1">
                <a:solidFill>
                  <a:srgbClr val="073763"/>
                </a:solidFill>
              </a:rPr>
              <a:t>Substantial minority</a:t>
            </a:r>
            <a:r>
              <a:rPr lang="en-GB">
                <a:solidFill>
                  <a:srgbClr val="073763"/>
                </a:solidFill>
              </a:rPr>
              <a:t> of European segments have</a:t>
            </a:r>
            <a:r>
              <a:rPr lang="en-GB" b="1">
                <a:solidFill>
                  <a:srgbClr val="073763"/>
                </a:solidFill>
              </a:rPr>
              <a:t> low divergence</a:t>
            </a:r>
            <a:r>
              <a:rPr lang="en-GB">
                <a:solidFill>
                  <a:srgbClr val="073763"/>
                </a:solidFill>
              </a:rPr>
              <a:t> to </a:t>
            </a:r>
            <a:r>
              <a:rPr lang="en-GB" b="1">
                <a:solidFill>
                  <a:srgbClr val="073763"/>
                </a:solidFill>
              </a:rPr>
              <a:t>Neanderthal </a:t>
            </a:r>
            <a:r>
              <a:rPr lang="en-GB">
                <a:solidFill>
                  <a:srgbClr val="073763"/>
                </a:solidFill>
              </a:rPr>
              <a:t>&amp; high divergence to other humans =&gt; </a:t>
            </a:r>
            <a:r>
              <a:rPr lang="en-GB" b="1">
                <a:solidFill>
                  <a:srgbClr val="073763"/>
                </a:solidFill>
              </a:rPr>
              <a:t>introgressed segments</a:t>
            </a:r>
            <a:endParaRPr b="1">
              <a:solidFill>
                <a:srgbClr val="073763"/>
              </a:solidFill>
            </a:endParaRPr>
          </a:p>
        </p:txBody>
      </p:sp>
      <p:sp>
        <p:nvSpPr>
          <p:cNvPr id="943" name="Google Shape;943;g3f68fc15589_0_543"/>
          <p:cNvSpPr/>
          <p:nvPr/>
        </p:nvSpPr>
        <p:spPr>
          <a:xfrm>
            <a:off x="311700" y="3390400"/>
            <a:ext cx="3765600" cy="872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44" name="Google Shape;944;g3f68fc15589_0_543"/>
          <p:cNvSpPr/>
          <p:nvPr/>
        </p:nvSpPr>
        <p:spPr>
          <a:xfrm>
            <a:off x="6005400" y="2266125"/>
            <a:ext cx="2339100" cy="13347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45" name="Google Shape;945;g3f68fc15589_0_543"/>
          <p:cNvSpPr/>
          <p:nvPr/>
        </p:nvSpPr>
        <p:spPr>
          <a:xfrm>
            <a:off x="236899" y="2355875"/>
            <a:ext cx="4156200" cy="19086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46" name="Google Shape;946;g3f68fc15589_0_543"/>
          <p:cNvSpPr/>
          <p:nvPr/>
        </p:nvSpPr>
        <p:spPr>
          <a:xfrm>
            <a:off x="348475" y="3136275"/>
            <a:ext cx="3705600" cy="453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3f68fc15589_0_576"/>
          <p:cNvSpPr txBox="1">
            <a:spLocks noGrp="1"/>
          </p:cNvSpPr>
          <p:nvPr>
            <p:ph type="title"/>
          </p:nvPr>
        </p:nvSpPr>
        <p:spPr>
          <a:xfrm>
            <a:off x="311700" y="16625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We can go from a genome-wide signal of Neanderthal SNPs to introgressed segments of Neanderthal DNA</a:t>
            </a:r>
            <a:endParaRPr/>
          </a:p>
        </p:txBody>
      </p:sp>
      <p:sp>
        <p:nvSpPr>
          <p:cNvPr id="952" name="Google Shape;952;g3f68fc15589_0_576"/>
          <p:cNvSpPr txBox="1">
            <a:spLocks noGrp="1"/>
          </p:cNvSpPr>
          <p:nvPr>
            <p:ph type="body" idx="1"/>
          </p:nvPr>
        </p:nvSpPr>
        <p:spPr>
          <a:xfrm>
            <a:off x="114225" y="1445850"/>
            <a:ext cx="47787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t>Introgressed segments</a:t>
            </a:r>
            <a:endParaRPr/>
          </a:p>
          <a:p>
            <a:pPr marL="457200" lvl="0" indent="-342900" algn="l" rtl="0">
              <a:lnSpc>
                <a:spcPct val="115000"/>
              </a:lnSpc>
              <a:spcBef>
                <a:spcPts val="1200"/>
              </a:spcBef>
              <a:spcAft>
                <a:spcPts val="0"/>
              </a:spcAft>
              <a:buSzPts val="1800"/>
              <a:buChar char="-"/>
            </a:pPr>
            <a:r>
              <a:rPr lang="en-GB"/>
              <a:t>Low divergence to Neandertal</a:t>
            </a:r>
            <a:endParaRPr/>
          </a:p>
          <a:p>
            <a:pPr marL="457200" lvl="0" indent="-342900" algn="l" rtl="0">
              <a:lnSpc>
                <a:spcPct val="115000"/>
              </a:lnSpc>
              <a:spcBef>
                <a:spcPts val="0"/>
              </a:spcBef>
              <a:spcAft>
                <a:spcPts val="0"/>
              </a:spcAft>
              <a:buSzPts val="1800"/>
              <a:buChar char="-"/>
            </a:pPr>
            <a:r>
              <a:rPr lang="en-GB"/>
              <a:t>High divergence to other humans</a:t>
            </a:r>
            <a:endParaRPr/>
          </a:p>
          <a:p>
            <a:pPr marL="0" lvl="0" indent="0" algn="l" rtl="0">
              <a:lnSpc>
                <a:spcPct val="115000"/>
              </a:lnSpc>
              <a:spcBef>
                <a:spcPts val="1200"/>
              </a:spcBef>
              <a:spcAft>
                <a:spcPts val="1200"/>
              </a:spcAft>
              <a:buSzPts val="1800"/>
              <a:buNone/>
            </a:pPr>
            <a:endParaRPr/>
          </a:p>
        </p:txBody>
      </p:sp>
      <p:pic>
        <p:nvPicPr>
          <p:cNvPr id="953" name="Google Shape;953;g3f68fc15589_0_576"/>
          <p:cNvPicPr preferRelativeResize="0"/>
          <p:nvPr/>
        </p:nvPicPr>
        <p:blipFill rotWithShape="1">
          <a:blip r:embed="rId3">
            <a:alphaModFix/>
          </a:blip>
          <a:srcRect/>
          <a:stretch/>
        </p:blipFill>
        <p:spPr>
          <a:xfrm>
            <a:off x="4693027" y="1273476"/>
            <a:ext cx="4089422" cy="3302700"/>
          </a:xfrm>
          <a:prstGeom prst="rect">
            <a:avLst/>
          </a:prstGeom>
          <a:noFill/>
          <a:ln>
            <a:noFill/>
          </a:ln>
        </p:spPr>
      </p:pic>
      <p:sp>
        <p:nvSpPr>
          <p:cNvPr id="954" name="Google Shape;954;g3f68fc15589_0_576"/>
          <p:cNvSpPr txBox="1"/>
          <p:nvPr/>
        </p:nvSpPr>
        <p:spPr>
          <a:xfrm>
            <a:off x="7323025" y="46923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Green et al. 2010</a:t>
            </a:r>
            <a:endParaRPr sz="1200" b="0" i="0" u="none" strike="noStrike" cap="none">
              <a:solidFill>
                <a:srgbClr val="45818E"/>
              </a:solidFill>
              <a:latin typeface="Open Sans"/>
              <a:ea typeface="Open Sans"/>
              <a:cs typeface="Open Sans"/>
              <a:sym typeface="Open Sans"/>
            </a:endParaRPr>
          </a:p>
        </p:txBody>
      </p:sp>
      <p:sp>
        <p:nvSpPr>
          <p:cNvPr id="955" name="Google Shape;955;g3f68fc15589_0_576"/>
          <p:cNvSpPr/>
          <p:nvPr/>
        </p:nvSpPr>
        <p:spPr>
          <a:xfrm>
            <a:off x="4521350" y="1273475"/>
            <a:ext cx="2183400" cy="231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g3f68fc15589_0_576"/>
          <p:cNvSpPr/>
          <p:nvPr/>
        </p:nvSpPr>
        <p:spPr>
          <a:xfrm>
            <a:off x="139650" y="1445850"/>
            <a:ext cx="4286100" cy="3521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957" name="Google Shape;957;g3f68fc15589_0_576"/>
          <p:cNvCxnSpPr/>
          <p:nvPr/>
        </p:nvCxnSpPr>
        <p:spPr>
          <a:xfrm rot="10800000" flipH="1">
            <a:off x="4239775" y="4354225"/>
            <a:ext cx="1209600" cy="199200"/>
          </a:xfrm>
          <a:prstGeom prst="straightConnector1">
            <a:avLst/>
          </a:prstGeom>
          <a:noFill/>
          <a:ln w="19050" cap="flat" cmpd="sng">
            <a:solidFill>
              <a:srgbClr val="45818E"/>
            </a:solidFill>
            <a:prstDash val="solid"/>
            <a:round/>
            <a:headEnd type="none" w="sm" len="sm"/>
            <a:tailEnd type="triangle" w="med" len="med"/>
          </a:ln>
        </p:spPr>
      </p:cxnSp>
      <p:sp>
        <p:nvSpPr>
          <p:cNvPr id="958" name="Google Shape;958;g3f68fc15589_0_576"/>
          <p:cNvSpPr txBox="1"/>
          <p:nvPr/>
        </p:nvSpPr>
        <p:spPr>
          <a:xfrm>
            <a:off x="882650" y="1650475"/>
            <a:ext cx="363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Y axis = divergence of segments to other present-day humans</a:t>
            </a:r>
            <a:endParaRPr sz="1400" b="1" i="0" u="none" strike="noStrike" cap="none">
              <a:solidFill>
                <a:srgbClr val="45818E"/>
              </a:solidFill>
            </a:endParaRPr>
          </a:p>
        </p:txBody>
      </p:sp>
      <p:sp>
        <p:nvSpPr>
          <p:cNvPr id="959" name="Google Shape;959;g3f68fc15589_0_576"/>
          <p:cNvSpPr txBox="1"/>
          <p:nvPr/>
        </p:nvSpPr>
        <p:spPr>
          <a:xfrm>
            <a:off x="1054325" y="4351950"/>
            <a:ext cx="363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X axis = divergence of segments to Neanderthal sequence</a:t>
            </a:r>
            <a:endParaRPr sz="1400" b="1" i="0" u="none" strike="noStrike" cap="none">
              <a:solidFill>
                <a:srgbClr val="45818E"/>
              </a:solidFill>
            </a:endParaRPr>
          </a:p>
        </p:txBody>
      </p:sp>
      <p:cxnSp>
        <p:nvCxnSpPr>
          <p:cNvPr id="960" name="Google Shape;960;g3f68fc15589_0_576"/>
          <p:cNvCxnSpPr/>
          <p:nvPr/>
        </p:nvCxnSpPr>
        <p:spPr>
          <a:xfrm>
            <a:off x="3391825" y="1997925"/>
            <a:ext cx="1238100" cy="268200"/>
          </a:xfrm>
          <a:prstGeom prst="straightConnector1">
            <a:avLst/>
          </a:prstGeom>
          <a:noFill/>
          <a:ln w="19050" cap="flat" cmpd="sng">
            <a:solidFill>
              <a:srgbClr val="45818E"/>
            </a:solidFill>
            <a:prstDash val="solid"/>
            <a:round/>
            <a:headEnd type="none" w="sm" len="sm"/>
            <a:tailEnd type="triangle" w="med" len="med"/>
          </a:ln>
        </p:spPr>
      </p:cxnSp>
      <p:sp>
        <p:nvSpPr>
          <p:cNvPr id="961" name="Google Shape;961;g3f68fc15589_0_576"/>
          <p:cNvSpPr txBox="1"/>
          <p:nvPr/>
        </p:nvSpPr>
        <p:spPr>
          <a:xfrm>
            <a:off x="311700" y="2462413"/>
            <a:ext cx="4089300" cy="169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a:solidFill>
                  <a:srgbClr val="073763"/>
                </a:solidFill>
              </a:rPr>
              <a:t>Blue = </a:t>
            </a:r>
            <a:r>
              <a:rPr lang="en-GB" b="1">
                <a:solidFill>
                  <a:srgbClr val="073763"/>
                </a:solidFill>
              </a:rPr>
              <a:t>Many</a:t>
            </a:r>
            <a:r>
              <a:rPr lang="en-GB">
                <a:solidFill>
                  <a:srgbClr val="073763"/>
                </a:solidFill>
              </a:rPr>
              <a:t> European segments have </a:t>
            </a:r>
            <a:r>
              <a:rPr lang="en-GB" b="1">
                <a:solidFill>
                  <a:srgbClr val="073763"/>
                </a:solidFill>
              </a:rPr>
              <a:t>equal divergence</a:t>
            </a:r>
            <a:r>
              <a:rPr lang="en-GB">
                <a:solidFill>
                  <a:srgbClr val="073763"/>
                </a:solidFill>
              </a:rPr>
              <a:t> to both other humans &amp; Neanderthal</a:t>
            </a:r>
            <a:endParaRPr>
              <a:solidFill>
                <a:srgbClr val="073763"/>
              </a:solidFill>
            </a:endParaRPr>
          </a:p>
          <a:p>
            <a:pPr marL="0" marR="0" lvl="0" indent="0" algn="l" rtl="0">
              <a:lnSpc>
                <a:spcPct val="100000"/>
              </a:lnSpc>
              <a:spcBef>
                <a:spcPts val="0"/>
              </a:spcBef>
              <a:spcAft>
                <a:spcPts val="0"/>
              </a:spcAft>
              <a:buClr>
                <a:srgbClr val="000000"/>
              </a:buClr>
              <a:buSzPts val="1400"/>
              <a:buFont typeface="Arial"/>
              <a:buNone/>
            </a:pPr>
            <a:endParaRPr b="1">
              <a:solidFill>
                <a:srgbClr val="073763"/>
              </a:solidFill>
            </a:endParaRPr>
          </a:p>
          <a:p>
            <a:pPr marL="0" marR="0" lvl="0" indent="0" algn="l" rtl="0">
              <a:lnSpc>
                <a:spcPct val="100000"/>
              </a:lnSpc>
              <a:spcBef>
                <a:spcPts val="0"/>
              </a:spcBef>
              <a:spcAft>
                <a:spcPts val="0"/>
              </a:spcAft>
              <a:buClr>
                <a:srgbClr val="000000"/>
              </a:buClr>
              <a:buSzPts val="1400"/>
              <a:buFont typeface="Arial"/>
              <a:buNone/>
            </a:pPr>
            <a:r>
              <a:rPr lang="en-GB" b="1">
                <a:solidFill>
                  <a:srgbClr val="073763"/>
                </a:solidFill>
              </a:rPr>
              <a:t>Substantial minority</a:t>
            </a:r>
            <a:r>
              <a:rPr lang="en-GB">
                <a:solidFill>
                  <a:srgbClr val="073763"/>
                </a:solidFill>
              </a:rPr>
              <a:t> of European segments have</a:t>
            </a:r>
            <a:r>
              <a:rPr lang="en-GB" b="1">
                <a:solidFill>
                  <a:srgbClr val="073763"/>
                </a:solidFill>
              </a:rPr>
              <a:t> low divergence</a:t>
            </a:r>
            <a:r>
              <a:rPr lang="en-GB">
                <a:solidFill>
                  <a:srgbClr val="073763"/>
                </a:solidFill>
              </a:rPr>
              <a:t> to </a:t>
            </a:r>
            <a:r>
              <a:rPr lang="en-GB" b="1">
                <a:solidFill>
                  <a:srgbClr val="073763"/>
                </a:solidFill>
              </a:rPr>
              <a:t>Neanderthal </a:t>
            </a:r>
            <a:r>
              <a:rPr lang="en-GB">
                <a:solidFill>
                  <a:srgbClr val="073763"/>
                </a:solidFill>
              </a:rPr>
              <a:t>&amp; high divergence to other humans =&gt; </a:t>
            </a:r>
            <a:r>
              <a:rPr lang="en-GB" b="1">
                <a:solidFill>
                  <a:srgbClr val="073763"/>
                </a:solidFill>
              </a:rPr>
              <a:t>introgressed segments</a:t>
            </a:r>
            <a:endParaRPr b="1">
              <a:solidFill>
                <a:srgbClr val="073763"/>
              </a:solidFill>
            </a:endParaRPr>
          </a:p>
        </p:txBody>
      </p:sp>
      <p:sp>
        <p:nvSpPr>
          <p:cNvPr id="962" name="Google Shape;962;g3f68fc15589_0_576"/>
          <p:cNvSpPr/>
          <p:nvPr/>
        </p:nvSpPr>
        <p:spPr>
          <a:xfrm>
            <a:off x="4892925" y="2383350"/>
            <a:ext cx="1209600" cy="19086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963" name="Google Shape;963;g3f68fc15589_0_576"/>
          <p:cNvPicPr preferRelativeResize="0"/>
          <p:nvPr/>
        </p:nvPicPr>
        <p:blipFill>
          <a:blip r:embed="rId4">
            <a:alphaModFix/>
          </a:blip>
          <a:stretch>
            <a:fillRect/>
          </a:stretch>
        </p:blipFill>
        <p:spPr>
          <a:xfrm>
            <a:off x="365125" y="2383350"/>
            <a:ext cx="4156225" cy="816725"/>
          </a:xfrm>
          <a:prstGeom prst="rect">
            <a:avLst/>
          </a:prstGeom>
          <a:noFill/>
          <a:ln>
            <a:noFill/>
          </a:ln>
        </p:spPr>
      </p:pic>
      <p:sp>
        <p:nvSpPr>
          <p:cNvPr id="964" name="Google Shape;964;g3f68fc15589_0_576"/>
          <p:cNvSpPr/>
          <p:nvPr/>
        </p:nvSpPr>
        <p:spPr>
          <a:xfrm>
            <a:off x="236899" y="2355875"/>
            <a:ext cx="4156200" cy="19086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23"/>
          <p:cNvSpPr txBox="1">
            <a:spLocks noGrp="1"/>
          </p:cNvSpPr>
          <p:nvPr>
            <p:ph type="title"/>
          </p:nvPr>
        </p:nvSpPr>
        <p:spPr>
          <a:xfrm>
            <a:off x="311700" y="445025"/>
            <a:ext cx="82608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3 lines of evidence of gene flow from Neandertals to modern humans </a:t>
            </a:r>
            <a:endParaRPr/>
          </a:p>
        </p:txBody>
      </p:sp>
      <p:sp>
        <p:nvSpPr>
          <p:cNvPr id="970" name="Google Shape;970;p23"/>
          <p:cNvSpPr/>
          <p:nvPr/>
        </p:nvSpPr>
        <p:spPr>
          <a:xfrm>
            <a:off x="311700" y="2011225"/>
            <a:ext cx="386700" cy="363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23"/>
          <p:cNvSpPr txBox="1">
            <a:spLocks noGrp="1"/>
          </p:cNvSpPr>
          <p:nvPr>
            <p:ph type="body" idx="1"/>
          </p:nvPr>
        </p:nvSpPr>
        <p:spPr>
          <a:xfrm>
            <a:off x="311700" y="1860725"/>
            <a:ext cx="8520600" cy="1542000"/>
          </a:xfrm>
          <a:prstGeom prst="rect">
            <a:avLst/>
          </a:prstGeom>
          <a:noFill/>
          <a:ln>
            <a:noFill/>
          </a:ln>
        </p:spPr>
        <p:txBody>
          <a:bodyPr spcFirstLastPara="1" wrap="square" lIns="91425" tIns="91425" rIns="91425" bIns="91425" anchor="t" anchorCtr="0">
            <a:noAutofit/>
          </a:bodyPr>
          <a:lstStyle/>
          <a:p>
            <a:pPr marL="457200" lvl="0" indent="-338455" algn="l" rtl="0">
              <a:lnSpc>
                <a:spcPct val="105000"/>
              </a:lnSpc>
              <a:spcBef>
                <a:spcPts val="0"/>
              </a:spcBef>
              <a:spcAft>
                <a:spcPts val="0"/>
              </a:spcAft>
              <a:buSzPts val="1730"/>
              <a:buFont typeface="Arial"/>
              <a:buChar char="●"/>
            </a:pPr>
            <a:r>
              <a:rPr lang="en-GB" sz="1730" b="1">
                <a:latin typeface="Arial"/>
                <a:ea typeface="Arial"/>
                <a:cs typeface="Arial"/>
                <a:sym typeface="Arial"/>
              </a:rPr>
              <a:t>D-statistics: </a:t>
            </a:r>
            <a:r>
              <a:rPr lang="en-GB" sz="1730">
                <a:latin typeface="Arial"/>
                <a:ea typeface="Arial"/>
                <a:cs typeface="Arial"/>
                <a:sym typeface="Arial"/>
              </a:rPr>
              <a:t>Count the shared alleles &amp; normalise by their total number</a:t>
            </a:r>
            <a:endParaRPr sz="1730">
              <a:latin typeface="Arial"/>
              <a:ea typeface="Arial"/>
              <a:cs typeface="Arial"/>
              <a:sym typeface="Arial"/>
            </a:endParaRPr>
          </a:p>
          <a:p>
            <a:pPr marL="914400" lvl="1" indent="-338455" algn="l" rtl="0">
              <a:lnSpc>
                <a:spcPct val="105000"/>
              </a:lnSpc>
              <a:spcBef>
                <a:spcPts val="0"/>
              </a:spcBef>
              <a:spcAft>
                <a:spcPts val="0"/>
              </a:spcAft>
              <a:buSzPts val="1730"/>
              <a:buFont typeface="Arial"/>
              <a:buChar char="○"/>
            </a:pPr>
            <a:r>
              <a:rPr lang="en-GB" sz="1730" b="1">
                <a:latin typeface="Arial"/>
                <a:ea typeface="Arial"/>
                <a:cs typeface="Arial"/>
                <a:sym typeface="Arial"/>
              </a:rPr>
              <a:t> D(non-African, African; Nea, Chimp)</a:t>
            </a:r>
            <a:endParaRPr sz="1730" b="1">
              <a:latin typeface="Arial"/>
              <a:ea typeface="Arial"/>
              <a:cs typeface="Arial"/>
              <a:sym typeface="Arial"/>
            </a:endParaRPr>
          </a:p>
          <a:p>
            <a:pPr marL="457200" lvl="0" indent="0" algn="l" rtl="0">
              <a:lnSpc>
                <a:spcPct val="105000"/>
              </a:lnSpc>
              <a:spcBef>
                <a:spcPts val="0"/>
              </a:spcBef>
              <a:spcAft>
                <a:spcPts val="0"/>
              </a:spcAft>
              <a:buNone/>
            </a:pPr>
            <a:endParaRPr sz="1730" b="1">
              <a:latin typeface="Arial"/>
              <a:ea typeface="Arial"/>
              <a:cs typeface="Arial"/>
              <a:sym typeface="Arial"/>
            </a:endParaRPr>
          </a:p>
          <a:p>
            <a:pPr marL="457200" lvl="0" indent="-338455" algn="l" rtl="0">
              <a:lnSpc>
                <a:spcPct val="105000"/>
              </a:lnSpc>
              <a:spcBef>
                <a:spcPts val="0"/>
              </a:spcBef>
              <a:spcAft>
                <a:spcPts val="0"/>
              </a:spcAft>
              <a:buSzPts val="1730"/>
              <a:buFont typeface="Arial"/>
              <a:buChar char="●"/>
            </a:pPr>
            <a:r>
              <a:rPr lang="en-GB" sz="1730">
                <a:latin typeface="Arial"/>
                <a:ea typeface="Arial"/>
                <a:cs typeface="Arial"/>
                <a:sym typeface="Arial"/>
              </a:rPr>
              <a:t>These sites </a:t>
            </a:r>
            <a:r>
              <a:rPr lang="en-GB" sz="1730" b="1">
                <a:latin typeface="Arial"/>
                <a:ea typeface="Arial"/>
                <a:cs typeface="Arial"/>
                <a:sym typeface="Arial"/>
              </a:rPr>
              <a:t>cluster</a:t>
            </a:r>
            <a:r>
              <a:rPr lang="en-GB" sz="1730">
                <a:latin typeface="Arial"/>
                <a:ea typeface="Arial"/>
                <a:cs typeface="Arial"/>
                <a:sym typeface="Arial"/>
              </a:rPr>
              <a:t> (chunks in the genome)</a:t>
            </a:r>
            <a:endParaRPr sz="1730">
              <a:latin typeface="Arial"/>
              <a:ea typeface="Arial"/>
              <a:cs typeface="Arial"/>
              <a:sym typeface="Arial"/>
            </a:endParaRPr>
          </a:p>
          <a:p>
            <a:pPr marL="457200" lvl="0" indent="0" algn="l" rtl="0">
              <a:lnSpc>
                <a:spcPct val="105000"/>
              </a:lnSpc>
              <a:spcBef>
                <a:spcPts val="0"/>
              </a:spcBef>
              <a:spcAft>
                <a:spcPts val="0"/>
              </a:spcAft>
              <a:buSzPts val="935"/>
              <a:buNone/>
            </a:pPr>
            <a:endParaRPr sz="1730">
              <a:latin typeface="Arial"/>
              <a:ea typeface="Arial"/>
              <a:cs typeface="Arial"/>
              <a:sym typeface="Arial"/>
            </a:endParaRPr>
          </a:p>
          <a:p>
            <a:pPr marL="457200" lvl="0" indent="-338455" algn="l" rtl="0">
              <a:lnSpc>
                <a:spcPct val="105000"/>
              </a:lnSpc>
              <a:spcBef>
                <a:spcPts val="0"/>
              </a:spcBef>
              <a:spcAft>
                <a:spcPts val="0"/>
              </a:spcAft>
              <a:buSzPts val="1730"/>
              <a:buFont typeface="Arial"/>
              <a:buChar char="●"/>
            </a:pPr>
            <a:r>
              <a:rPr lang="en-GB" sz="1730">
                <a:latin typeface="Arial"/>
                <a:ea typeface="Arial"/>
                <a:cs typeface="Arial"/>
                <a:sym typeface="Arial"/>
              </a:rPr>
              <a:t>Independent method: </a:t>
            </a:r>
            <a:r>
              <a:rPr lang="en-GB" sz="1730" b="1">
                <a:latin typeface="Arial"/>
                <a:ea typeface="Arial"/>
                <a:cs typeface="Arial"/>
                <a:sym typeface="Arial"/>
              </a:rPr>
              <a:t>Discordant regions</a:t>
            </a:r>
            <a:endParaRPr sz="1730" b="1">
              <a:latin typeface="Arial"/>
              <a:ea typeface="Arial"/>
              <a:cs typeface="Arial"/>
              <a:sym typeface="Arial"/>
            </a:endParaRPr>
          </a:p>
          <a:p>
            <a:pPr marL="914400" lvl="1" indent="-338455" algn="l" rtl="0">
              <a:lnSpc>
                <a:spcPct val="105000"/>
              </a:lnSpc>
              <a:spcBef>
                <a:spcPts val="0"/>
              </a:spcBef>
              <a:spcAft>
                <a:spcPts val="0"/>
              </a:spcAft>
              <a:buSzPts val="1730"/>
              <a:buFont typeface="Arial"/>
              <a:buChar char="○"/>
            </a:pPr>
            <a:r>
              <a:rPr lang="en-GB" sz="1730">
                <a:latin typeface="Arial"/>
                <a:ea typeface="Arial"/>
                <a:cs typeface="Arial"/>
                <a:sym typeface="Arial"/>
              </a:rPr>
              <a:t>Regions that are more divergent within non-Africans and have low divergence to Neanderthal sequence</a:t>
            </a:r>
            <a:endParaRPr sz="1730">
              <a:latin typeface="Arial"/>
              <a:ea typeface="Arial"/>
              <a:cs typeface="Arial"/>
              <a:sym typeface="Arial"/>
            </a:endParaRPr>
          </a:p>
        </p:txBody>
      </p:sp>
      <p:sp>
        <p:nvSpPr>
          <p:cNvPr id="972" name="Google Shape;972;p23"/>
          <p:cNvSpPr txBox="1"/>
          <p:nvPr/>
        </p:nvSpPr>
        <p:spPr>
          <a:xfrm>
            <a:off x="7323025" y="46923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Green et al. 2010</a:t>
            </a:r>
            <a:endParaRPr sz="1200" b="0" i="0" u="none" strike="noStrike" cap="none">
              <a:solidFill>
                <a:srgbClr val="45818E"/>
              </a:solidFill>
              <a:latin typeface="Open Sans"/>
              <a:ea typeface="Open Sans"/>
              <a:cs typeface="Open Sans"/>
              <a:sym typeface="Open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3f68fc15589_0_598"/>
          <p:cNvSpPr txBox="1">
            <a:spLocks noGrp="1"/>
          </p:cNvSpPr>
          <p:nvPr>
            <p:ph type="title"/>
          </p:nvPr>
        </p:nvSpPr>
        <p:spPr>
          <a:xfrm>
            <a:off x="311700" y="313850"/>
            <a:ext cx="8520600" cy="707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SzPct val="111111"/>
              <a:buNone/>
            </a:pPr>
            <a:r>
              <a:rPr lang="en-GB"/>
              <a:t>Further evidence of gene flow from Neandertals to modern humans : Ust-Ishim</a:t>
            </a:r>
            <a:endParaRPr/>
          </a:p>
        </p:txBody>
      </p:sp>
      <p:sp>
        <p:nvSpPr>
          <p:cNvPr id="978" name="Google Shape;978;g3f68fc15589_0_598"/>
          <p:cNvSpPr txBox="1">
            <a:spLocks noGrp="1"/>
          </p:cNvSpPr>
          <p:nvPr>
            <p:ph type="body" idx="1"/>
          </p:nvPr>
        </p:nvSpPr>
        <p:spPr>
          <a:xfrm>
            <a:off x="0" y="1403800"/>
            <a:ext cx="2892300" cy="3302700"/>
          </a:xfrm>
          <a:prstGeom prst="rect">
            <a:avLst/>
          </a:prstGeom>
          <a:noFill/>
          <a:ln>
            <a:noFill/>
          </a:ln>
        </p:spPr>
        <p:txBody>
          <a:bodyPr spcFirstLastPara="1" wrap="square" lIns="91425" tIns="45700" rIns="91425" bIns="45700" anchor="t" anchorCtr="0">
            <a:normAutofit lnSpcReduction="20000"/>
          </a:bodyPr>
          <a:lstStyle/>
          <a:p>
            <a:pPr marL="457200" lvl="0" indent="-330200" algn="l" rtl="0">
              <a:lnSpc>
                <a:spcPct val="115000"/>
              </a:lnSpc>
              <a:spcBef>
                <a:spcPts val="0"/>
              </a:spcBef>
              <a:spcAft>
                <a:spcPts val="0"/>
              </a:spcAft>
              <a:buSzPts val="1600"/>
              <a:buFont typeface="Arial"/>
              <a:buChar char="●"/>
            </a:pPr>
            <a:r>
              <a:rPr lang="en-GB" sz="1600">
                <a:latin typeface="Arial"/>
                <a:ea typeface="Arial"/>
                <a:cs typeface="Arial"/>
                <a:sym typeface="Arial"/>
              </a:rPr>
              <a:t>Modern human, western Siberia, ~45 kya</a:t>
            </a:r>
            <a:endParaRPr sz="1600">
              <a:latin typeface="Arial"/>
              <a:ea typeface="Arial"/>
              <a:cs typeface="Arial"/>
              <a:sym typeface="Arial"/>
            </a:endParaRPr>
          </a:p>
          <a:p>
            <a:pPr marL="457200" lvl="0" indent="0" algn="l" rtl="0">
              <a:lnSpc>
                <a:spcPct val="115000"/>
              </a:lnSpc>
              <a:spcBef>
                <a:spcPts val="0"/>
              </a:spcBef>
              <a:spcAft>
                <a:spcPts val="0"/>
              </a:spcAft>
              <a:buNone/>
            </a:pPr>
            <a:endParaRPr sz="1600">
              <a:latin typeface="Arial"/>
              <a:ea typeface="Arial"/>
              <a:cs typeface="Arial"/>
              <a:sym typeface="Arial"/>
            </a:endParaRPr>
          </a:p>
          <a:p>
            <a:pPr marL="457200" lvl="0" indent="-330200" algn="l" rtl="0">
              <a:lnSpc>
                <a:spcPct val="115000"/>
              </a:lnSpc>
              <a:spcBef>
                <a:spcPts val="640"/>
              </a:spcBef>
              <a:spcAft>
                <a:spcPts val="0"/>
              </a:spcAft>
              <a:buSzPts val="1600"/>
              <a:buFont typeface="Arial"/>
              <a:buChar char="●"/>
            </a:pPr>
            <a:r>
              <a:rPr lang="en-GB" sz="1600">
                <a:latin typeface="Arial"/>
                <a:ea typeface="Arial"/>
                <a:cs typeface="Arial"/>
                <a:sym typeface="Arial"/>
              </a:rPr>
              <a:t>Slightly </a:t>
            </a:r>
            <a:r>
              <a:rPr lang="en-GB" sz="1600" b="1">
                <a:latin typeface="Arial"/>
                <a:ea typeface="Arial"/>
                <a:cs typeface="Arial"/>
                <a:sym typeface="Arial"/>
              </a:rPr>
              <a:t>more </a:t>
            </a:r>
            <a:r>
              <a:rPr lang="en-GB" sz="1600">
                <a:latin typeface="Arial"/>
                <a:ea typeface="Arial"/>
                <a:cs typeface="Arial"/>
                <a:sym typeface="Arial"/>
              </a:rPr>
              <a:t>Neandertal admixture</a:t>
            </a:r>
            <a:endParaRPr sz="1600">
              <a:latin typeface="Arial"/>
              <a:ea typeface="Arial"/>
              <a:cs typeface="Arial"/>
              <a:sym typeface="Arial"/>
            </a:endParaRPr>
          </a:p>
          <a:p>
            <a:pPr marL="457200" lvl="0" indent="0" algn="l" rtl="0">
              <a:lnSpc>
                <a:spcPct val="115000"/>
              </a:lnSpc>
              <a:spcBef>
                <a:spcPts val="640"/>
              </a:spcBef>
              <a:spcAft>
                <a:spcPts val="0"/>
              </a:spcAft>
              <a:buNone/>
            </a:pPr>
            <a:endParaRPr sz="1600">
              <a:latin typeface="Arial"/>
              <a:ea typeface="Arial"/>
              <a:cs typeface="Arial"/>
              <a:sym typeface="Arial"/>
            </a:endParaRPr>
          </a:p>
          <a:p>
            <a:pPr marL="457200" lvl="0" indent="-330200" algn="l" rtl="0">
              <a:lnSpc>
                <a:spcPct val="115000"/>
              </a:lnSpc>
              <a:spcBef>
                <a:spcPts val="640"/>
              </a:spcBef>
              <a:spcAft>
                <a:spcPts val="0"/>
              </a:spcAft>
              <a:buSzPts val="1600"/>
              <a:buFont typeface="Arial"/>
              <a:buChar char="●"/>
            </a:pPr>
            <a:r>
              <a:rPr lang="en-GB" sz="1600" b="1">
                <a:latin typeface="Arial"/>
                <a:ea typeface="Arial"/>
                <a:cs typeface="Arial"/>
                <a:sym typeface="Arial"/>
              </a:rPr>
              <a:t>Longer chunks</a:t>
            </a:r>
            <a:r>
              <a:rPr lang="en-GB" sz="1600">
                <a:latin typeface="Arial"/>
                <a:ea typeface="Arial"/>
                <a:cs typeface="Arial"/>
                <a:sym typeface="Arial"/>
              </a:rPr>
              <a:t> of Neandertal sequence</a:t>
            </a:r>
            <a:endParaRPr sz="1600">
              <a:latin typeface="Arial"/>
              <a:ea typeface="Arial"/>
              <a:cs typeface="Arial"/>
              <a:sym typeface="Arial"/>
            </a:endParaRPr>
          </a:p>
          <a:p>
            <a:pPr marL="457200" lvl="0" indent="0" algn="l" rtl="0">
              <a:lnSpc>
                <a:spcPct val="115000"/>
              </a:lnSpc>
              <a:spcBef>
                <a:spcPts val="640"/>
              </a:spcBef>
              <a:spcAft>
                <a:spcPts val="0"/>
              </a:spcAft>
              <a:buNone/>
            </a:pPr>
            <a:endParaRPr sz="1600">
              <a:latin typeface="Arial"/>
              <a:ea typeface="Arial"/>
              <a:cs typeface="Arial"/>
              <a:sym typeface="Arial"/>
            </a:endParaRPr>
          </a:p>
          <a:p>
            <a:pPr marL="457200" lvl="0" indent="-330200" algn="l" rtl="0">
              <a:lnSpc>
                <a:spcPct val="115000"/>
              </a:lnSpc>
              <a:spcBef>
                <a:spcPts val="1200"/>
              </a:spcBef>
              <a:spcAft>
                <a:spcPts val="0"/>
              </a:spcAft>
              <a:buSzPts val="1600"/>
              <a:buFont typeface="Arial"/>
              <a:buChar char="●"/>
            </a:pPr>
            <a:r>
              <a:rPr lang="en-GB" sz="1600">
                <a:latin typeface="Arial"/>
                <a:ea typeface="Arial"/>
                <a:cs typeface="Arial"/>
                <a:sym typeface="Arial"/>
              </a:rPr>
              <a:t>Differences in </a:t>
            </a:r>
            <a:r>
              <a:rPr lang="en-GB" sz="1600" b="1">
                <a:latin typeface="Arial"/>
                <a:ea typeface="Arial"/>
                <a:cs typeface="Arial"/>
                <a:sym typeface="Arial"/>
              </a:rPr>
              <a:t>space</a:t>
            </a:r>
            <a:r>
              <a:rPr lang="en-GB" sz="1600">
                <a:latin typeface="Arial"/>
                <a:ea typeface="Arial"/>
                <a:cs typeface="Arial"/>
                <a:sym typeface="Arial"/>
              </a:rPr>
              <a:t> and</a:t>
            </a:r>
            <a:r>
              <a:rPr lang="en-GB" sz="1600" b="1">
                <a:latin typeface="Arial"/>
                <a:ea typeface="Arial"/>
                <a:cs typeface="Arial"/>
                <a:sym typeface="Arial"/>
              </a:rPr>
              <a:t> time</a:t>
            </a:r>
            <a:endParaRPr sz="1600" b="1">
              <a:latin typeface="Arial"/>
              <a:ea typeface="Arial"/>
              <a:cs typeface="Arial"/>
              <a:sym typeface="Arial"/>
            </a:endParaRPr>
          </a:p>
        </p:txBody>
      </p:sp>
      <p:pic>
        <p:nvPicPr>
          <p:cNvPr id="979" name="Google Shape;979;g3f68fc15589_0_598"/>
          <p:cNvPicPr preferRelativeResize="0"/>
          <p:nvPr/>
        </p:nvPicPr>
        <p:blipFill rotWithShape="1">
          <a:blip r:embed="rId3">
            <a:alphaModFix/>
          </a:blip>
          <a:srcRect t="3821" r="1922" b="7933"/>
          <a:stretch/>
        </p:blipFill>
        <p:spPr>
          <a:xfrm>
            <a:off x="2666312" y="1826349"/>
            <a:ext cx="6533216" cy="2188988"/>
          </a:xfrm>
          <a:prstGeom prst="rect">
            <a:avLst/>
          </a:prstGeom>
          <a:noFill/>
          <a:ln>
            <a:noFill/>
          </a:ln>
        </p:spPr>
      </p:pic>
      <p:sp>
        <p:nvSpPr>
          <p:cNvPr id="980" name="Google Shape;980;g3f68fc15589_0_598"/>
          <p:cNvSpPr txBox="1"/>
          <p:nvPr/>
        </p:nvSpPr>
        <p:spPr>
          <a:xfrm>
            <a:off x="7421675" y="46077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Fu et al. 2014</a:t>
            </a:r>
            <a:endParaRPr sz="1200" b="0" i="0" u="none" strike="noStrike" cap="none">
              <a:solidFill>
                <a:srgbClr val="45818E"/>
              </a:solidFill>
              <a:latin typeface="Open Sans"/>
              <a:ea typeface="Open Sans"/>
              <a:cs typeface="Open Sans"/>
              <a:sym typeface="Open Sans"/>
            </a:endParaRPr>
          </a:p>
        </p:txBody>
      </p:sp>
      <p:sp>
        <p:nvSpPr>
          <p:cNvPr id="981" name="Google Shape;981;g3f68fc15589_0_598"/>
          <p:cNvSpPr/>
          <p:nvPr/>
        </p:nvSpPr>
        <p:spPr>
          <a:xfrm>
            <a:off x="2721876" y="1792913"/>
            <a:ext cx="6422100" cy="209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g3f68fc15589_0_598"/>
          <p:cNvSpPr/>
          <p:nvPr/>
        </p:nvSpPr>
        <p:spPr>
          <a:xfrm>
            <a:off x="3391825" y="1695925"/>
            <a:ext cx="5935500" cy="306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83" name="Google Shape;983;g3f68fc15589_0_598"/>
          <p:cNvSpPr/>
          <p:nvPr/>
        </p:nvSpPr>
        <p:spPr>
          <a:xfrm>
            <a:off x="152400" y="2196800"/>
            <a:ext cx="2426400" cy="2319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84" name="Google Shape;984;g3f68fc15589_0_598"/>
          <p:cNvSpPr/>
          <p:nvPr/>
        </p:nvSpPr>
        <p:spPr>
          <a:xfrm rot="10800000">
            <a:off x="2330602" y="2090700"/>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985" name="Google Shape;985;g3f68fc15589_0_598"/>
          <p:cNvCxnSpPr/>
          <p:nvPr/>
        </p:nvCxnSpPr>
        <p:spPr>
          <a:xfrm rot="10800000" flipH="1">
            <a:off x="1369200" y="2002225"/>
            <a:ext cx="1209600" cy="199200"/>
          </a:xfrm>
          <a:prstGeom prst="straightConnector1">
            <a:avLst/>
          </a:prstGeom>
          <a:noFill/>
          <a:ln w="19050" cap="flat" cmpd="sng">
            <a:solidFill>
              <a:srgbClr val="45818E"/>
            </a:solidFill>
            <a:prstDash val="solid"/>
            <a:round/>
            <a:headEnd type="none" w="sm" len="sm"/>
            <a:tailEnd type="triangle" w="med" len="med"/>
          </a:ln>
        </p:spPr>
      </p:cxnSp>
      <p:sp>
        <p:nvSpPr>
          <p:cNvPr id="986" name="Google Shape;986;g3f68fc15589_0_598"/>
          <p:cNvSpPr txBox="1"/>
          <p:nvPr/>
        </p:nvSpPr>
        <p:spPr>
          <a:xfrm>
            <a:off x="311700" y="2090700"/>
            <a:ext cx="2578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Ancient sample</a:t>
            </a:r>
            <a:endParaRPr sz="1400" b="1" i="0" u="none" strike="noStrike" cap="none">
              <a:solidFill>
                <a:srgbClr val="45818E"/>
              </a:solidFill>
            </a:endParaRPr>
          </a:p>
        </p:txBody>
      </p:sp>
      <p:sp>
        <p:nvSpPr>
          <p:cNvPr id="987" name="Google Shape;987;g3f68fc15589_0_598"/>
          <p:cNvSpPr txBox="1"/>
          <p:nvPr/>
        </p:nvSpPr>
        <p:spPr>
          <a:xfrm>
            <a:off x="311700" y="2916625"/>
            <a:ext cx="25788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Present-day samples</a:t>
            </a:r>
            <a:endParaRPr b="1">
              <a:solidFill>
                <a:srgbClr val="45818E"/>
              </a:solidFill>
            </a:endParaRPr>
          </a:p>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non-African populations</a:t>
            </a:r>
            <a:endParaRPr b="1">
              <a:solidFill>
                <a:srgbClr val="45818E"/>
              </a:solidFill>
            </a:endParaRPr>
          </a:p>
        </p:txBody>
      </p:sp>
      <p:sp>
        <p:nvSpPr>
          <p:cNvPr id="988" name="Google Shape;988;g3f68fc15589_0_598"/>
          <p:cNvSpPr txBox="1"/>
          <p:nvPr/>
        </p:nvSpPr>
        <p:spPr>
          <a:xfrm>
            <a:off x="1962325" y="4247425"/>
            <a:ext cx="7365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a:solidFill>
                  <a:srgbClr val="2A2A2A"/>
                </a:solidFill>
              </a:rPr>
              <a:t>black=homozygous ancestral;</a:t>
            </a:r>
            <a:r>
              <a:rPr lang="en-GB">
                <a:solidFill>
                  <a:srgbClr val="2A2A2A"/>
                </a:solidFill>
                <a:highlight>
                  <a:srgbClr val="FFF2CC"/>
                </a:highlight>
              </a:rPr>
              <a:t> yellow= heterozygous derived</a:t>
            </a:r>
            <a:r>
              <a:rPr lang="en-GB">
                <a:solidFill>
                  <a:srgbClr val="2A2A2A"/>
                </a:solidFill>
              </a:rPr>
              <a:t>; </a:t>
            </a:r>
            <a:r>
              <a:rPr lang="en-GB">
                <a:solidFill>
                  <a:srgbClr val="2A2A2A"/>
                </a:solidFill>
                <a:highlight>
                  <a:srgbClr val="CFE2F3"/>
                </a:highlight>
              </a:rPr>
              <a:t>blue=homozygous derived</a:t>
            </a:r>
            <a:endParaRPr>
              <a:solidFill>
                <a:srgbClr val="2A2A2A"/>
              </a:solidFill>
              <a:highlight>
                <a:srgbClr val="CFE2F3"/>
              </a:high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26"/>
          <p:cNvSpPr txBox="1">
            <a:spLocks noGrp="1"/>
          </p:cNvSpPr>
          <p:nvPr>
            <p:ph type="title"/>
          </p:nvPr>
        </p:nvSpPr>
        <p:spPr>
          <a:xfrm>
            <a:off x="311700" y="313850"/>
            <a:ext cx="8520600" cy="707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SzPct val="111111"/>
              <a:buNone/>
            </a:pPr>
            <a:r>
              <a:rPr lang="en-GB"/>
              <a:t>Further evidence of gene flow from Neandertals to modern humans : Ust-Ishim</a:t>
            </a:r>
            <a:endParaRPr/>
          </a:p>
        </p:txBody>
      </p:sp>
      <p:sp>
        <p:nvSpPr>
          <p:cNvPr id="994" name="Google Shape;994;p26"/>
          <p:cNvSpPr txBox="1">
            <a:spLocks noGrp="1"/>
          </p:cNvSpPr>
          <p:nvPr>
            <p:ph type="body" idx="1"/>
          </p:nvPr>
        </p:nvSpPr>
        <p:spPr>
          <a:xfrm>
            <a:off x="0" y="1403800"/>
            <a:ext cx="2892300" cy="3302700"/>
          </a:xfrm>
          <a:prstGeom prst="rect">
            <a:avLst/>
          </a:prstGeom>
          <a:noFill/>
          <a:ln>
            <a:noFill/>
          </a:ln>
        </p:spPr>
        <p:txBody>
          <a:bodyPr spcFirstLastPara="1" wrap="square" lIns="91425" tIns="45700" rIns="91425" bIns="45700" anchor="t" anchorCtr="0">
            <a:normAutofit lnSpcReduction="20000"/>
          </a:bodyPr>
          <a:lstStyle/>
          <a:p>
            <a:pPr marL="457200" lvl="0" indent="-330200" algn="l" rtl="0">
              <a:lnSpc>
                <a:spcPct val="115000"/>
              </a:lnSpc>
              <a:spcBef>
                <a:spcPts val="0"/>
              </a:spcBef>
              <a:spcAft>
                <a:spcPts val="0"/>
              </a:spcAft>
              <a:buSzPts val="1600"/>
              <a:buFont typeface="Arial"/>
              <a:buChar char="●"/>
            </a:pPr>
            <a:r>
              <a:rPr lang="en-GB" sz="1600">
                <a:latin typeface="Arial"/>
                <a:ea typeface="Arial"/>
                <a:cs typeface="Arial"/>
                <a:sym typeface="Arial"/>
              </a:rPr>
              <a:t>Modern human, western Siberia, ~45 kya</a:t>
            </a:r>
            <a:endParaRPr sz="1600">
              <a:latin typeface="Arial"/>
              <a:ea typeface="Arial"/>
              <a:cs typeface="Arial"/>
              <a:sym typeface="Arial"/>
            </a:endParaRPr>
          </a:p>
          <a:p>
            <a:pPr marL="457200" lvl="0" indent="0" algn="l" rtl="0">
              <a:lnSpc>
                <a:spcPct val="115000"/>
              </a:lnSpc>
              <a:spcBef>
                <a:spcPts val="0"/>
              </a:spcBef>
              <a:spcAft>
                <a:spcPts val="0"/>
              </a:spcAft>
              <a:buNone/>
            </a:pPr>
            <a:endParaRPr sz="1600">
              <a:latin typeface="Arial"/>
              <a:ea typeface="Arial"/>
              <a:cs typeface="Arial"/>
              <a:sym typeface="Arial"/>
            </a:endParaRPr>
          </a:p>
          <a:p>
            <a:pPr marL="457200" lvl="0" indent="-330200" algn="l" rtl="0">
              <a:lnSpc>
                <a:spcPct val="115000"/>
              </a:lnSpc>
              <a:spcBef>
                <a:spcPts val="640"/>
              </a:spcBef>
              <a:spcAft>
                <a:spcPts val="0"/>
              </a:spcAft>
              <a:buSzPts val="1600"/>
              <a:buFont typeface="Arial"/>
              <a:buChar char="●"/>
            </a:pPr>
            <a:r>
              <a:rPr lang="en-GB" sz="1600">
                <a:latin typeface="Arial"/>
                <a:ea typeface="Arial"/>
                <a:cs typeface="Arial"/>
                <a:sym typeface="Arial"/>
              </a:rPr>
              <a:t>Carries </a:t>
            </a:r>
            <a:r>
              <a:rPr lang="en-GB" sz="1600" b="1">
                <a:latin typeface="Arial"/>
                <a:ea typeface="Arial"/>
                <a:cs typeface="Arial"/>
                <a:sym typeface="Arial"/>
              </a:rPr>
              <a:t>more </a:t>
            </a:r>
            <a:r>
              <a:rPr lang="en-GB" sz="1600">
                <a:latin typeface="Arial"/>
                <a:ea typeface="Arial"/>
                <a:cs typeface="Arial"/>
                <a:sym typeface="Arial"/>
              </a:rPr>
              <a:t>Neandertal gene flow</a:t>
            </a:r>
            <a:endParaRPr sz="1600">
              <a:latin typeface="Arial"/>
              <a:ea typeface="Arial"/>
              <a:cs typeface="Arial"/>
              <a:sym typeface="Arial"/>
            </a:endParaRPr>
          </a:p>
          <a:p>
            <a:pPr marL="457200" lvl="0" indent="0" algn="l" rtl="0">
              <a:lnSpc>
                <a:spcPct val="115000"/>
              </a:lnSpc>
              <a:spcBef>
                <a:spcPts val="640"/>
              </a:spcBef>
              <a:spcAft>
                <a:spcPts val="0"/>
              </a:spcAft>
              <a:buNone/>
            </a:pPr>
            <a:endParaRPr sz="1600">
              <a:latin typeface="Arial"/>
              <a:ea typeface="Arial"/>
              <a:cs typeface="Arial"/>
              <a:sym typeface="Arial"/>
            </a:endParaRPr>
          </a:p>
          <a:p>
            <a:pPr marL="457200" lvl="0" indent="-330200" algn="l" rtl="0">
              <a:lnSpc>
                <a:spcPct val="115000"/>
              </a:lnSpc>
              <a:spcBef>
                <a:spcPts val="640"/>
              </a:spcBef>
              <a:spcAft>
                <a:spcPts val="0"/>
              </a:spcAft>
              <a:buSzPts val="1600"/>
              <a:buFont typeface="Arial"/>
              <a:buChar char="●"/>
            </a:pPr>
            <a:r>
              <a:rPr lang="en-GB" sz="1600" b="1">
                <a:latin typeface="Arial"/>
                <a:ea typeface="Arial"/>
                <a:cs typeface="Arial"/>
                <a:sym typeface="Arial"/>
              </a:rPr>
              <a:t>Longer chunks</a:t>
            </a:r>
            <a:r>
              <a:rPr lang="en-GB" sz="1600">
                <a:latin typeface="Arial"/>
                <a:ea typeface="Arial"/>
                <a:cs typeface="Arial"/>
                <a:sym typeface="Arial"/>
              </a:rPr>
              <a:t> of Neandertal sequence</a:t>
            </a:r>
            <a:endParaRPr sz="1600">
              <a:latin typeface="Arial"/>
              <a:ea typeface="Arial"/>
              <a:cs typeface="Arial"/>
              <a:sym typeface="Arial"/>
            </a:endParaRPr>
          </a:p>
          <a:p>
            <a:pPr marL="457200" lvl="0" indent="0" algn="l" rtl="0">
              <a:lnSpc>
                <a:spcPct val="115000"/>
              </a:lnSpc>
              <a:spcBef>
                <a:spcPts val="640"/>
              </a:spcBef>
              <a:spcAft>
                <a:spcPts val="0"/>
              </a:spcAft>
              <a:buNone/>
            </a:pPr>
            <a:endParaRPr sz="1600">
              <a:latin typeface="Arial"/>
              <a:ea typeface="Arial"/>
              <a:cs typeface="Arial"/>
              <a:sym typeface="Arial"/>
            </a:endParaRPr>
          </a:p>
          <a:p>
            <a:pPr marL="457200" lvl="0" indent="-330200" algn="l" rtl="0">
              <a:lnSpc>
                <a:spcPct val="115000"/>
              </a:lnSpc>
              <a:spcBef>
                <a:spcPts val="1200"/>
              </a:spcBef>
              <a:spcAft>
                <a:spcPts val="0"/>
              </a:spcAft>
              <a:buSzPts val="1600"/>
              <a:buFont typeface="Arial"/>
              <a:buChar char="●"/>
            </a:pPr>
            <a:r>
              <a:rPr lang="en-GB" sz="1600">
                <a:latin typeface="Arial"/>
                <a:ea typeface="Arial"/>
                <a:cs typeface="Arial"/>
                <a:sym typeface="Arial"/>
              </a:rPr>
              <a:t>Differences in </a:t>
            </a:r>
            <a:r>
              <a:rPr lang="en-GB" sz="1600" b="1">
                <a:latin typeface="Arial"/>
                <a:ea typeface="Arial"/>
                <a:cs typeface="Arial"/>
                <a:sym typeface="Arial"/>
              </a:rPr>
              <a:t>space</a:t>
            </a:r>
            <a:r>
              <a:rPr lang="en-GB" sz="1600">
                <a:latin typeface="Arial"/>
                <a:ea typeface="Arial"/>
                <a:cs typeface="Arial"/>
                <a:sym typeface="Arial"/>
              </a:rPr>
              <a:t> and</a:t>
            </a:r>
            <a:r>
              <a:rPr lang="en-GB" sz="1600" b="1">
                <a:latin typeface="Arial"/>
                <a:ea typeface="Arial"/>
                <a:cs typeface="Arial"/>
                <a:sym typeface="Arial"/>
              </a:rPr>
              <a:t> time</a:t>
            </a:r>
            <a:endParaRPr sz="1600" b="1">
              <a:latin typeface="Arial"/>
              <a:ea typeface="Arial"/>
              <a:cs typeface="Arial"/>
              <a:sym typeface="Arial"/>
            </a:endParaRPr>
          </a:p>
        </p:txBody>
      </p:sp>
      <p:pic>
        <p:nvPicPr>
          <p:cNvPr id="995" name="Google Shape;995;p26"/>
          <p:cNvPicPr preferRelativeResize="0"/>
          <p:nvPr/>
        </p:nvPicPr>
        <p:blipFill rotWithShape="1">
          <a:blip r:embed="rId3">
            <a:alphaModFix/>
          </a:blip>
          <a:srcRect t="3821" r="1922" b="7933"/>
          <a:stretch/>
        </p:blipFill>
        <p:spPr>
          <a:xfrm>
            <a:off x="2666312" y="1826349"/>
            <a:ext cx="6533216" cy="2188988"/>
          </a:xfrm>
          <a:prstGeom prst="rect">
            <a:avLst/>
          </a:prstGeom>
          <a:noFill/>
          <a:ln>
            <a:noFill/>
          </a:ln>
        </p:spPr>
      </p:pic>
      <p:sp>
        <p:nvSpPr>
          <p:cNvPr id="996" name="Google Shape;996;p26"/>
          <p:cNvSpPr/>
          <p:nvPr/>
        </p:nvSpPr>
        <p:spPr>
          <a:xfrm>
            <a:off x="2721876" y="1792913"/>
            <a:ext cx="6422100" cy="209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26"/>
          <p:cNvSpPr txBox="1"/>
          <p:nvPr/>
        </p:nvSpPr>
        <p:spPr>
          <a:xfrm>
            <a:off x="7421675" y="46077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Fu et al. 2014</a:t>
            </a:r>
            <a:endParaRPr sz="1200" b="0" i="0" u="none" strike="noStrike" cap="none">
              <a:solidFill>
                <a:srgbClr val="45818E"/>
              </a:solidFill>
              <a:latin typeface="Open Sans"/>
              <a:ea typeface="Open Sans"/>
              <a:cs typeface="Open Sans"/>
              <a:sym typeface="Open Sans"/>
            </a:endParaRPr>
          </a:p>
        </p:txBody>
      </p:sp>
      <p:sp>
        <p:nvSpPr>
          <p:cNvPr id="998" name="Google Shape;998;p26"/>
          <p:cNvSpPr txBox="1"/>
          <p:nvPr/>
        </p:nvSpPr>
        <p:spPr>
          <a:xfrm>
            <a:off x="1962325" y="4247425"/>
            <a:ext cx="7365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a:solidFill>
                  <a:srgbClr val="2A2A2A"/>
                </a:solidFill>
              </a:rPr>
              <a:t>black=homozygous ancestral;</a:t>
            </a:r>
            <a:r>
              <a:rPr lang="en-GB">
                <a:solidFill>
                  <a:srgbClr val="2A2A2A"/>
                </a:solidFill>
                <a:highlight>
                  <a:srgbClr val="FFF2CC"/>
                </a:highlight>
              </a:rPr>
              <a:t> yellow= heterozygous derived</a:t>
            </a:r>
            <a:r>
              <a:rPr lang="en-GB">
                <a:solidFill>
                  <a:srgbClr val="2A2A2A"/>
                </a:solidFill>
              </a:rPr>
              <a:t>; </a:t>
            </a:r>
            <a:r>
              <a:rPr lang="en-GB">
                <a:solidFill>
                  <a:srgbClr val="2A2A2A"/>
                </a:solidFill>
                <a:highlight>
                  <a:srgbClr val="CFE2F3"/>
                </a:highlight>
              </a:rPr>
              <a:t>blue=homozygous derived</a:t>
            </a:r>
            <a:endParaRPr>
              <a:solidFill>
                <a:srgbClr val="2A2A2A"/>
              </a:solidFill>
              <a:highlight>
                <a:srgbClr val="CFE2F3"/>
              </a:high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27"/>
          <p:cNvSpPr txBox="1">
            <a:spLocks noGrp="1"/>
          </p:cNvSpPr>
          <p:nvPr>
            <p:ph type="title"/>
          </p:nvPr>
        </p:nvSpPr>
        <p:spPr>
          <a:xfrm>
            <a:off x="311700" y="313850"/>
            <a:ext cx="8520600" cy="707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SzPct val="111111"/>
              <a:buNone/>
            </a:pPr>
            <a:r>
              <a:rPr lang="en-GB"/>
              <a:t>Further evidence of gene flow from Neandertals to modern humans : Oase cu Pestera</a:t>
            </a:r>
            <a:endParaRPr/>
          </a:p>
        </p:txBody>
      </p:sp>
      <p:sp>
        <p:nvSpPr>
          <p:cNvPr id="1004" name="Google Shape;1004;p27"/>
          <p:cNvSpPr txBox="1">
            <a:spLocks noGrp="1"/>
          </p:cNvSpPr>
          <p:nvPr>
            <p:ph type="body" idx="1"/>
          </p:nvPr>
        </p:nvSpPr>
        <p:spPr>
          <a:xfrm>
            <a:off x="311700" y="1318225"/>
            <a:ext cx="8520600" cy="32169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Font typeface="Arial"/>
              <a:buChar char="●"/>
            </a:pPr>
            <a:r>
              <a:rPr lang="en-GB">
                <a:latin typeface="Arial"/>
                <a:ea typeface="Arial"/>
                <a:cs typeface="Arial"/>
                <a:sym typeface="Arial"/>
              </a:rPr>
              <a:t>Oase cu Pestera (Romania): Human fossil with admixed features</a:t>
            </a: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a:latin typeface="Arial"/>
                <a:ea typeface="Arial"/>
                <a:cs typeface="Arial"/>
                <a:sym typeface="Arial"/>
              </a:rPr>
              <a:t>Neandertal ancestor </a:t>
            </a:r>
            <a:r>
              <a:rPr lang="en-GB" b="1">
                <a:latin typeface="Arial"/>
                <a:ea typeface="Arial"/>
                <a:cs typeface="Arial"/>
                <a:sym typeface="Arial"/>
              </a:rPr>
              <a:t>4-6</a:t>
            </a:r>
            <a:r>
              <a:rPr lang="en-GB">
                <a:latin typeface="Arial"/>
                <a:ea typeface="Arial"/>
                <a:cs typeface="Arial"/>
                <a:sym typeface="Arial"/>
              </a:rPr>
              <a:t> generations back</a:t>
            </a: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a:latin typeface="Arial"/>
                <a:ea typeface="Arial"/>
                <a:cs typeface="Arial"/>
                <a:sym typeface="Arial"/>
              </a:rPr>
              <a:t>But </a:t>
            </a:r>
            <a:r>
              <a:rPr lang="en-GB" b="1">
                <a:latin typeface="Arial"/>
                <a:ea typeface="Arial"/>
                <a:cs typeface="Arial"/>
                <a:sym typeface="Arial"/>
              </a:rPr>
              <a:t>no descendents </a:t>
            </a:r>
            <a:r>
              <a:rPr lang="en-GB">
                <a:latin typeface="Arial"/>
                <a:ea typeface="Arial"/>
                <a:cs typeface="Arial"/>
                <a:sym typeface="Arial"/>
              </a:rPr>
              <a:t>are living today</a:t>
            </a: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b="1">
                <a:latin typeface="Arial"/>
                <a:ea typeface="Arial"/>
                <a:cs typeface="Arial"/>
                <a:sym typeface="Arial"/>
              </a:rPr>
              <a:t>Distinct</a:t>
            </a:r>
            <a:r>
              <a:rPr lang="en-GB">
                <a:latin typeface="Arial"/>
                <a:ea typeface="Arial"/>
                <a:cs typeface="Arial"/>
                <a:sym typeface="Arial"/>
              </a:rPr>
              <a:t> introgression event</a:t>
            </a:r>
            <a:endParaRPr>
              <a:latin typeface="Arial"/>
              <a:ea typeface="Arial"/>
              <a:cs typeface="Arial"/>
              <a:sym typeface="Arial"/>
            </a:endParaRPr>
          </a:p>
        </p:txBody>
      </p:sp>
      <p:sp>
        <p:nvSpPr>
          <p:cNvPr id="1005" name="Google Shape;1005;p27"/>
          <p:cNvSpPr txBox="1"/>
          <p:nvPr/>
        </p:nvSpPr>
        <p:spPr>
          <a:xfrm>
            <a:off x="7498025" y="46171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Fu et al. 2015</a:t>
            </a:r>
            <a:endParaRPr sz="1200" b="0" i="0" u="none" strike="noStrike" cap="none">
              <a:solidFill>
                <a:srgbClr val="45818E"/>
              </a:solidFill>
              <a:latin typeface="Open Sans"/>
              <a:ea typeface="Open Sans"/>
              <a:cs typeface="Open Sans"/>
              <a:sym typeface="Open Sans"/>
            </a:endParaRPr>
          </a:p>
        </p:txBody>
      </p:sp>
      <p:pic>
        <p:nvPicPr>
          <p:cNvPr id="1006" name="Google Shape;1006;p27" descr="http://www.nature.com/polopoly_fs/7.26235.1431530773%21/image/1.17534.jpg_gen/derivatives/landscape_630/1.17534.jpg"/>
          <p:cNvPicPr preferRelativeResize="0"/>
          <p:nvPr/>
        </p:nvPicPr>
        <p:blipFill rotWithShape="1">
          <a:blip r:embed="rId3">
            <a:alphaModFix/>
          </a:blip>
          <a:srcRect l="18381" r="20448"/>
          <a:stretch/>
        </p:blipFill>
        <p:spPr>
          <a:xfrm>
            <a:off x="7728800" y="586150"/>
            <a:ext cx="1342050" cy="1337350"/>
          </a:xfrm>
          <a:prstGeom prst="rect">
            <a:avLst/>
          </a:prstGeom>
          <a:noFill/>
          <a:ln>
            <a:noFill/>
          </a:ln>
        </p:spPr>
      </p:pic>
      <p:pic>
        <p:nvPicPr>
          <p:cNvPr id="1007" name="Google Shape;1007;p27"/>
          <p:cNvPicPr preferRelativeResize="0"/>
          <p:nvPr/>
        </p:nvPicPr>
        <p:blipFill rotWithShape="1">
          <a:blip r:embed="rId4">
            <a:alphaModFix/>
          </a:blip>
          <a:srcRect t="16943"/>
          <a:stretch/>
        </p:blipFill>
        <p:spPr>
          <a:xfrm>
            <a:off x="0" y="2254050"/>
            <a:ext cx="9144000" cy="1337350"/>
          </a:xfrm>
          <a:prstGeom prst="rect">
            <a:avLst/>
          </a:prstGeom>
          <a:noFill/>
          <a:ln>
            <a:noFill/>
          </a:ln>
        </p:spPr>
      </p:pic>
      <p:sp>
        <p:nvSpPr>
          <p:cNvPr id="1008" name="Google Shape;1008;p27"/>
          <p:cNvSpPr/>
          <p:nvPr/>
        </p:nvSpPr>
        <p:spPr>
          <a:xfrm>
            <a:off x="3870282" y="3519165"/>
            <a:ext cx="16062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595959"/>
              </a:buClr>
              <a:buSzPts val="350"/>
              <a:buFont typeface="Garamond"/>
              <a:buNone/>
            </a:pPr>
            <a:r>
              <a:rPr lang="en-GB" sz="1400" b="0" i="0" u="none" strike="noStrike" cap="none">
                <a:solidFill>
                  <a:srgbClr val="595959"/>
                </a:solidFill>
                <a:latin typeface="Garamond"/>
                <a:ea typeface="Garamond"/>
                <a:cs typeface="Garamond"/>
                <a:sym typeface="Garamond"/>
              </a:rPr>
              <a:t>Chromosome 12</a:t>
            </a:r>
            <a:endParaRPr sz="1400" b="0" i="0" u="none" strike="noStrike" cap="none">
              <a:solidFill>
                <a:srgbClr val="000000"/>
              </a:solidFill>
              <a:latin typeface="Arial"/>
              <a:ea typeface="Arial"/>
              <a:cs typeface="Arial"/>
              <a:sym typeface="Arial"/>
            </a:endParaRPr>
          </a:p>
        </p:txBody>
      </p:sp>
      <p:sp>
        <p:nvSpPr>
          <p:cNvPr id="1009" name="Google Shape;1009;p27"/>
          <p:cNvSpPr/>
          <p:nvPr/>
        </p:nvSpPr>
        <p:spPr>
          <a:xfrm>
            <a:off x="375900" y="2186651"/>
            <a:ext cx="8520600" cy="133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10" name="Google Shape;1010;p27"/>
          <p:cNvSpPr/>
          <p:nvPr/>
        </p:nvSpPr>
        <p:spPr>
          <a:xfrm>
            <a:off x="445700" y="1723400"/>
            <a:ext cx="6947700" cy="133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11" name="Google Shape;1011;p27"/>
          <p:cNvSpPr/>
          <p:nvPr/>
        </p:nvSpPr>
        <p:spPr>
          <a:xfrm>
            <a:off x="249625" y="3902350"/>
            <a:ext cx="6947700" cy="1026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12" name="Google Shape;1012;p27"/>
          <p:cNvSpPr txBox="1"/>
          <p:nvPr/>
        </p:nvSpPr>
        <p:spPr>
          <a:xfrm>
            <a:off x="375900" y="2261700"/>
            <a:ext cx="2578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Ancient sample (Oase)</a:t>
            </a:r>
            <a:endParaRPr sz="1400" b="1" i="0" u="none" strike="noStrike" cap="none">
              <a:solidFill>
                <a:srgbClr val="45818E"/>
              </a:solidFill>
            </a:endParaRPr>
          </a:p>
        </p:txBody>
      </p:sp>
      <p:sp>
        <p:nvSpPr>
          <p:cNvPr id="1013" name="Google Shape;1013;p27"/>
          <p:cNvSpPr txBox="1"/>
          <p:nvPr/>
        </p:nvSpPr>
        <p:spPr>
          <a:xfrm>
            <a:off x="375900" y="2507050"/>
            <a:ext cx="2578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b="1">
                <a:solidFill>
                  <a:srgbClr val="45818E"/>
                </a:solidFill>
              </a:rPr>
              <a:t>Ancient sample (Ust-Ishim)</a:t>
            </a:r>
            <a:endParaRPr sz="1400" b="1" i="0" u="none" strike="noStrike" cap="none">
              <a:solidFill>
                <a:srgbClr val="45818E"/>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3f68fc15589_0_619"/>
          <p:cNvSpPr txBox="1">
            <a:spLocks noGrp="1"/>
          </p:cNvSpPr>
          <p:nvPr>
            <p:ph type="title"/>
          </p:nvPr>
        </p:nvSpPr>
        <p:spPr>
          <a:xfrm>
            <a:off x="311700" y="313850"/>
            <a:ext cx="8520600" cy="707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SzPct val="111111"/>
              <a:buNone/>
            </a:pPr>
            <a:r>
              <a:rPr lang="en-GB"/>
              <a:t>Further evidence of gene flow from Neandertals to modern humans : Oase cu Pestera</a:t>
            </a:r>
            <a:endParaRPr/>
          </a:p>
        </p:txBody>
      </p:sp>
      <p:sp>
        <p:nvSpPr>
          <p:cNvPr id="1019" name="Google Shape;1019;g3f68fc15589_0_619"/>
          <p:cNvSpPr txBox="1">
            <a:spLocks noGrp="1"/>
          </p:cNvSpPr>
          <p:nvPr>
            <p:ph type="body" idx="1"/>
          </p:nvPr>
        </p:nvSpPr>
        <p:spPr>
          <a:xfrm>
            <a:off x="311700" y="1318225"/>
            <a:ext cx="8520600" cy="32169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Font typeface="Arial"/>
              <a:buChar char="●"/>
            </a:pPr>
            <a:r>
              <a:rPr lang="en-GB">
                <a:latin typeface="Arial"/>
                <a:ea typeface="Arial"/>
                <a:cs typeface="Arial"/>
                <a:sym typeface="Arial"/>
              </a:rPr>
              <a:t>Oase cu Pestera (Romania): Human fossil with admixed features</a:t>
            </a: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a:latin typeface="Arial"/>
                <a:ea typeface="Arial"/>
                <a:cs typeface="Arial"/>
                <a:sym typeface="Arial"/>
              </a:rPr>
              <a:t>Neandertal ancestor </a:t>
            </a:r>
            <a:r>
              <a:rPr lang="en-GB" b="1">
                <a:latin typeface="Arial"/>
                <a:ea typeface="Arial"/>
                <a:cs typeface="Arial"/>
                <a:sym typeface="Arial"/>
              </a:rPr>
              <a:t>4-6</a:t>
            </a:r>
            <a:r>
              <a:rPr lang="en-GB">
                <a:latin typeface="Arial"/>
                <a:ea typeface="Arial"/>
                <a:cs typeface="Arial"/>
                <a:sym typeface="Arial"/>
              </a:rPr>
              <a:t> generations back</a:t>
            </a: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a:latin typeface="Arial"/>
                <a:ea typeface="Arial"/>
                <a:cs typeface="Arial"/>
                <a:sym typeface="Arial"/>
              </a:rPr>
              <a:t>But </a:t>
            </a:r>
            <a:r>
              <a:rPr lang="en-GB" b="1">
                <a:latin typeface="Arial"/>
                <a:ea typeface="Arial"/>
                <a:cs typeface="Arial"/>
                <a:sym typeface="Arial"/>
              </a:rPr>
              <a:t>no descendents </a:t>
            </a:r>
            <a:r>
              <a:rPr lang="en-GB">
                <a:latin typeface="Arial"/>
                <a:ea typeface="Arial"/>
                <a:cs typeface="Arial"/>
                <a:sym typeface="Arial"/>
              </a:rPr>
              <a:t>are living today</a:t>
            </a: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b="1">
                <a:latin typeface="Arial"/>
                <a:ea typeface="Arial"/>
                <a:cs typeface="Arial"/>
                <a:sym typeface="Arial"/>
              </a:rPr>
              <a:t>Distinct</a:t>
            </a:r>
            <a:r>
              <a:rPr lang="en-GB">
                <a:latin typeface="Arial"/>
                <a:ea typeface="Arial"/>
                <a:cs typeface="Arial"/>
                <a:sym typeface="Arial"/>
              </a:rPr>
              <a:t> introgression event</a:t>
            </a:r>
            <a:endParaRPr>
              <a:latin typeface="Arial"/>
              <a:ea typeface="Arial"/>
              <a:cs typeface="Arial"/>
              <a:sym typeface="Arial"/>
            </a:endParaRPr>
          </a:p>
        </p:txBody>
      </p:sp>
      <p:sp>
        <p:nvSpPr>
          <p:cNvPr id="1020" name="Google Shape;1020;g3f68fc15589_0_619"/>
          <p:cNvSpPr txBox="1"/>
          <p:nvPr/>
        </p:nvSpPr>
        <p:spPr>
          <a:xfrm>
            <a:off x="7498025" y="46171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Fu et al. 2015</a:t>
            </a:r>
            <a:endParaRPr sz="1200" b="0" i="0" u="none" strike="noStrike" cap="none">
              <a:solidFill>
                <a:srgbClr val="45818E"/>
              </a:solidFill>
              <a:latin typeface="Open Sans"/>
              <a:ea typeface="Open Sans"/>
              <a:cs typeface="Open Sans"/>
              <a:sym typeface="Open Sans"/>
            </a:endParaRPr>
          </a:p>
        </p:txBody>
      </p:sp>
      <p:pic>
        <p:nvPicPr>
          <p:cNvPr id="1021" name="Google Shape;1021;g3f68fc15589_0_619" descr="http://www.nature.com/polopoly_fs/7.26235.1431530773%21/image/1.17534.jpg_gen/derivatives/landscape_630/1.17534.jpg"/>
          <p:cNvPicPr preferRelativeResize="0"/>
          <p:nvPr/>
        </p:nvPicPr>
        <p:blipFill rotWithShape="1">
          <a:blip r:embed="rId3">
            <a:alphaModFix/>
          </a:blip>
          <a:srcRect l="18381" r="20449"/>
          <a:stretch/>
        </p:blipFill>
        <p:spPr>
          <a:xfrm>
            <a:off x="7728800" y="586150"/>
            <a:ext cx="1342050" cy="1337350"/>
          </a:xfrm>
          <a:prstGeom prst="rect">
            <a:avLst/>
          </a:prstGeom>
          <a:noFill/>
          <a:ln>
            <a:noFill/>
          </a:ln>
        </p:spPr>
      </p:pic>
      <p:pic>
        <p:nvPicPr>
          <p:cNvPr id="1022" name="Google Shape;1022;g3f68fc15589_0_619"/>
          <p:cNvPicPr preferRelativeResize="0"/>
          <p:nvPr/>
        </p:nvPicPr>
        <p:blipFill rotWithShape="1">
          <a:blip r:embed="rId4">
            <a:alphaModFix/>
          </a:blip>
          <a:srcRect t="16944"/>
          <a:stretch/>
        </p:blipFill>
        <p:spPr>
          <a:xfrm>
            <a:off x="0" y="2254050"/>
            <a:ext cx="9144001" cy="1337350"/>
          </a:xfrm>
          <a:prstGeom prst="rect">
            <a:avLst/>
          </a:prstGeom>
          <a:noFill/>
          <a:ln>
            <a:noFill/>
          </a:ln>
        </p:spPr>
      </p:pic>
      <p:sp>
        <p:nvSpPr>
          <p:cNvPr id="1023" name="Google Shape;1023;g3f68fc15589_0_619"/>
          <p:cNvSpPr/>
          <p:nvPr/>
        </p:nvSpPr>
        <p:spPr>
          <a:xfrm>
            <a:off x="3870282" y="3519165"/>
            <a:ext cx="16062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595959"/>
              </a:buClr>
              <a:buSzPts val="350"/>
              <a:buFont typeface="Garamond"/>
              <a:buNone/>
            </a:pPr>
            <a:r>
              <a:rPr lang="en-GB" sz="1400" b="0" i="0" u="none" strike="noStrike" cap="none">
                <a:solidFill>
                  <a:srgbClr val="595959"/>
                </a:solidFill>
                <a:latin typeface="Garamond"/>
                <a:ea typeface="Garamond"/>
                <a:cs typeface="Garamond"/>
                <a:sym typeface="Garamond"/>
              </a:rPr>
              <a:t>Chromosome 12</a:t>
            </a:r>
            <a:endParaRPr sz="1400" b="0" i="0" u="none" strike="noStrike" cap="none">
              <a:solidFill>
                <a:srgbClr val="000000"/>
              </a:solidFill>
              <a:latin typeface="Arial"/>
              <a:ea typeface="Arial"/>
              <a:cs typeface="Arial"/>
              <a:sym typeface="Arial"/>
            </a:endParaRPr>
          </a:p>
        </p:txBody>
      </p:sp>
      <p:sp>
        <p:nvSpPr>
          <p:cNvPr id="1024" name="Google Shape;1024;g3f68fc15589_0_619"/>
          <p:cNvSpPr/>
          <p:nvPr/>
        </p:nvSpPr>
        <p:spPr>
          <a:xfrm>
            <a:off x="249625" y="3902350"/>
            <a:ext cx="6947700" cy="1026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25" name="Google Shape;1025;g3f68fc15589_0_619"/>
          <p:cNvSpPr/>
          <p:nvPr/>
        </p:nvSpPr>
        <p:spPr>
          <a:xfrm>
            <a:off x="378800" y="1757067"/>
            <a:ext cx="6947700" cy="369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26" name="Google Shape;1026;g3f68fc15589_0_619"/>
          <p:cNvSpPr/>
          <p:nvPr/>
        </p:nvSpPr>
        <p:spPr>
          <a:xfrm>
            <a:off x="46475" y="2165500"/>
            <a:ext cx="8967300" cy="471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3f68fc15589_0_636"/>
          <p:cNvSpPr txBox="1">
            <a:spLocks noGrp="1"/>
          </p:cNvSpPr>
          <p:nvPr>
            <p:ph type="title"/>
          </p:nvPr>
        </p:nvSpPr>
        <p:spPr>
          <a:xfrm>
            <a:off x="311700" y="313850"/>
            <a:ext cx="8520600" cy="707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SzPct val="111111"/>
              <a:buNone/>
            </a:pPr>
            <a:r>
              <a:rPr lang="en-GB"/>
              <a:t>Further evidence of gene flow from Neandertals to modern humans : Oase cu Pestera</a:t>
            </a:r>
            <a:endParaRPr/>
          </a:p>
        </p:txBody>
      </p:sp>
      <p:sp>
        <p:nvSpPr>
          <p:cNvPr id="1032" name="Google Shape;1032;g3f68fc15589_0_636"/>
          <p:cNvSpPr txBox="1">
            <a:spLocks noGrp="1"/>
          </p:cNvSpPr>
          <p:nvPr>
            <p:ph type="body" idx="1"/>
          </p:nvPr>
        </p:nvSpPr>
        <p:spPr>
          <a:xfrm>
            <a:off x="311700" y="1318225"/>
            <a:ext cx="8520600" cy="32169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Font typeface="Arial"/>
              <a:buChar char="●"/>
            </a:pPr>
            <a:r>
              <a:rPr lang="en-GB">
                <a:latin typeface="Arial"/>
                <a:ea typeface="Arial"/>
                <a:cs typeface="Arial"/>
                <a:sym typeface="Arial"/>
              </a:rPr>
              <a:t>Oase cu Pestera (Romania): Human fossil with admixed features</a:t>
            </a: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a:latin typeface="Arial"/>
                <a:ea typeface="Arial"/>
                <a:cs typeface="Arial"/>
                <a:sym typeface="Arial"/>
              </a:rPr>
              <a:t>Neandertal ancestor </a:t>
            </a:r>
            <a:r>
              <a:rPr lang="en-GB" b="1">
                <a:latin typeface="Arial"/>
                <a:ea typeface="Arial"/>
                <a:cs typeface="Arial"/>
                <a:sym typeface="Arial"/>
              </a:rPr>
              <a:t>4-6</a:t>
            </a:r>
            <a:r>
              <a:rPr lang="en-GB">
                <a:latin typeface="Arial"/>
                <a:ea typeface="Arial"/>
                <a:cs typeface="Arial"/>
                <a:sym typeface="Arial"/>
              </a:rPr>
              <a:t> generations back</a:t>
            </a: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0" lvl="0" indent="0" algn="l" rtl="0">
              <a:lnSpc>
                <a:spcPct val="100000"/>
              </a:lnSpc>
              <a:spcBef>
                <a:spcPts val="640"/>
              </a:spcBef>
              <a:spcAft>
                <a:spcPts val="0"/>
              </a:spcAft>
              <a:buSzPts val="1800"/>
              <a:buNone/>
            </a:pP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a:latin typeface="Arial"/>
                <a:ea typeface="Arial"/>
                <a:cs typeface="Arial"/>
                <a:sym typeface="Arial"/>
              </a:rPr>
              <a:t>But </a:t>
            </a:r>
            <a:r>
              <a:rPr lang="en-GB" b="1">
                <a:latin typeface="Arial"/>
                <a:ea typeface="Arial"/>
                <a:cs typeface="Arial"/>
                <a:sym typeface="Arial"/>
              </a:rPr>
              <a:t>no descendents </a:t>
            </a:r>
            <a:r>
              <a:rPr lang="en-GB">
                <a:latin typeface="Arial"/>
                <a:ea typeface="Arial"/>
                <a:cs typeface="Arial"/>
                <a:sym typeface="Arial"/>
              </a:rPr>
              <a:t>are living today</a:t>
            </a:r>
            <a:endParaRPr>
              <a:latin typeface="Arial"/>
              <a:ea typeface="Arial"/>
              <a:cs typeface="Arial"/>
              <a:sym typeface="Arial"/>
            </a:endParaRPr>
          </a:p>
          <a:p>
            <a:pPr marL="457200" lvl="0" indent="-342900" algn="l" rtl="0">
              <a:lnSpc>
                <a:spcPct val="100000"/>
              </a:lnSpc>
              <a:spcBef>
                <a:spcPts val="640"/>
              </a:spcBef>
              <a:spcAft>
                <a:spcPts val="0"/>
              </a:spcAft>
              <a:buSzPts val="1800"/>
              <a:buFont typeface="Arial"/>
              <a:buChar char="●"/>
            </a:pPr>
            <a:r>
              <a:rPr lang="en-GB" b="1">
                <a:latin typeface="Arial"/>
                <a:ea typeface="Arial"/>
                <a:cs typeface="Arial"/>
                <a:sym typeface="Arial"/>
              </a:rPr>
              <a:t>Distinct</a:t>
            </a:r>
            <a:r>
              <a:rPr lang="en-GB">
                <a:latin typeface="Arial"/>
                <a:ea typeface="Arial"/>
                <a:cs typeface="Arial"/>
                <a:sym typeface="Arial"/>
              </a:rPr>
              <a:t> introgression event</a:t>
            </a:r>
            <a:endParaRPr>
              <a:latin typeface="Arial"/>
              <a:ea typeface="Arial"/>
              <a:cs typeface="Arial"/>
              <a:sym typeface="Arial"/>
            </a:endParaRPr>
          </a:p>
        </p:txBody>
      </p:sp>
      <p:sp>
        <p:nvSpPr>
          <p:cNvPr id="1033" name="Google Shape;1033;g3f68fc15589_0_636"/>
          <p:cNvSpPr txBox="1"/>
          <p:nvPr/>
        </p:nvSpPr>
        <p:spPr>
          <a:xfrm>
            <a:off x="7498025" y="4617125"/>
            <a:ext cx="2175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Fu et al. 2015</a:t>
            </a:r>
            <a:endParaRPr sz="1200" b="0" i="0" u="none" strike="noStrike" cap="none">
              <a:solidFill>
                <a:srgbClr val="45818E"/>
              </a:solidFill>
              <a:latin typeface="Open Sans"/>
              <a:ea typeface="Open Sans"/>
              <a:cs typeface="Open Sans"/>
              <a:sym typeface="Open Sans"/>
            </a:endParaRPr>
          </a:p>
        </p:txBody>
      </p:sp>
      <p:pic>
        <p:nvPicPr>
          <p:cNvPr id="1034" name="Google Shape;1034;g3f68fc15589_0_636" descr="http://www.nature.com/polopoly_fs/7.26235.1431530773%21/image/1.17534.jpg_gen/derivatives/landscape_630/1.17534.jpg"/>
          <p:cNvPicPr preferRelativeResize="0"/>
          <p:nvPr/>
        </p:nvPicPr>
        <p:blipFill rotWithShape="1">
          <a:blip r:embed="rId3">
            <a:alphaModFix/>
          </a:blip>
          <a:srcRect l="18381" r="20449"/>
          <a:stretch/>
        </p:blipFill>
        <p:spPr>
          <a:xfrm>
            <a:off x="7728800" y="586150"/>
            <a:ext cx="1342050" cy="1337350"/>
          </a:xfrm>
          <a:prstGeom prst="rect">
            <a:avLst/>
          </a:prstGeom>
          <a:noFill/>
          <a:ln>
            <a:noFill/>
          </a:ln>
        </p:spPr>
      </p:pic>
      <p:pic>
        <p:nvPicPr>
          <p:cNvPr id="1035" name="Google Shape;1035;g3f68fc15589_0_636"/>
          <p:cNvPicPr preferRelativeResize="0"/>
          <p:nvPr/>
        </p:nvPicPr>
        <p:blipFill rotWithShape="1">
          <a:blip r:embed="rId4">
            <a:alphaModFix/>
          </a:blip>
          <a:srcRect t="16944"/>
          <a:stretch/>
        </p:blipFill>
        <p:spPr>
          <a:xfrm>
            <a:off x="0" y="2254050"/>
            <a:ext cx="9144001" cy="1337350"/>
          </a:xfrm>
          <a:prstGeom prst="rect">
            <a:avLst/>
          </a:prstGeom>
          <a:noFill/>
          <a:ln>
            <a:noFill/>
          </a:ln>
        </p:spPr>
      </p:pic>
      <p:sp>
        <p:nvSpPr>
          <p:cNvPr id="1036" name="Google Shape;1036;g3f68fc15589_0_636"/>
          <p:cNvSpPr/>
          <p:nvPr/>
        </p:nvSpPr>
        <p:spPr>
          <a:xfrm>
            <a:off x="3870282" y="3519165"/>
            <a:ext cx="16062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595959"/>
              </a:buClr>
              <a:buSzPts val="350"/>
              <a:buFont typeface="Garamond"/>
              <a:buNone/>
            </a:pPr>
            <a:r>
              <a:rPr lang="en-GB" sz="1400" b="0" i="0" u="none" strike="noStrike" cap="none">
                <a:solidFill>
                  <a:srgbClr val="595959"/>
                </a:solidFill>
                <a:latin typeface="Garamond"/>
                <a:ea typeface="Garamond"/>
                <a:cs typeface="Garamond"/>
                <a:sym typeface="Garamond"/>
              </a:rPr>
              <a:t>Chromosome 12</a:t>
            </a:r>
            <a:endParaRPr sz="1400" b="0" i="0" u="none" strike="noStrike" cap="none">
              <a:solidFill>
                <a:srgbClr val="000000"/>
              </a:solidFill>
              <a:latin typeface="Arial"/>
              <a:ea typeface="Arial"/>
              <a:cs typeface="Arial"/>
              <a:sym typeface="Arial"/>
            </a:endParaRPr>
          </a:p>
        </p:txBody>
      </p:sp>
      <p:sp>
        <p:nvSpPr>
          <p:cNvPr id="1037" name="Google Shape;1037;g3f68fc15589_0_636"/>
          <p:cNvSpPr/>
          <p:nvPr/>
        </p:nvSpPr>
        <p:spPr>
          <a:xfrm>
            <a:off x="46475" y="2165500"/>
            <a:ext cx="8967300" cy="471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3f68fc15589_0_654"/>
          <p:cNvSpPr txBox="1">
            <a:spLocks noGrp="1"/>
          </p:cNvSpPr>
          <p:nvPr>
            <p:ph type="title"/>
          </p:nvPr>
        </p:nvSpPr>
        <p:spPr>
          <a:xfrm>
            <a:off x="311700" y="445025"/>
            <a:ext cx="38259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Summary of archaic introgression in hominins</a:t>
            </a:r>
            <a:endParaRPr/>
          </a:p>
        </p:txBody>
      </p:sp>
      <p:sp>
        <p:nvSpPr>
          <p:cNvPr id="1043" name="Google Shape;1043;g3f68fc15589_0_654"/>
          <p:cNvSpPr txBox="1">
            <a:spLocks noGrp="1"/>
          </p:cNvSpPr>
          <p:nvPr>
            <p:ph type="body" idx="1"/>
          </p:nvPr>
        </p:nvSpPr>
        <p:spPr>
          <a:xfrm>
            <a:off x="311700" y="2294325"/>
            <a:ext cx="3393900" cy="2274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What we know so far…</a:t>
            </a:r>
            <a:endParaRPr>
              <a:latin typeface="Arial"/>
              <a:ea typeface="Arial"/>
              <a:cs typeface="Arial"/>
              <a:sym typeface="Arial"/>
            </a:endParaRPr>
          </a:p>
          <a:p>
            <a:pPr marL="0" lvl="0" indent="0" algn="l" rtl="0">
              <a:lnSpc>
                <a:spcPct val="115000"/>
              </a:lnSpc>
              <a:spcBef>
                <a:spcPts val="1200"/>
              </a:spcBef>
              <a:spcAft>
                <a:spcPts val="0"/>
              </a:spcAft>
              <a:buSzPts val="1800"/>
              <a:buNone/>
            </a:pPr>
            <a:r>
              <a:rPr lang="en-GB">
                <a:latin typeface="Arial"/>
                <a:ea typeface="Arial"/>
                <a:cs typeface="Arial"/>
                <a:sym typeface="Arial"/>
              </a:rPr>
              <a:t>Gene flow </a:t>
            </a:r>
            <a:r>
              <a:rPr lang="en-GB" b="1">
                <a:latin typeface="Arial"/>
                <a:ea typeface="Arial"/>
                <a:cs typeface="Arial"/>
                <a:sym typeface="Arial"/>
              </a:rPr>
              <a:t>to</a:t>
            </a:r>
            <a:r>
              <a:rPr lang="en-GB">
                <a:latin typeface="Arial"/>
                <a:ea typeface="Arial"/>
                <a:cs typeface="Arial"/>
                <a:sym typeface="Arial"/>
              </a:rPr>
              <a:t> &amp; </a:t>
            </a:r>
            <a:r>
              <a:rPr lang="en-GB" b="1">
                <a:latin typeface="Arial"/>
                <a:ea typeface="Arial"/>
                <a:cs typeface="Arial"/>
                <a:sym typeface="Arial"/>
              </a:rPr>
              <a:t>from</a:t>
            </a:r>
            <a:r>
              <a:rPr lang="en-GB">
                <a:latin typeface="Arial"/>
                <a:ea typeface="Arial"/>
                <a:cs typeface="Arial"/>
                <a:sym typeface="Arial"/>
              </a:rPr>
              <a:t> extinct hominins &amp; AMH</a:t>
            </a:r>
            <a:endParaRPr>
              <a:latin typeface="Arial"/>
              <a:ea typeface="Arial"/>
              <a:cs typeface="Arial"/>
              <a:sym typeface="Arial"/>
            </a:endParaRPr>
          </a:p>
          <a:p>
            <a:pPr marL="0" lvl="0" indent="0" algn="l" rtl="0">
              <a:lnSpc>
                <a:spcPct val="115000"/>
              </a:lnSpc>
              <a:spcBef>
                <a:spcPts val="1200"/>
              </a:spcBef>
              <a:spcAft>
                <a:spcPts val="0"/>
              </a:spcAft>
              <a:buSzPts val="1800"/>
              <a:buNone/>
            </a:pPr>
            <a:r>
              <a:rPr lang="en-GB">
                <a:latin typeface="Arial"/>
                <a:ea typeface="Arial"/>
                <a:cs typeface="Arial"/>
                <a:sym typeface="Arial"/>
              </a:rPr>
              <a:t>Rapidly changing field!</a:t>
            </a:r>
            <a:endParaRPr>
              <a:latin typeface="Arial"/>
              <a:ea typeface="Arial"/>
              <a:cs typeface="Arial"/>
              <a:sym typeface="Arial"/>
            </a:endParaRPr>
          </a:p>
          <a:p>
            <a:pPr marL="0" lvl="0" indent="0" algn="l" rtl="0">
              <a:lnSpc>
                <a:spcPct val="115000"/>
              </a:lnSpc>
              <a:spcBef>
                <a:spcPts val="1200"/>
              </a:spcBef>
              <a:spcAft>
                <a:spcPts val="1200"/>
              </a:spcAft>
              <a:buSzPts val="1800"/>
              <a:buNone/>
            </a:pPr>
            <a:endParaRPr/>
          </a:p>
        </p:txBody>
      </p:sp>
      <p:pic>
        <p:nvPicPr>
          <p:cNvPr id="1044" name="Google Shape;1044;g3f68fc15589_0_654"/>
          <p:cNvPicPr preferRelativeResize="0"/>
          <p:nvPr/>
        </p:nvPicPr>
        <p:blipFill rotWithShape="1">
          <a:blip r:embed="rId3">
            <a:alphaModFix/>
          </a:blip>
          <a:srcRect/>
          <a:stretch/>
        </p:blipFill>
        <p:spPr>
          <a:xfrm>
            <a:off x="3832100" y="0"/>
            <a:ext cx="5202651" cy="4896126"/>
          </a:xfrm>
          <a:prstGeom prst="rect">
            <a:avLst/>
          </a:prstGeom>
          <a:noFill/>
          <a:ln>
            <a:noFill/>
          </a:ln>
        </p:spPr>
      </p:pic>
      <p:sp>
        <p:nvSpPr>
          <p:cNvPr id="1045" name="Google Shape;1045;g3f68fc15589_0_654"/>
          <p:cNvSpPr txBox="1"/>
          <p:nvPr/>
        </p:nvSpPr>
        <p:spPr>
          <a:xfrm>
            <a:off x="7350700" y="4712400"/>
            <a:ext cx="22959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Reilly et al. 2022</a:t>
            </a:r>
            <a:endParaRPr sz="1200" b="0" i="0" u="none" strike="noStrike" cap="none">
              <a:solidFill>
                <a:srgbClr val="45818E"/>
              </a:solidFill>
              <a:latin typeface="Open Sans"/>
              <a:ea typeface="Open Sans"/>
              <a:cs typeface="Open Sans"/>
              <a:sym typeface="Open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3f68fc15589_0_64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Gene flow is not unique to humans</a:t>
            </a:r>
            <a:endParaRPr/>
          </a:p>
        </p:txBody>
      </p:sp>
      <p:sp>
        <p:nvSpPr>
          <p:cNvPr id="1051" name="Google Shape;1051;g3f68fc15589_0_64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g3f68fc15589_0_66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Gene flow between chimpanzees and bonobos</a:t>
            </a:r>
            <a:endParaRPr/>
          </a:p>
        </p:txBody>
      </p:sp>
      <p:sp>
        <p:nvSpPr>
          <p:cNvPr id="1057" name="Google Shape;1057;g3f68fc15589_0_66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1058" name="Google Shape;1058;g3f68fc15589_0_661" title="354_477_f1.jpeg"/>
          <p:cNvPicPr preferRelativeResize="0"/>
          <p:nvPr/>
        </p:nvPicPr>
        <p:blipFill rotWithShape="1">
          <a:blip r:embed="rId3">
            <a:alphaModFix/>
          </a:blip>
          <a:srcRect b="38571"/>
          <a:stretch/>
        </p:blipFill>
        <p:spPr>
          <a:xfrm>
            <a:off x="3635775" y="1152425"/>
            <a:ext cx="5147802" cy="2971924"/>
          </a:xfrm>
          <a:prstGeom prst="rect">
            <a:avLst/>
          </a:prstGeom>
          <a:noFill/>
          <a:ln>
            <a:noFill/>
          </a:ln>
        </p:spPr>
      </p:pic>
      <p:sp>
        <p:nvSpPr>
          <p:cNvPr id="1059" name="Google Shape;1059;g3f68fc15589_0_661"/>
          <p:cNvSpPr txBox="1"/>
          <p:nvPr/>
        </p:nvSpPr>
        <p:spPr>
          <a:xfrm>
            <a:off x="6633100" y="456902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de Manuel et al. 2016</a:t>
            </a:r>
            <a:endParaRPr sz="1200" b="0" i="0" u="none" strike="noStrike" cap="none">
              <a:solidFill>
                <a:srgbClr val="45818E"/>
              </a:solidFill>
              <a:latin typeface="Open Sans"/>
              <a:ea typeface="Open Sans"/>
              <a:cs typeface="Open Sans"/>
              <a:sym typeface="Open Sans"/>
            </a:endParaRPr>
          </a:p>
        </p:txBody>
      </p:sp>
      <p:pic>
        <p:nvPicPr>
          <p:cNvPr id="1060" name="Google Shape;1060;g3f68fc15589_0_661" title="AdobeStock_132534312_429934_reduced.jpg"/>
          <p:cNvPicPr preferRelativeResize="0"/>
          <p:nvPr/>
        </p:nvPicPr>
        <p:blipFill rotWithShape="1">
          <a:blip r:embed="rId4">
            <a:alphaModFix/>
          </a:blip>
          <a:srcRect r="27756" b="6367"/>
          <a:stretch/>
        </p:blipFill>
        <p:spPr>
          <a:xfrm>
            <a:off x="1568150" y="2691800"/>
            <a:ext cx="2929500" cy="1993405"/>
          </a:xfrm>
          <a:prstGeom prst="rect">
            <a:avLst/>
          </a:prstGeom>
          <a:noFill/>
          <a:ln>
            <a:noFill/>
          </a:ln>
        </p:spPr>
      </p:pic>
      <p:pic>
        <p:nvPicPr>
          <p:cNvPr id="1061" name="Google Shape;1061;g3f68fc15589_0_661" title="download.jpeg"/>
          <p:cNvPicPr preferRelativeResize="0"/>
          <p:nvPr/>
        </p:nvPicPr>
        <p:blipFill>
          <a:blip r:embed="rId5">
            <a:alphaModFix/>
          </a:blip>
          <a:stretch>
            <a:fillRect/>
          </a:stretch>
        </p:blipFill>
        <p:spPr>
          <a:xfrm>
            <a:off x="218800" y="1266319"/>
            <a:ext cx="1943224" cy="2913057"/>
          </a:xfrm>
          <a:prstGeom prst="rect">
            <a:avLst/>
          </a:prstGeom>
          <a:noFill/>
          <a:ln>
            <a:noFill/>
          </a:ln>
        </p:spPr>
      </p:pic>
      <p:sp>
        <p:nvSpPr>
          <p:cNvPr id="1062" name="Google Shape;1062;g3f68fc15589_0_661"/>
          <p:cNvSpPr/>
          <p:nvPr/>
        </p:nvSpPr>
        <p:spPr>
          <a:xfrm>
            <a:off x="3194350" y="1033800"/>
            <a:ext cx="592500" cy="569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3f68fc15589_0_66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Gene flow between chimpanzees and bonobos</a:t>
            </a:r>
            <a:endParaRPr/>
          </a:p>
        </p:txBody>
      </p:sp>
      <p:pic>
        <p:nvPicPr>
          <p:cNvPr id="1068" name="Google Shape;1068;g3f68fc15589_0_667" title="354_477_f2.jpeg"/>
          <p:cNvPicPr preferRelativeResize="0"/>
          <p:nvPr/>
        </p:nvPicPr>
        <p:blipFill rotWithShape="1">
          <a:blip r:embed="rId3">
            <a:alphaModFix/>
          </a:blip>
          <a:srcRect r="51891" b="72401"/>
          <a:stretch/>
        </p:blipFill>
        <p:spPr>
          <a:xfrm>
            <a:off x="472325" y="1200275"/>
            <a:ext cx="3954119" cy="2625299"/>
          </a:xfrm>
          <a:prstGeom prst="rect">
            <a:avLst/>
          </a:prstGeom>
          <a:noFill/>
          <a:ln>
            <a:noFill/>
          </a:ln>
        </p:spPr>
      </p:pic>
      <p:pic>
        <p:nvPicPr>
          <p:cNvPr id="1069" name="Google Shape;1069;g3f68fc15589_0_667"/>
          <p:cNvPicPr preferRelativeResize="0"/>
          <p:nvPr/>
        </p:nvPicPr>
        <p:blipFill rotWithShape="1">
          <a:blip r:embed="rId4">
            <a:alphaModFix/>
          </a:blip>
          <a:srcRect/>
          <a:stretch/>
        </p:blipFill>
        <p:spPr>
          <a:xfrm>
            <a:off x="5013400" y="1036225"/>
            <a:ext cx="2676300" cy="3071050"/>
          </a:xfrm>
          <a:prstGeom prst="rect">
            <a:avLst/>
          </a:prstGeom>
          <a:noFill/>
          <a:ln>
            <a:noFill/>
          </a:ln>
        </p:spPr>
      </p:pic>
      <p:sp>
        <p:nvSpPr>
          <p:cNvPr id="1070" name="Google Shape;1070;g3f68fc15589_0_667"/>
          <p:cNvSpPr/>
          <p:nvPr/>
        </p:nvSpPr>
        <p:spPr>
          <a:xfrm>
            <a:off x="209100" y="3693850"/>
            <a:ext cx="3705600" cy="453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71" name="Google Shape;1071;g3f68fc15589_0_667"/>
          <p:cNvSpPr/>
          <p:nvPr/>
        </p:nvSpPr>
        <p:spPr>
          <a:xfrm>
            <a:off x="81325" y="1003575"/>
            <a:ext cx="1116600" cy="64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72" name="Google Shape;1072;g3f68fc15589_0_667"/>
          <p:cNvSpPr txBox="1"/>
          <p:nvPr/>
        </p:nvSpPr>
        <p:spPr>
          <a:xfrm>
            <a:off x="81325" y="4019100"/>
            <a:ext cx="8351700" cy="450900"/>
          </a:xfrm>
          <a:prstGeom prst="rect">
            <a:avLst/>
          </a:prstGeom>
          <a:noFill/>
          <a:ln>
            <a:noFill/>
          </a:ln>
        </p:spPr>
        <p:txBody>
          <a:bodyPr spcFirstLastPara="1" wrap="square" lIns="91425" tIns="91425" rIns="91425" bIns="91425" anchor="t" anchorCtr="0">
            <a:spAutoFit/>
          </a:bodyPr>
          <a:lstStyle/>
          <a:p>
            <a:pPr marL="457200" lvl="0" indent="-338455" algn="l" rtl="0">
              <a:lnSpc>
                <a:spcPct val="105000"/>
              </a:lnSpc>
              <a:spcBef>
                <a:spcPts val="0"/>
              </a:spcBef>
              <a:spcAft>
                <a:spcPts val="0"/>
              </a:spcAft>
              <a:buClr>
                <a:schemeClr val="dk2"/>
              </a:buClr>
              <a:buSzPts val="1730"/>
              <a:buFont typeface="Arial"/>
              <a:buChar char="●"/>
            </a:pPr>
            <a:r>
              <a:rPr lang="en-GB" sz="1730" b="1">
                <a:solidFill>
                  <a:schemeClr val="dk2"/>
                </a:solidFill>
              </a:rPr>
              <a:t>D-statistics: </a:t>
            </a:r>
            <a:r>
              <a:rPr lang="en-GB" sz="1730">
                <a:solidFill>
                  <a:schemeClr val="dk2"/>
                </a:solidFill>
              </a:rPr>
              <a:t>High allele sharing between C, E, NC chimpanzees with bonobos </a:t>
            </a:r>
            <a:endParaRPr sz="1730">
              <a:solidFill>
                <a:schemeClr val="dk2"/>
              </a:solidFill>
            </a:endParaRPr>
          </a:p>
        </p:txBody>
      </p:sp>
      <p:sp>
        <p:nvSpPr>
          <p:cNvPr id="1073" name="Google Shape;1073;g3f68fc15589_0_667"/>
          <p:cNvSpPr/>
          <p:nvPr/>
        </p:nvSpPr>
        <p:spPr>
          <a:xfrm>
            <a:off x="4609900" y="1103450"/>
            <a:ext cx="3483300" cy="287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74" name="Google Shape;1074;g3f68fc15589_0_667"/>
          <p:cNvSpPr txBox="1"/>
          <p:nvPr/>
        </p:nvSpPr>
        <p:spPr>
          <a:xfrm>
            <a:off x="6633100" y="456902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de Manuel et al. 2016</a:t>
            </a:r>
            <a:endParaRPr sz="1200" b="0" i="0" u="none" strike="noStrike" cap="none">
              <a:solidFill>
                <a:srgbClr val="45818E"/>
              </a:solidFill>
              <a:latin typeface="Open Sans"/>
              <a:ea typeface="Open Sans"/>
              <a:cs typeface="Open Sans"/>
              <a:sym typeface="Open Sans"/>
            </a:endParaRPr>
          </a:p>
        </p:txBody>
      </p:sp>
      <p:sp>
        <p:nvSpPr>
          <p:cNvPr id="1075" name="Google Shape;1075;g3f68fc15589_0_667"/>
          <p:cNvSpPr txBox="1"/>
          <p:nvPr/>
        </p:nvSpPr>
        <p:spPr>
          <a:xfrm>
            <a:off x="5453750" y="306592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1076" name="Google Shape;1076;g3f68fc15589_0_667"/>
          <p:cNvSpPr txBox="1"/>
          <p:nvPr/>
        </p:nvSpPr>
        <p:spPr>
          <a:xfrm>
            <a:off x="5915775" y="306592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1077" name="Google Shape;1077;g3f68fc15589_0_667"/>
          <p:cNvSpPr txBox="1"/>
          <p:nvPr/>
        </p:nvSpPr>
        <p:spPr>
          <a:xfrm>
            <a:off x="6413800" y="306592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1078" name="Google Shape;1078;g3f68fc15589_0_667"/>
          <p:cNvSpPr txBox="1"/>
          <p:nvPr/>
        </p:nvSpPr>
        <p:spPr>
          <a:xfrm>
            <a:off x="6896975" y="306592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1079" name="Google Shape;1079;g3f68fc15589_0_667"/>
          <p:cNvSpPr/>
          <p:nvPr/>
        </p:nvSpPr>
        <p:spPr>
          <a:xfrm>
            <a:off x="5361875" y="1200275"/>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80" name="Google Shape;1080;g3f68fc15589_0_667"/>
          <p:cNvSpPr txBox="1"/>
          <p:nvPr/>
        </p:nvSpPr>
        <p:spPr>
          <a:xfrm>
            <a:off x="5361887" y="331685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C</a:t>
            </a:r>
            <a:endParaRPr>
              <a:solidFill>
                <a:srgbClr val="2A2A2A"/>
              </a:solidFill>
            </a:endParaRPr>
          </a:p>
        </p:txBody>
      </p:sp>
      <p:sp>
        <p:nvSpPr>
          <p:cNvPr id="1081" name="Google Shape;1081;g3f68fc15589_0_667"/>
          <p:cNvSpPr txBox="1"/>
          <p:nvPr/>
        </p:nvSpPr>
        <p:spPr>
          <a:xfrm>
            <a:off x="5923687" y="331685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W</a:t>
            </a:r>
            <a:endParaRPr>
              <a:solidFill>
                <a:srgbClr val="2A2A2A"/>
              </a:solidFill>
            </a:endParaRPr>
          </a:p>
        </p:txBody>
      </p:sp>
      <p:sp>
        <p:nvSpPr>
          <p:cNvPr id="1082" name="Google Shape;1082;g3f68fc15589_0_667"/>
          <p:cNvSpPr txBox="1"/>
          <p:nvPr/>
        </p:nvSpPr>
        <p:spPr>
          <a:xfrm>
            <a:off x="6420325" y="33168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Bon</a:t>
            </a:r>
            <a:endParaRPr>
              <a:solidFill>
                <a:srgbClr val="2A2A2A"/>
              </a:solidFill>
            </a:endParaRPr>
          </a:p>
        </p:txBody>
      </p:sp>
      <p:sp>
        <p:nvSpPr>
          <p:cNvPr id="1083" name="Google Shape;1083;g3f68fc15589_0_667"/>
          <p:cNvSpPr txBox="1"/>
          <p:nvPr/>
        </p:nvSpPr>
        <p:spPr>
          <a:xfrm>
            <a:off x="7020975" y="33168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Human</a:t>
            </a:r>
            <a:endParaRPr>
              <a:solidFill>
                <a:srgbClr val="2A2A2A"/>
              </a:solidFill>
            </a:endParaRPr>
          </a:p>
        </p:txBody>
      </p:sp>
      <p:pic>
        <p:nvPicPr>
          <p:cNvPr id="1084" name="Google Shape;1084;g3f68fc15589_0_667"/>
          <p:cNvPicPr preferRelativeResize="0"/>
          <p:nvPr/>
        </p:nvPicPr>
        <p:blipFill rotWithShape="1">
          <a:blip r:embed="rId5">
            <a:alphaModFix/>
          </a:blip>
          <a:srcRect l="49249" b="50080"/>
          <a:stretch/>
        </p:blipFill>
        <p:spPr>
          <a:xfrm>
            <a:off x="5385175" y="1103438"/>
            <a:ext cx="1932749" cy="1954476"/>
          </a:xfrm>
          <a:prstGeom prst="rect">
            <a:avLst/>
          </a:prstGeom>
          <a:noFill/>
          <a:ln>
            <a:noFill/>
          </a:ln>
        </p:spPr>
      </p:pic>
      <p:cxnSp>
        <p:nvCxnSpPr>
          <p:cNvPr id="1085" name="Google Shape;1085;g3f68fc15589_0_667"/>
          <p:cNvCxnSpPr/>
          <p:nvPr/>
        </p:nvCxnSpPr>
        <p:spPr>
          <a:xfrm flipH="1">
            <a:off x="5742875" y="2407413"/>
            <a:ext cx="583200" cy="64500"/>
          </a:xfrm>
          <a:prstGeom prst="straightConnector1">
            <a:avLst/>
          </a:prstGeom>
          <a:noFill/>
          <a:ln w="28575" cap="flat" cmpd="sng">
            <a:solidFill>
              <a:srgbClr val="FF0000"/>
            </a:solidFill>
            <a:prstDash val="solid"/>
            <a:round/>
            <a:headEnd type="none" w="sm" len="sm"/>
            <a:tailEnd type="triangle" w="med" len="med"/>
          </a:ln>
        </p:spPr>
      </p:cxnSp>
      <p:sp>
        <p:nvSpPr>
          <p:cNvPr id="1086" name="Google Shape;1086;g3f68fc15589_0_667"/>
          <p:cNvSpPr/>
          <p:nvPr/>
        </p:nvSpPr>
        <p:spPr>
          <a:xfrm>
            <a:off x="6485475" y="3735225"/>
            <a:ext cx="1116600" cy="34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87" name="Google Shape;1087;g3f68fc15589_0_667"/>
          <p:cNvSpPr/>
          <p:nvPr/>
        </p:nvSpPr>
        <p:spPr>
          <a:xfrm>
            <a:off x="934475" y="2043376"/>
            <a:ext cx="3282000" cy="1215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1088" name="Google Shape;1088;g3f68fc15589_0_667"/>
          <p:cNvCxnSpPr/>
          <p:nvPr/>
        </p:nvCxnSpPr>
        <p:spPr>
          <a:xfrm>
            <a:off x="3914700" y="1936225"/>
            <a:ext cx="1738800" cy="345900"/>
          </a:xfrm>
          <a:prstGeom prst="straightConnector1">
            <a:avLst/>
          </a:prstGeom>
          <a:noFill/>
          <a:ln w="19050" cap="flat" cmpd="sng">
            <a:solidFill>
              <a:srgbClr val="45818E"/>
            </a:solidFill>
            <a:prstDash val="solid"/>
            <a:round/>
            <a:headEnd type="none" w="sm" len="sm"/>
            <a:tailEnd type="triangle" w="med" len="med"/>
          </a:ln>
        </p:spPr>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3f68fc15589_0_7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Gene flow between chimpanzees and bonobos</a:t>
            </a:r>
            <a:endParaRPr/>
          </a:p>
        </p:txBody>
      </p:sp>
      <p:pic>
        <p:nvPicPr>
          <p:cNvPr id="1094" name="Google Shape;1094;g3f68fc15589_0_729" title="354_477_f2.jpeg"/>
          <p:cNvPicPr preferRelativeResize="0"/>
          <p:nvPr/>
        </p:nvPicPr>
        <p:blipFill rotWithShape="1">
          <a:blip r:embed="rId3">
            <a:alphaModFix/>
          </a:blip>
          <a:srcRect r="51891" b="72401"/>
          <a:stretch/>
        </p:blipFill>
        <p:spPr>
          <a:xfrm>
            <a:off x="472325" y="1200275"/>
            <a:ext cx="3954119" cy="2625299"/>
          </a:xfrm>
          <a:prstGeom prst="rect">
            <a:avLst/>
          </a:prstGeom>
          <a:noFill/>
          <a:ln>
            <a:noFill/>
          </a:ln>
        </p:spPr>
      </p:pic>
      <p:pic>
        <p:nvPicPr>
          <p:cNvPr id="1095" name="Google Shape;1095;g3f68fc15589_0_729"/>
          <p:cNvPicPr preferRelativeResize="0"/>
          <p:nvPr/>
        </p:nvPicPr>
        <p:blipFill rotWithShape="1">
          <a:blip r:embed="rId4">
            <a:alphaModFix/>
          </a:blip>
          <a:srcRect/>
          <a:stretch/>
        </p:blipFill>
        <p:spPr>
          <a:xfrm>
            <a:off x="5013400" y="1036225"/>
            <a:ext cx="2676300" cy="3071050"/>
          </a:xfrm>
          <a:prstGeom prst="rect">
            <a:avLst/>
          </a:prstGeom>
          <a:noFill/>
          <a:ln>
            <a:noFill/>
          </a:ln>
        </p:spPr>
      </p:pic>
      <p:sp>
        <p:nvSpPr>
          <p:cNvPr id="1096" name="Google Shape;1096;g3f68fc15589_0_729"/>
          <p:cNvSpPr/>
          <p:nvPr/>
        </p:nvSpPr>
        <p:spPr>
          <a:xfrm>
            <a:off x="209100" y="3693850"/>
            <a:ext cx="3705600" cy="453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97" name="Google Shape;1097;g3f68fc15589_0_729"/>
          <p:cNvSpPr/>
          <p:nvPr/>
        </p:nvSpPr>
        <p:spPr>
          <a:xfrm>
            <a:off x="81325" y="1003575"/>
            <a:ext cx="1116600" cy="64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98" name="Google Shape;1098;g3f68fc15589_0_729"/>
          <p:cNvSpPr txBox="1"/>
          <p:nvPr/>
        </p:nvSpPr>
        <p:spPr>
          <a:xfrm>
            <a:off x="81325" y="4019100"/>
            <a:ext cx="8351700" cy="450900"/>
          </a:xfrm>
          <a:prstGeom prst="rect">
            <a:avLst/>
          </a:prstGeom>
          <a:noFill/>
          <a:ln>
            <a:noFill/>
          </a:ln>
        </p:spPr>
        <p:txBody>
          <a:bodyPr spcFirstLastPara="1" wrap="square" lIns="91425" tIns="91425" rIns="91425" bIns="91425" anchor="t" anchorCtr="0">
            <a:spAutoFit/>
          </a:bodyPr>
          <a:lstStyle/>
          <a:p>
            <a:pPr marL="457200" lvl="0" indent="-338455" algn="l" rtl="0">
              <a:lnSpc>
                <a:spcPct val="105000"/>
              </a:lnSpc>
              <a:spcBef>
                <a:spcPts val="0"/>
              </a:spcBef>
              <a:spcAft>
                <a:spcPts val="0"/>
              </a:spcAft>
              <a:buClr>
                <a:schemeClr val="dk2"/>
              </a:buClr>
              <a:buSzPts val="1730"/>
              <a:buFont typeface="Arial"/>
              <a:buChar char="●"/>
            </a:pPr>
            <a:r>
              <a:rPr lang="en-GB" sz="1730" b="1">
                <a:solidFill>
                  <a:schemeClr val="dk2"/>
                </a:solidFill>
              </a:rPr>
              <a:t>D-statistics: </a:t>
            </a:r>
            <a:r>
              <a:rPr lang="en-GB" sz="1730">
                <a:solidFill>
                  <a:schemeClr val="dk2"/>
                </a:solidFill>
              </a:rPr>
              <a:t>High allele sharing between C, E, NC chimpanzees with bonobos </a:t>
            </a:r>
            <a:endParaRPr sz="1730">
              <a:solidFill>
                <a:schemeClr val="dk2"/>
              </a:solidFill>
            </a:endParaRPr>
          </a:p>
        </p:txBody>
      </p:sp>
      <p:sp>
        <p:nvSpPr>
          <p:cNvPr id="1099" name="Google Shape;1099;g3f68fc15589_0_729"/>
          <p:cNvSpPr/>
          <p:nvPr/>
        </p:nvSpPr>
        <p:spPr>
          <a:xfrm>
            <a:off x="4609900" y="1103450"/>
            <a:ext cx="3483300" cy="2871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00" name="Google Shape;1100;g3f68fc15589_0_729"/>
          <p:cNvSpPr txBox="1"/>
          <p:nvPr/>
        </p:nvSpPr>
        <p:spPr>
          <a:xfrm>
            <a:off x="6633100" y="456902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de Manuel et al. 2016</a:t>
            </a:r>
            <a:endParaRPr sz="1200" b="0" i="0" u="none" strike="noStrike" cap="none">
              <a:solidFill>
                <a:srgbClr val="45818E"/>
              </a:solidFill>
              <a:latin typeface="Open Sans"/>
              <a:ea typeface="Open Sans"/>
              <a:cs typeface="Open Sans"/>
              <a:sym typeface="Open Sans"/>
            </a:endParaRPr>
          </a:p>
        </p:txBody>
      </p:sp>
      <p:sp>
        <p:nvSpPr>
          <p:cNvPr id="1101" name="Google Shape;1101;g3f68fc15589_0_729"/>
          <p:cNvSpPr txBox="1"/>
          <p:nvPr/>
        </p:nvSpPr>
        <p:spPr>
          <a:xfrm>
            <a:off x="5453750" y="306592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P1</a:t>
            </a:r>
            <a:endParaRPr b="1">
              <a:solidFill>
                <a:srgbClr val="598E9A"/>
              </a:solidFill>
            </a:endParaRPr>
          </a:p>
        </p:txBody>
      </p:sp>
      <p:sp>
        <p:nvSpPr>
          <p:cNvPr id="1102" name="Google Shape;1102;g3f68fc15589_0_729"/>
          <p:cNvSpPr txBox="1"/>
          <p:nvPr/>
        </p:nvSpPr>
        <p:spPr>
          <a:xfrm>
            <a:off x="5915775" y="306592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P2</a:t>
            </a:r>
            <a:endParaRPr b="1">
              <a:solidFill>
                <a:srgbClr val="598E9A"/>
              </a:solidFill>
            </a:endParaRPr>
          </a:p>
        </p:txBody>
      </p:sp>
      <p:sp>
        <p:nvSpPr>
          <p:cNvPr id="1103" name="Google Shape;1103;g3f68fc15589_0_729"/>
          <p:cNvSpPr txBox="1"/>
          <p:nvPr/>
        </p:nvSpPr>
        <p:spPr>
          <a:xfrm>
            <a:off x="6413800" y="3065925"/>
            <a:ext cx="57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P3</a:t>
            </a:r>
            <a:endParaRPr b="1">
              <a:solidFill>
                <a:srgbClr val="598E9A"/>
              </a:solidFill>
            </a:endParaRPr>
          </a:p>
        </p:txBody>
      </p:sp>
      <p:sp>
        <p:nvSpPr>
          <p:cNvPr id="1104" name="Google Shape;1104;g3f68fc15589_0_729"/>
          <p:cNvSpPr txBox="1"/>
          <p:nvPr/>
        </p:nvSpPr>
        <p:spPr>
          <a:xfrm>
            <a:off x="6896975" y="3065925"/>
            <a:ext cx="113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598E9A"/>
                </a:solidFill>
                <a:latin typeface="Open Sans"/>
                <a:ea typeface="Open Sans"/>
                <a:cs typeface="Open Sans"/>
                <a:sym typeface="Open Sans"/>
              </a:rPr>
              <a:t>O</a:t>
            </a:r>
            <a:endParaRPr b="1">
              <a:solidFill>
                <a:srgbClr val="598E9A"/>
              </a:solidFill>
            </a:endParaRPr>
          </a:p>
        </p:txBody>
      </p:sp>
      <p:sp>
        <p:nvSpPr>
          <p:cNvPr id="1105" name="Google Shape;1105;g3f68fc15589_0_729"/>
          <p:cNvSpPr/>
          <p:nvPr/>
        </p:nvSpPr>
        <p:spPr>
          <a:xfrm>
            <a:off x="5361875" y="1200275"/>
            <a:ext cx="468900" cy="70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06" name="Google Shape;1106;g3f68fc15589_0_729"/>
          <p:cNvSpPr txBox="1"/>
          <p:nvPr/>
        </p:nvSpPr>
        <p:spPr>
          <a:xfrm>
            <a:off x="5076118" y="3316850"/>
            <a:ext cx="809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C/E/NC</a:t>
            </a:r>
            <a:endParaRPr>
              <a:solidFill>
                <a:srgbClr val="2A2A2A"/>
              </a:solidFill>
            </a:endParaRPr>
          </a:p>
        </p:txBody>
      </p:sp>
      <p:sp>
        <p:nvSpPr>
          <p:cNvPr id="1107" name="Google Shape;1107;g3f68fc15589_0_729"/>
          <p:cNvSpPr txBox="1"/>
          <p:nvPr/>
        </p:nvSpPr>
        <p:spPr>
          <a:xfrm>
            <a:off x="5923687" y="3316850"/>
            <a:ext cx="52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W</a:t>
            </a:r>
            <a:endParaRPr>
              <a:solidFill>
                <a:srgbClr val="2A2A2A"/>
              </a:solidFill>
            </a:endParaRPr>
          </a:p>
        </p:txBody>
      </p:sp>
      <p:sp>
        <p:nvSpPr>
          <p:cNvPr id="1108" name="Google Shape;1108;g3f68fc15589_0_729"/>
          <p:cNvSpPr txBox="1"/>
          <p:nvPr/>
        </p:nvSpPr>
        <p:spPr>
          <a:xfrm>
            <a:off x="6420325" y="33168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Bon</a:t>
            </a:r>
            <a:endParaRPr>
              <a:solidFill>
                <a:srgbClr val="2A2A2A"/>
              </a:solidFill>
            </a:endParaRPr>
          </a:p>
        </p:txBody>
      </p:sp>
      <p:sp>
        <p:nvSpPr>
          <p:cNvPr id="1109" name="Google Shape;1109;g3f68fc15589_0_729"/>
          <p:cNvSpPr txBox="1"/>
          <p:nvPr/>
        </p:nvSpPr>
        <p:spPr>
          <a:xfrm>
            <a:off x="7020975" y="33168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solidFill>
                  <a:srgbClr val="2A2A2A"/>
                </a:solidFill>
                <a:latin typeface="Open Sans"/>
                <a:ea typeface="Open Sans"/>
                <a:cs typeface="Open Sans"/>
                <a:sym typeface="Open Sans"/>
              </a:rPr>
              <a:t>Human</a:t>
            </a:r>
            <a:endParaRPr>
              <a:solidFill>
                <a:srgbClr val="2A2A2A"/>
              </a:solidFill>
            </a:endParaRPr>
          </a:p>
        </p:txBody>
      </p:sp>
      <p:pic>
        <p:nvPicPr>
          <p:cNvPr id="1110" name="Google Shape;1110;g3f68fc15589_0_729"/>
          <p:cNvPicPr preferRelativeResize="0"/>
          <p:nvPr/>
        </p:nvPicPr>
        <p:blipFill rotWithShape="1">
          <a:blip r:embed="rId5">
            <a:alphaModFix/>
          </a:blip>
          <a:srcRect l="49249" b="50080"/>
          <a:stretch/>
        </p:blipFill>
        <p:spPr>
          <a:xfrm>
            <a:off x="5385175" y="1103438"/>
            <a:ext cx="1932749" cy="1954476"/>
          </a:xfrm>
          <a:prstGeom prst="rect">
            <a:avLst/>
          </a:prstGeom>
          <a:noFill/>
          <a:ln>
            <a:noFill/>
          </a:ln>
        </p:spPr>
      </p:pic>
      <p:cxnSp>
        <p:nvCxnSpPr>
          <p:cNvPr id="1111" name="Google Shape;1111;g3f68fc15589_0_729"/>
          <p:cNvCxnSpPr/>
          <p:nvPr/>
        </p:nvCxnSpPr>
        <p:spPr>
          <a:xfrm flipH="1">
            <a:off x="5742875" y="2407413"/>
            <a:ext cx="583200" cy="64500"/>
          </a:xfrm>
          <a:prstGeom prst="straightConnector1">
            <a:avLst/>
          </a:prstGeom>
          <a:noFill/>
          <a:ln w="28575" cap="flat" cmpd="sng">
            <a:solidFill>
              <a:srgbClr val="FF0000"/>
            </a:solidFill>
            <a:prstDash val="solid"/>
            <a:round/>
            <a:headEnd type="none" w="sm" len="sm"/>
            <a:tailEnd type="triangle" w="med" len="med"/>
          </a:ln>
        </p:spPr>
      </p:cxnSp>
      <p:sp>
        <p:nvSpPr>
          <p:cNvPr id="1112" name="Google Shape;1112;g3f68fc15589_0_729"/>
          <p:cNvSpPr/>
          <p:nvPr/>
        </p:nvSpPr>
        <p:spPr>
          <a:xfrm>
            <a:off x="6485475" y="3735225"/>
            <a:ext cx="1116600" cy="34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13" name="Google Shape;1113;g3f68fc15589_0_729"/>
          <p:cNvSpPr/>
          <p:nvPr/>
        </p:nvSpPr>
        <p:spPr>
          <a:xfrm>
            <a:off x="4128927" y="1463675"/>
            <a:ext cx="335700" cy="2098500"/>
          </a:xfrm>
          <a:prstGeom prst="rightBrace">
            <a:avLst>
              <a:gd name="adj1" fmla="val 50000"/>
              <a:gd name="adj2" fmla="val 50000"/>
            </a:avLst>
          </a:prstGeom>
          <a:noFill/>
          <a:ln w="28575" cap="flat" cmpd="sng">
            <a:solidFill>
              <a:srgbClr val="598E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g3f68fc15589_0_68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Gene flow between chimpanzees and bonobos</a:t>
            </a:r>
            <a:endParaRPr/>
          </a:p>
        </p:txBody>
      </p:sp>
      <p:pic>
        <p:nvPicPr>
          <p:cNvPr id="1119" name="Google Shape;1119;g3f68fc15589_0_685" title="354_477_f2.jpeg"/>
          <p:cNvPicPr preferRelativeResize="0"/>
          <p:nvPr/>
        </p:nvPicPr>
        <p:blipFill rotWithShape="1">
          <a:blip r:embed="rId3">
            <a:alphaModFix/>
          </a:blip>
          <a:srcRect r="51891" b="72401"/>
          <a:stretch/>
        </p:blipFill>
        <p:spPr>
          <a:xfrm>
            <a:off x="472325" y="1200275"/>
            <a:ext cx="3954119" cy="2625299"/>
          </a:xfrm>
          <a:prstGeom prst="rect">
            <a:avLst/>
          </a:prstGeom>
          <a:noFill/>
          <a:ln>
            <a:noFill/>
          </a:ln>
        </p:spPr>
      </p:pic>
      <p:pic>
        <p:nvPicPr>
          <p:cNvPr id="1120" name="Google Shape;1120;g3f68fc15589_0_685"/>
          <p:cNvPicPr preferRelativeResize="0"/>
          <p:nvPr/>
        </p:nvPicPr>
        <p:blipFill rotWithShape="1">
          <a:blip r:embed="rId4">
            <a:alphaModFix/>
          </a:blip>
          <a:srcRect/>
          <a:stretch/>
        </p:blipFill>
        <p:spPr>
          <a:xfrm>
            <a:off x="5013400" y="1036225"/>
            <a:ext cx="2676300" cy="3071050"/>
          </a:xfrm>
          <a:prstGeom prst="rect">
            <a:avLst/>
          </a:prstGeom>
          <a:noFill/>
          <a:ln>
            <a:noFill/>
          </a:ln>
        </p:spPr>
      </p:pic>
      <p:sp>
        <p:nvSpPr>
          <p:cNvPr id="1121" name="Google Shape;1121;g3f68fc15589_0_685"/>
          <p:cNvSpPr/>
          <p:nvPr/>
        </p:nvSpPr>
        <p:spPr>
          <a:xfrm>
            <a:off x="209100" y="3693850"/>
            <a:ext cx="3705600" cy="453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22" name="Google Shape;1122;g3f68fc15589_0_685"/>
          <p:cNvSpPr/>
          <p:nvPr/>
        </p:nvSpPr>
        <p:spPr>
          <a:xfrm>
            <a:off x="81325" y="1003575"/>
            <a:ext cx="1116600" cy="64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23" name="Google Shape;1123;g3f68fc15589_0_685"/>
          <p:cNvSpPr txBox="1"/>
          <p:nvPr/>
        </p:nvSpPr>
        <p:spPr>
          <a:xfrm>
            <a:off x="81325" y="4019100"/>
            <a:ext cx="8351700" cy="1010100"/>
          </a:xfrm>
          <a:prstGeom prst="rect">
            <a:avLst/>
          </a:prstGeom>
          <a:noFill/>
          <a:ln>
            <a:noFill/>
          </a:ln>
        </p:spPr>
        <p:txBody>
          <a:bodyPr spcFirstLastPara="1" wrap="square" lIns="91425" tIns="91425" rIns="91425" bIns="91425" anchor="t" anchorCtr="0">
            <a:spAutoFit/>
          </a:bodyPr>
          <a:lstStyle/>
          <a:p>
            <a:pPr marL="457200" lvl="0" indent="-338455" algn="l" rtl="0">
              <a:lnSpc>
                <a:spcPct val="105000"/>
              </a:lnSpc>
              <a:spcBef>
                <a:spcPts val="0"/>
              </a:spcBef>
              <a:spcAft>
                <a:spcPts val="0"/>
              </a:spcAft>
              <a:buClr>
                <a:schemeClr val="dk2"/>
              </a:buClr>
              <a:buSzPts val="1730"/>
              <a:buFont typeface="Arial"/>
              <a:buChar char="●"/>
            </a:pPr>
            <a:r>
              <a:rPr lang="en-GB" sz="1730" b="1">
                <a:solidFill>
                  <a:schemeClr val="dk2"/>
                </a:solidFill>
              </a:rPr>
              <a:t>D-statistics: </a:t>
            </a:r>
            <a:r>
              <a:rPr lang="en-GB" sz="1730">
                <a:solidFill>
                  <a:schemeClr val="dk2"/>
                </a:solidFill>
              </a:rPr>
              <a:t>High allele sharing between C, E, NC chimpanzees with bonobos</a:t>
            </a:r>
            <a:endParaRPr sz="1730">
              <a:solidFill>
                <a:schemeClr val="dk2"/>
              </a:solidFill>
            </a:endParaRPr>
          </a:p>
          <a:p>
            <a:pPr marL="457200" lvl="0" indent="-338455" algn="l" rtl="0">
              <a:lnSpc>
                <a:spcPct val="105000"/>
              </a:lnSpc>
              <a:spcBef>
                <a:spcPts val="0"/>
              </a:spcBef>
              <a:spcAft>
                <a:spcPts val="0"/>
              </a:spcAft>
              <a:buClr>
                <a:schemeClr val="dk2"/>
              </a:buClr>
              <a:buSzPts val="1730"/>
              <a:buFont typeface="Arial"/>
              <a:buChar char="●"/>
            </a:pPr>
            <a:r>
              <a:rPr lang="en-GB" sz="1730">
                <a:solidFill>
                  <a:schemeClr val="dk2"/>
                </a:solidFill>
              </a:rPr>
              <a:t>Chunks of bonobo segments </a:t>
            </a:r>
            <a:r>
              <a:rPr lang="en-GB" sz="1730" b="1">
                <a:solidFill>
                  <a:schemeClr val="dk2"/>
                </a:solidFill>
              </a:rPr>
              <a:t>~ 2.5% </a:t>
            </a:r>
            <a:endParaRPr sz="1730" b="1">
              <a:solidFill>
                <a:schemeClr val="dk2"/>
              </a:solidFill>
            </a:endParaRPr>
          </a:p>
          <a:p>
            <a:pPr marL="457200" lvl="0" indent="-338455" algn="l" rtl="0">
              <a:lnSpc>
                <a:spcPct val="105000"/>
              </a:lnSpc>
              <a:spcBef>
                <a:spcPts val="0"/>
              </a:spcBef>
              <a:spcAft>
                <a:spcPts val="0"/>
              </a:spcAft>
              <a:buClr>
                <a:schemeClr val="dk2"/>
              </a:buClr>
              <a:buSzPts val="1730"/>
              <a:buFont typeface="Open Sans"/>
              <a:buChar char="●"/>
            </a:pPr>
            <a:r>
              <a:rPr lang="en-GB" sz="1730">
                <a:solidFill>
                  <a:schemeClr val="dk2"/>
                </a:solidFill>
              </a:rPr>
              <a:t>Similar genomic features to hominin introgression events</a:t>
            </a:r>
            <a:endParaRPr sz="1730">
              <a:solidFill>
                <a:schemeClr val="dk2"/>
              </a:solidFill>
            </a:endParaRPr>
          </a:p>
        </p:txBody>
      </p:sp>
      <p:sp>
        <p:nvSpPr>
          <p:cNvPr id="1124" name="Google Shape;1124;g3f68fc15589_0_685"/>
          <p:cNvSpPr/>
          <p:nvPr/>
        </p:nvSpPr>
        <p:spPr>
          <a:xfrm>
            <a:off x="5064500" y="1003575"/>
            <a:ext cx="511200" cy="4530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25" name="Google Shape;1125;g3f68fc15589_0_685"/>
          <p:cNvSpPr txBox="1"/>
          <p:nvPr/>
        </p:nvSpPr>
        <p:spPr>
          <a:xfrm>
            <a:off x="6633100" y="456902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de Manuel et al. 2016</a:t>
            </a:r>
            <a:endParaRPr sz="1200" b="0" i="0" u="none" strike="noStrike" cap="none">
              <a:solidFill>
                <a:srgbClr val="45818E"/>
              </a:solidFill>
              <a:latin typeface="Open Sans"/>
              <a:ea typeface="Open Sans"/>
              <a:cs typeface="Open Sans"/>
              <a:sym typeface="Open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g3f68fc15589_0_760"/>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Further scenario to consider</a:t>
            </a:r>
            <a:endParaRPr/>
          </a:p>
        </p:txBody>
      </p:sp>
      <p:sp>
        <p:nvSpPr>
          <p:cNvPr id="1131" name="Google Shape;1131;g3f68fc15589_0_760"/>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132" name="Google Shape;1132;g3f68fc15589_0_760"/>
          <p:cNvPicPr preferRelativeResize="0"/>
          <p:nvPr/>
        </p:nvPicPr>
        <p:blipFill rotWithShape="1">
          <a:blip r:embed="rId3">
            <a:alphaModFix/>
          </a:blip>
          <a:srcRect/>
          <a:stretch/>
        </p:blipFill>
        <p:spPr>
          <a:xfrm>
            <a:off x="212650" y="1266324"/>
            <a:ext cx="8080748" cy="3448524"/>
          </a:xfrm>
          <a:prstGeom prst="rect">
            <a:avLst/>
          </a:prstGeom>
          <a:noFill/>
          <a:ln>
            <a:noFill/>
          </a:ln>
        </p:spPr>
      </p:pic>
      <p:sp>
        <p:nvSpPr>
          <p:cNvPr id="1133" name="Google Shape;1133;g3f68fc15589_0_760"/>
          <p:cNvSpPr txBox="1"/>
          <p:nvPr/>
        </p:nvSpPr>
        <p:spPr>
          <a:xfrm>
            <a:off x="6350950" y="468292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Tricou et al. 2021</a:t>
            </a:r>
            <a:endParaRPr sz="1200" b="0" i="0" u="none" strike="noStrike" cap="none">
              <a:solidFill>
                <a:srgbClr val="45818E"/>
              </a:solidFill>
              <a:latin typeface="Open Sans"/>
              <a:ea typeface="Open Sans"/>
              <a:cs typeface="Open Sans"/>
              <a:sym typeface="Open Sans"/>
            </a:endParaRPr>
          </a:p>
        </p:txBody>
      </p:sp>
      <p:sp>
        <p:nvSpPr>
          <p:cNvPr id="1134" name="Google Shape;1134;g3f68fc15589_0_760"/>
          <p:cNvSpPr/>
          <p:nvPr/>
        </p:nvSpPr>
        <p:spPr>
          <a:xfrm>
            <a:off x="4166900" y="1193425"/>
            <a:ext cx="3977400" cy="3448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g3f68fc15589_0_768"/>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Further scenario to consider</a:t>
            </a:r>
            <a:endParaRPr/>
          </a:p>
        </p:txBody>
      </p:sp>
      <p:sp>
        <p:nvSpPr>
          <p:cNvPr id="1140" name="Google Shape;1140;g3f68fc15589_0_768"/>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141" name="Google Shape;1141;g3f68fc15589_0_768"/>
          <p:cNvPicPr preferRelativeResize="0"/>
          <p:nvPr/>
        </p:nvPicPr>
        <p:blipFill rotWithShape="1">
          <a:blip r:embed="rId3">
            <a:alphaModFix/>
          </a:blip>
          <a:srcRect/>
          <a:stretch/>
        </p:blipFill>
        <p:spPr>
          <a:xfrm>
            <a:off x="212650" y="1266324"/>
            <a:ext cx="8080748" cy="3448524"/>
          </a:xfrm>
          <a:prstGeom prst="rect">
            <a:avLst/>
          </a:prstGeom>
          <a:noFill/>
          <a:ln>
            <a:noFill/>
          </a:ln>
        </p:spPr>
      </p:pic>
      <p:sp>
        <p:nvSpPr>
          <p:cNvPr id="1142" name="Google Shape;1142;g3f68fc15589_0_768"/>
          <p:cNvSpPr txBox="1"/>
          <p:nvPr/>
        </p:nvSpPr>
        <p:spPr>
          <a:xfrm>
            <a:off x="7233775" y="474787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Tricou et al. 2021</a:t>
            </a:r>
            <a:endParaRPr sz="1200" b="0" i="0" u="none" strike="noStrike" cap="none">
              <a:solidFill>
                <a:srgbClr val="45818E"/>
              </a:solidFill>
              <a:latin typeface="Open Sans"/>
              <a:ea typeface="Open Sans"/>
              <a:cs typeface="Open Sans"/>
              <a:sym typeface="Open Sans"/>
            </a:endParaRPr>
          </a:p>
        </p:txBody>
      </p:sp>
      <p:sp>
        <p:nvSpPr>
          <p:cNvPr id="1143" name="Google Shape;1143;g3f68fc15589_0_768"/>
          <p:cNvSpPr txBox="1"/>
          <p:nvPr/>
        </p:nvSpPr>
        <p:spPr>
          <a:xfrm>
            <a:off x="4696900" y="348475"/>
            <a:ext cx="62376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600" b="1">
                <a:solidFill>
                  <a:schemeClr val="accent5"/>
                </a:solidFill>
                <a:latin typeface="PT Sans Narrow"/>
                <a:ea typeface="PT Sans Narrow"/>
                <a:cs typeface="PT Sans Narrow"/>
                <a:sym typeface="PT Sans Narrow"/>
              </a:rPr>
              <a:t>Ghost gene flow</a:t>
            </a:r>
            <a:endParaRPr/>
          </a:p>
        </p:txBody>
      </p:sp>
      <p:sp>
        <p:nvSpPr>
          <p:cNvPr id="1144" name="Google Shape;1144;g3f68fc15589_0_768"/>
          <p:cNvSpPr txBox="1"/>
          <p:nvPr/>
        </p:nvSpPr>
        <p:spPr>
          <a:xfrm>
            <a:off x="212650" y="4569025"/>
            <a:ext cx="6772200" cy="450900"/>
          </a:xfrm>
          <a:prstGeom prst="rect">
            <a:avLst/>
          </a:prstGeom>
          <a:noFill/>
          <a:ln>
            <a:noFill/>
          </a:ln>
        </p:spPr>
        <p:txBody>
          <a:bodyPr spcFirstLastPara="1" wrap="square" lIns="91425" tIns="91425" rIns="91425" bIns="91425" anchor="t" anchorCtr="0">
            <a:spAutoFit/>
          </a:bodyPr>
          <a:lstStyle/>
          <a:p>
            <a:pPr marL="457200" lvl="0" indent="-338455" algn="l" rtl="0">
              <a:lnSpc>
                <a:spcPct val="105000"/>
              </a:lnSpc>
              <a:spcBef>
                <a:spcPts val="0"/>
              </a:spcBef>
              <a:spcAft>
                <a:spcPts val="0"/>
              </a:spcAft>
              <a:buClr>
                <a:schemeClr val="dk2"/>
              </a:buClr>
              <a:buSzPts val="1730"/>
              <a:buFont typeface="Arial"/>
              <a:buChar char="●"/>
            </a:pPr>
            <a:r>
              <a:rPr lang="en-GB" sz="1730">
                <a:solidFill>
                  <a:schemeClr val="dk2"/>
                </a:solidFill>
              </a:rPr>
              <a:t>Needs statistical methods beyond D-statistics to infer</a:t>
            </a:r>
            <a:endParaRPr/>
          </a:p>
        </p:txBody>
      </p:sp>
      <p:sp>
        <p:nvSpPr>
          <p:cNvPr id="1145" name="Google Shape;1145;g3f68fc15589_0_768"/>
          <p:cNvSpPr/>
          <p:nvPr/>
        </p:nvSpPr>
        <p:spPr>
          <a:xfrm>
            <a:off x="4058500" y="1217500"/>
            <a:ext cx="4618500" cy="34485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pic>
        <p:nvPicPr>
          <p:cNvPr id="1150" name="Google Shape;1150;g3f68fc15589_0_797" title="Mountain-gorilla-family_©-Skyler-Bishop-for-Gorilla-Doctors.jpg"/>
          <p:cNvPicPr preferRelativeResize="0"/>
          <p:nvPr/>
        </p:nvPicPr>
        <p:blipFill>
          <a:blip r:embed="rId3">
            <a:alphaModFix/>
          </a:blip>
          <a:stretch>
            <a:fillRect/>
          </a:stretch>
        </p:blipFill>
        <p:spPr>
          <a:xfrm>
            <a:off x="824725" y="1881712"/>
            <a:ext cx="3275676" cy="2182400"/>
          </a:xfrm>
          <a:prstGeom prst="rect">
            <a:avLst/>
          </a:prstGeom>
          <a:noFill/>
          <a:ln>
            <a:noFill/>
          </a:ln>
        </p:spPr>
      </p:pic>
      <p:pic>
        <p:nvPicPr>
          <p:cNvPr id="1151" name="Google Shape;1151;g3f68fc15589_0_797" title="Screenshot 2026-08-07 at 15.10.42.png"/>
          <p:cNvPicPr preferRelativeResize="0"/>
          <p:nvPr/>
        </p:nvPicPr>
        <p:blipFill>
          <a:blip r:embed="rId4">
            <a:alphaModFix/>
          </a:blip>
          <a:stretch>
            <a:fillRect/>
          </a:stretch>
        </p:blipFill>
        <p:spPr>
          <a:xfrm>
            <a:off x="4971575" y="807775"/>
            <a:ext cx="4026226" cy="4184725"/>
          </a:xfrm>
          <a:prstGeom prst="rect">
            <a:avLst/>
          </a:prstGeom>
          <a:noFill/>
          <a:ln>
            <a:noFill/>
          </a:ln>
        </p:spPr>
      </p:pic>
      <p:sp>
        <p:nvSpPr>
          <p:cNvPr id="1152" name="Google Shape;1152;g3f68fc15589_0_797"/>
          <p:cNvSpPr/>
          <p:nvPr/>
        </p:nvSpPr>
        <p:spPr>
          <a:xfrm>
            <a:off x="4263025" y="527325"/>
            <a:ext cx="1116600" cy="64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53" name="Google Shape;1153;g3f68fc15589_0_797"/>
          <p:cNvSpPr/>
          <p:nvPr/>
        </p:nvSpPr>
        <p:spPr>
          <a:xfrm>
            <a:off x="6808300" y="527325"/>
            <a:ext cx="2189400" cy="808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54" name="Google Shape;1154;g3f68fc15589_0_797"/>
          <p:cNvSpPr/>
          <p:nvPr/>
        </p:nvSpPr>
        <p:spPr>
          <a:xfrm>
            <a:off x="6902625" y="1335825"/>
            <a:ext cx="2189400" cy="808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55" name="Google Shape;1155;g3f68fc15589_0_797"/>
          <p:cNvSpPr/>
          <p:nvPr/>
        </p:nvSpPr>
        <p:spPr>
          <a:xfrm>
            <a:off x="6954600" y="1453375"/>
            <a:ext cx="2189400" cy="808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56" name="Google Shape;1156;g3f68fc15589_0_797"/>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Gene flow in eastern gorillas</a:t>
            </a:r>
            <a:endParaRPr/>
          </a:p>
        </p:txBody>
      </p:sp>
      <p:pic>
        <p:nvPicPr>
          <p:cNvPr id="1157" name="Google Shape;1157;g3f68fc15589_0_797"/>
          <p:cNvPicPr preferRelativeResize="0"/>
          <p:nvPr/>
        </p:nvPicPr>
        <p:blipFill rotWithShape="1">
          <a:blip r:embed="rId5">
            <a:alphaModFix/>
          </a:blip>
          <a:srcRect r="53014"/>
          <a:stretch/>
        </p:blipFill>
        <p:spPr>
          <a:xfrm>
            <a:off x="4572000" y="973288"/>
            <a:ext cx="4296474" cy="3999249"/>
          </a:xfrm>
          <a:prstGeom prst="rect">
            <a:avLst/>
          </a:prstGeom>
          <a:noFill/>
          <a:ln>
            <a:noFill/>
          </a:ln>
        </p:spPr>
      </p:pic>
      <p:sp>
        <p:nvSpPr>
          <p:cNvPr id="1158" name="Google Shape;1158;g3f68fc15589_0_797"/>
          <p:cNvSpPr txBox="1"/>
          <p:nvPr/>
        </p:nvSpPr>
        <p:spPr>
          <a:xfrm>
            <a:off x="7540125" y="468127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Pawar</a:t>
            </a:r>
            <a:r>
              <a:rPr lang="en-GB" sz="1200" b="0" i="0" u="none" strike="noStrike" cap="none">
                <a:solidFill>
                  <a:srgbClr val="45818E"/>
                </a:solidFill>
                <a:latin typeface="Open Sans"/>
                <a:ea typeface="Open Sans"/>
                <a:cs typeface="Open Sans"/>
                <a:sym typeface="Open Sans"/>
              </a:rPr>
              <a:t> et al. 202</a:t>
            </a:r>
            <a:r>
              <a:rPr lang="en-GB" sz="1200">
                <a:solidFill>
                  <a:srgbClr val="45818E"/>
                </a:solidFill>
                <a:latin typeface="Open Sans"/>
                <a:ea typeface="Open Sans"/>
                <a:cs typeface="Open Sans"/>
                <a:sym typeface="Open Sans"/>
              </a:rPr>
              <a:t>3</a:t>
            </a:r>
            <a:endParaRPr sz="1200" b="0" i="0" u="none" strike="noStrike" cap="none">
              <a:solidFill>
                <a:srgbClr val="45818E"/>
              </a:solidFill>
              <a:latin typeface="Open Sans"/>
              <a:ea typeface="Open Sans"/>
              <a:cs typeface="Open Sans"/>
              <a:sym typeface="Open Sans"/>
            </a:endParaRPr>
          </a:p>
        </p:txBody>
      </p:sp>
      <p:sp>
        <p:nvSpPr>
          <p:cNvPr id="1159" name="Google Shape;1159;g3f68fc15589_0_797"/>
          <p:cNvSpPr/>
          <p:nvPr/>
        </p:nvSpPr>
        <p:spPr>
          <a:xfrm>
            <a:off x="3833225" y="973300"/>
            <a:ext cx="849600" cy="64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pic>
        <p:nvPicPr>
          <p:cNvPr id="1164" name="Google Shape;1164;g3f68fc15589_0_818" title="Mountain-gorilla-family_©-Skyler-Bishop-for-Gorilla-Doctors.jpg"/>
          <p:cNvPicPr preferRelativeResize="0"/>
          <p:nvPr/>
        </p:nvPicPr>
        <p:blipFill>
          <a:blip r:embed="rId3">
            <a:alphaModFix/>
          </a:blip>
          <a:stretch>
            <a:fillRect/>
          </a:stretch>
        </p:blipFill>
        <p:spPr>
          <a:xfrm>
            <a:off x="5973825" y="2783350"/>
            <a:ext cx="2704650" cy="1801950"/>
          </a:xfrm>
          <a:prstGeom prst="rect">
            <a:avLst/>
          </a:prstGeom>
          <a:noFill/>
          <a:ln>
            <a:noFill/>
          </a:ln>
        </p:spPr>
      </p:pic>
      <p:pic>
        <p:nvPicPr>
          <p:cNvPr id="1165" name="Google Shape;1165;g3f68fc15589_0_818" title="Screenshot 2026-08-07 at 15.10.42.png"/>
          <p:cNvPicPr preferRelativeResize="0"/>
          <p:nvPr/>
        </p:nvPicPr>
        <p:blipFill>
          <a:blip r:embed="rId4">
            <a:alphaModFix/>
          </a:blip>
          <a:stretch>
            <a:fillRect/>
          </a:stretch>
        </p:blipFill>
        <p:spPr>
          <a:xfrm>
            <a:off x="522725" y="567900"/>
            <a:ext cx="4026226" cy="4184725"/>
          </a:xfrm>
          <a:prstGeom prst="rect">
            <a:avLst/>
          </a:prstGeom>
          <a:noFill/>
          <a:ln>
            <a:noFill/>
          </a:ln>
        </p:spPr>
      </p:pic>
      <p:sp>
        <p:nvSpPr>
          <p:cNvPr id="1166" name="Google Shape;1166;g3f68fc15589_0_818"/>
          <p:cNvSpPr/>
          <p:nvPr/>
        </p:nvSpPr>
        <p:spPr>
          <a:xfrm>
            <a:off x="81300" y="287450"/>
            <a:ext cx="849600" cy="64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67" name="Google Shape;1167;g3f68fc15589_0_818"/>
          <p:cNvSpPr/>
          <p:nvPr/>
        </p:nvSpPr>
        <p:spPr>
          <a:xfrm>
            <a:off x="2359450" y="287450"/>
            <a:ext cx="2189400" cy="808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68" name="Google Shape;1168;g3f68fc15589_0_818"/>
          <p:cNvSpPr/>
          <p:nvPr/>
        </p:nvSpPr>
        <p:spPr>
          <a:xfrm>
            <a:off x="2453775" y="1095950"/>
            <a:ext cx="2189400" cy="808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69" name="Google Shape;1169;g3f68fc15589_0_818"/>
          <p:cNvSpPr/>
          <p:nvPr/>
        </p:nvSpPr>
        <p:spPr>
          <a:xfrm>
            <a:off x="2505750" y="1213500"/>
            <a:ext cx="2189400" cy="808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70" name="Google Shape;1170;g3f68fc15589_0_818"/>
          <p:cNvSpPr txBox="1"/>
          <p:nvPr/>
        </p:nvSpPr>
        <p:spPr>
          <a:xfrm>
            <a:off x="7394675" y="465967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a:solidFill>
                  <a:srgbClr val="45818E"/>
                </a:solidFill>
                <a:latin typeface="Open Sans"/>
                <a:ea typeface="Open Sans"/>
                <a:cs typeface="Open Sans"/>
                <a:sym typeface="Open Sans"/>
              </a:rPr>
              <a:t>Pawar</a:t>
            </a:r>
            <a:r>
              <a:rPr lang="en-GB" sz="1200" b="0" i="0" u="none" strike="noStrike" cap="none">
                <a:solidFill>
                  <a:srgbClr val="45818E"/>
                </a:solidFill>
                <a:latin typeface="Open Sans"/>
                <a:ea typeface="Open Sans"/>
                <a:cs typeface="Open Sans"/>
                <a:sym typeface="Open Sans"/>
              </a:rPr>
              <a:t> et al. 202</a:t>
            </a:r>
            <a:r>
              <a:rPr lang="en-GB" sz="1200">
                <a:solidFill>
                  <a:srgbClr val="45818E"/>
                </a:solidFill>
                <a:latin typeface="Open Sans"/>
                <a:ea typeface="Open Sans"/>
                <a:cs typeface="Open Sans"/>
                <a:sym typeface="Open Sans"/>
              </a:rPr>
              <a:t>3</a:t>
            </a:r>
            <a:endParaRPr sz="1200" b="0" i="0" u="none" strike="noStrike" cap="none">
              <a:solidFill>
                <a:srgbClr val="45818E"/>
              </a:solidFill>
              <a:latin typeface="Open Sans"/>
              <a:ea typeface="Open Sans"/>
              <a:cs typeface="Open Sans"/>
              <a:sym typeface="Open Sans"/>
            </a:endParaRPr>
          </a:p>
        </p:txBody>
      </p:sp>
      <p:sp>
        <p:nvSpPr>
          <p:cNvPr id="1171" name="Google Shape;1171;g3f68fc15589_0_818"/>
          <p:cNvSpPr txBox="1">
            <a:spLocks noGrp="1"/>
          </p:cNvSpPr>
          <p:nvPr>
            <p:ph type="title"/>
          </p:nvPr>
        </p:nvSpPr>
        <p:spPr>
          <a:xfrm>
            <a:off x="522725" y="225950"/>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solidFill>
                  <a:srgbClr val="6FBE90"/>
                </a:solidFill>
              </a:rPr>
              <a:t>Ghost</a:t>
            </a:r>
            <a:r>
              <a:rPr lang="en-GB"/>
              <a:t> gene flow in eastern gorillas</a:t>
            </a:r>
            <a:endParaRPr/>
          </a:p>
        </p:txBody>
      </p:sp>
      <p:sp>
        <p:nvSpPr>
          <p:cNvPr id="1172" name="Google Shape;1172;g3f68fc15589_0_818"/>
          <p:cNvSpPr txBox="1"/>
          <p:nvPr/>
        </p:nvSpPr>
        <p:spPr>
          <a:xfrm>
            <a:off x="4158475" y="1213500"/>
            <a:ext cx="5076000" cy="1289700"/>
          </a:xfrm>
          <a:prstGeom prst="rect">
            <a:avLst/>
          </a:prstGeom>
          <a:noFill/>
          <a:ln>
            <a:noFill/>
          </a:ln>
        </p:spPr>
        <p:txBody>
          <a:bodyPr spcFirstLastPara="1" wrap="square" lIns="91425" tIns="91425" rIns="91425" bIns="91425" anchor="t" anchorCtr="0">
            <a:spAutoFit/>
          </a:bodyPr>
          <a:lstStyle/>
          <a:p>
            <a:pPr marL="457200" lvl="0" indent="-338455" algn="l" rtl="0">
              <a:lnSpc>
                <a:spcPct val="105000"/>
              </a:lnSpc>
              <a:spcBef>
                <a:spcPts val="0"/>
              </a:spcBef>
              <a:spcAft>
                <a:spcPts val="0"/>
              </a:spcAft>
              <a:buClr>
                <a:schemeClr val="dk2"/>
              </a:buClr>
              <a:buSzPts val="1730"/>
              <a:buFont typeface="Arial"/>
              <a:buChar char="●"/>
            </a:pPr>
            <a:r>
              <a:rPr lang="en-GB" sz="1730">
                <a:solidFill>
                  <a:schemeClr val="dk2"/>
                </a:solidFill>
              </a:rPr>
              <a:t>ABC-based </a:t>
            </a:r>
            <a:r>
              <a:rPr lang="en-GB" sz="1730" b="1">
                <a:solidFill>
                  <a:schemeClr val="dk2"/>
                </a:solidFill>
              </a:rPr>
              <a:t>demographic modelling</a:t>
            </a:r>
            <a:endParaRPr sz="1730" b="1">
              <a:solidFill>
                <a:schemeClr val="dk2"/>
              </a:solidFill>
            </a:endParaRPr>
          </a:p>
          <a:p>
            <a:pPr marL="457200" lvl="0" indent="-338455" algn="l" rtl="0">
              <a:lnSpc>
                <a:spcPct val="105000"/>
              </a:lnSpc>
              <a:spcBef>
                <a:spcPts val="0"/>
              </a:spcBef>
              <a:spcAft>
                <a:spcPts val="0"/>
              </a:spcAft>
              <a:buClr>
                <a:schemeClr val="dk2"/>
              </a:buClr>
              <a:buSzPts val="1730"/>
              <a:buFont typeface="Open Sans"/>
              <a:buChar char="●"/>
            </a:pPr>
            <a:r>
              <a:rPr lang="en-GB" sz="1730" b="1">
                <a:solidFill>
                  <a:schemeClr val="dk2"/>
                </a:solidFill>
              </a:rPr>
              <a:t>Statistical methods</a:t>
            </a:r>
            <a:r>
              <a:rPr lang="en-GB" sz="1730">
                <a:solidFill>
                  <a:schemeClr val="dk2"/>
                </a:solidFill>
              </a:rPr>
              <a:t>: hmmix, S*</a:t>
            </a:r>
            <a:endParaRPr sz="1730">
              <a:solidFill>
                <a:schemeClr val="dk2"/>
              </a:solidFill>
            </a:endParaRPr>
          </a:p>
          <a:p>
            <a:pPr marL="457200" lvl="0" indent="-338455" algn="l" rtl="0">
              <a:lnSpc>
                <a:spcPct val="105000"/>
              </a:lnSpc>
              <a:spcBef>
                <a:spcPts val="0"/>
              </a:spcBef>
              <a:spcAft>
                <a:spcPts val="0"/>
              </a:spcAft>
              <a:buClr>
                <a:schemeClr val="dk2"/>
              </a:buClr>
              <a:buSzPts val="1730"/>
              <a:buFont typeface="Open Sans"/>
              <a:buChar char="●"/>
            </a:pPr>
            <a:r>
              <a:rPr lang="en-GB" sz="1730">
                <a:solidFill>
                  <a:schemeClr val="dk2"/>
                </a:solidFill>
              </a:rPr>
              <a:t>Functional impact for bitter taste perception - </a:t>
            </a:r>
            <a:r>
              <a:rPr lang="en-GB" sz="1730" b="1">
                <a:solidFill>
                  <a:schemeClr val="dk2"/>
                </a:solidFill>
              </a:rPr>
              <a:t>adaptive introgression</a:t>
            </a:r>
            <a:endParaRPr sz="1730" b="1">
              <a:solidFill>
                <a:schemeClr val="dk2"/>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sp>
        <p:nvSpPr>
          <p:cNvPr id="1177" name="Google Shape;1177;g3f68fc15589_0_75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Impact of gene flow on the genome</a:t>
            </a:r>
            <a:endParaRPr/>
          </a:p>
        </p:txBody>
      </p:sp>
      <p:sp>
        <p:nvSpPr>
          <p:cNvPr id="1178" name="Google Shape;1178;g3f68fc15589_0_75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pic>
        <p:nvPicPr>
          <p:cNvPr id="1183" name="Google Shape;1183;g3f68fc15589_0_839"/>
          <p:cNvPicPr preferRelativeResize="0"/>
          <p:nvPr/>
        </p:nvPicPr>
        <p:blipFill rotWithShape="1">
          <a:blip r:embed="rId3">
            <a:alphaModFix/>
          </a:blip>
          <a:srcRect/>
          <a:stretch/>
        </p:blipFill>
        <p:spPr>
          <a:xfrm>
            <a:off x="0" y="615925"/>
            <a:ext cx="6764245" cy="1301279"/>
          </a:xfrm>
          <a:prstGeom prst="rect">
            <a:avLst/>
          </a:prstGeom>
          <a:noFill/>
          <a:ln>
            <a:noFill/>
          </a:ln>
        </p:spPr>
      </p:pic>
      <p:sp>
        <p:nvSpPr>
          <p:cNvPr id="1184" name="Google Shape;1184;g3f68fc15589_0_839"/>
          <p:cNvSpPr txBox="1"/>
          <p:nvPr/>
        </p:nvSpPr>
        <p:spPr>
          <a:xfrm>
            <a:off x="4449775" y="382100"/>
            <a:ext cx="46338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800" b="1" i="0" u="none" strike="noStrike" cap="none">
                <a:solidFill>
                  <a:srgbClr val="45818E"/>
                </a:solidFill>
              </a:rPr>
              <a:t>First generation after admixture</a:t>
            </a:r>
            <a:endParaRPr sz="1800" b="1" i="0" u="none" strike="noStrike" cap="none">
              <a:solidFill>
                <a:srgbClr val="45818E"/>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88"/>
        <p:cNvGrpSpPr/>
        <p:nvPr/>
      </p:nvGrpSpPr>
      <p:grpSpPr>
        <a:xfrm>
          <a:off x="0" y="0"/>
          <a:ext cx="0" cy="0"/>
          <a:chOff x="0" y="0"/>
          <a:chExt cx="0" cy="0"/>
        </a:xfrm>
      </p:grpSpPr>
      <p:pic>
        <p:nvPicPr>
          <p:cNvPr id="1189" name="Google Shape;1189;g3f68fc15589_0_844"/>
          <p:cNvPicPr preferRelativeResize="0"/>
          <p:nvPr/>
        </p:nvPicPr>
        <p:blipFill rotWithShape="1">
          <a:blip r:embed="rId3">
            <a:alphaModFix/>
          </a:blip>
          <a:srcRect/>
          <a:stretch/>
        </p:blipFill>
        <p:spPr>
          <a:xfrm>
            <a:off x="33796" y="631372"/>
            <a:ext cx="6806030" cy="4046612"/>
          </a:xfrm>
          <a:prstGeom prst="rect">
            <a:avLst/>
          </a:prstGeom>
          <a:noFill/>
          <a:ln>
            <a:noFill/>
          </a:ln>
        </p:spPr>
      </p:pic>
      <p:sp>
        <p:nvSpPr>
          <p:cNvPr id="1190" name="Google Shape;1190;g3f68fc15589_0_844"/>
          <p:cNvSpPr txBox="1"/>
          <p:nvPr/>
        </p:nvSpPr>
        <p:spPr>
          <a:xfrm>
            <a:off x="4731425" y="4081000"/>
            <a:ext cx="4294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800" b="1">
                <a:solidFill>
                  <a:srgbClr val="45818E"/>
                </a:solidFill>
              </a:rPr>
              <a:t>I</a:t>
            </a:r>
            <a:r>
              <a:rPr lang="en-GB" sz="1800" b="1" i="0" u="none" strike="noStrike" cap="none">
                <a:solidFill>
                  <a:srgbClr val="45818E"/>
                </a:solidFill>
              </a:rPr>
              <a:t>mpact of recombination + drift</a:t>
            </a:r>
            <a:endParaRPr sz="1800" b="1" i="0" u="none" strike="noStrike" cap="none">
              <a:solidFill>
                <a:srgbClr val="45818E"/>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pic>
        <p:nvPicPr>
          <p:cNvPr id="1195" name="Google Shape;1195;g3f68fc15589_0_860"/>
          <p:cNvPicPr preferRelativeResize="0"/>
          <p:nvPr/>
        </p:nvPicPr>
        <p:blipFill rotWithShape="1">
          <a:blip r:embed="rId3">
            <a:alphaModFix/>
          </a:blip>
          <a:srcRect/>
          <a:stretch/>
        </p:blipFill>
        <p:spPr>
          <a:xfrm>
            <a:off x="35496" y="1113588"/>
            <a:ext cx="6798443" cy="285205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pic>
        <p:nvPicPr>
          <p:cNvPr id="1200" name="Google Shape;1200;g3f68fc15589_0_864"/>
          <p:cNvPicPr preferRelativeResize="0"/>
          <p:nvPr/>
        </p:nvPicPr>
        <p:blipFill rotWithShape="1">
          <a:blip r:embed="rId3">
            <a:alphaModFix/>
          </a:blip>
          <a:srcRect/>
          <a:stretch/>
        </p:blipFill>
        <p:spPr>
          <a:xfrm>
            <a:off x="35496" y="1221600"/>
            <a:ext cx="6858003" cy="261182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pic>
        <p:nvPicPr>
          <p:cNvPr id="1205" name="Google Shape;1205;g3f68fc15589_0_868"/>
          <p:cNvPicPr preferRelativeResize="0"/>
          <p:nvPr/>
        </p:nvPicPr>
        <p:blipFill rotWithShape="1">
          <a:blip r:embed="rId3">
            <a:alphaModFix/>
          </a:blip>
          <a:srcRect/>
          <a:stretch/>
        </p:blipFill>
        <p:spPr>
          <a:xfrm>
            <a:off x="35496" y="1221600"/>
            <a:ext cx="6858003" cy="2611829"/>
          </a:xfrm>
          <a:prstGeom prst="rect">
            <a:avLst/>
          </a:prstGeom>
          <a:noFill/>
          <a:ln>
            <a:noFill/>
          </a:ln>
        </p:spPr>
      </p:pic>
      <p:sp>
        <p:nvSpPr>
          <p:cNvPr id="1206" name="Google Shape;1206;g3f68fc15589_0_868"/>
          <p:cNvSpPr txBox="1"/>
          <p:nvPr/>
        </p:nvSpPr>
        <p:spPr>
          <a:xfrm>
            <a:off x="225150" y="4226425"/>
            <a:ext cx="2685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Adaptive introgression</a:t>
            </a:r>
            <a:endParaRPr sz="1400" b="1" i="0" u="none" strike="noStrike" cap="none">
              <a:solidFill>
                <a:srgbClr val="45818E"/>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Candidate loci</a:t>
            </a:r>
            <a:endParaRPr sz="1400" b="1" i="0" u="none" strike="noStrike" cap="none">
              <a:solidFill>
                <a:srgbClr val="45818E"/>
              </a:solidFill>
              <a:latin typeface="Open Sans"/>
              <a:ea typeface="Open Sans"/>
              <a:cs typeface="Open Sans"/>
              <a:sym typeface="Open Sans"/>
            </a:endParaRPr>
          </a:p>
        </p:txBody>
      </p:sp>
      <p:sp>
        <p:nvSpPr>
          <p:cNvPr id="1207" name="Google Shape;1207;g3f68fc15589_0_868"/>
          <p:cNvSpPr txBox="1"/>
          <p:nvPr/>
        </p:nvSpPr>
        <p:spPr>
          <a:xfrm>
            <a:off x="5937500" y="4226425"/>
            <a:ext cx="21759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Introgression deserts</a:t>
            </a:r>
            <a:endParaRPr sz="1400" b="1" i="0" u="none" strike="noStrike" cap="none">
              <a:solidFill>
                <a:srgbClr val="45818E"/>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Candidate loci</a:t>
            </a:r>
            <a:endParaRPr sz="1400" b="1" i="0" u="none" strike="noStrike" cap="none">
              <a:solidFill>
                <a:srgbClr val="45818E"/>
              </a:solidFill>
              <a:latin typeface="Open Sans"/>
              <a:ea typeface="Open Sans"/>
              <a:cs typeface="Open Sans"/>
              <a:sym typeface="Open Sans"/>
            </a:endParaRPr>
          </a:p>
        </p:txBody>
      </p:sp>
      <p:sp>
        <p:nvSpPr>
          <p:cNvPr id="1208" name="Google Shape;1208;g3f68fc15589_0_868"/>
          <p:cNvSpPr txBox="1"/>
          <p:nvPr/>
        </p:nvSpPr>
        <p:spPr>
          <a:xfrm>
            <a:off x="3081325" y="4226425"/>
            <a:ext cx="268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Genetic variation</a:t>
            </a:r>
            <a:endParaRPr sz="1400" b="1" i="0" u="none" strike="noStrike" cap="none">
              <a:solidFill>
                <a:srgbClr val="45818E"/>
              </a:solidFill>
              <a:latin typeface="Open Sans"/>
              <a:ea typeface="Open Sans"/>
              <a:cs typeface="Open Sans"/>
              <a:sym typeface="Open Sans"/>
            </a:endParaRPr>
          </a:p>
        </p:txBody>
      </p:sp>
      <p:cxnSp>
        <p:nvCxnSpPr>
          <p:cNvPr id="1209" name="Google Shape;1209;g3f68fc15589_0_868"/>
          <p:cNvCxnSpPr/>
          <p:nvPr/>
        </p:nvCxnSpPr>
        <p:spPr>
          <a:xfrm flipH="1">
            <a:off x="1032775" y="3251425"/>
            <a:ext cx="473700" cy="1010700"/>
          </a:xfrm>
          <a:prstGeom prst="straightConnector1">
            <a:avLst/>
          </a:prstGeom>
          <a:noFill/>
          <a:ln w="19050" cap="flat" cmpd="sng">
            <a:solidFill>
              <a:schemeClr val="accent1"/>
            </a:solidFill>
            <a:prstDash val="solid"/>
            <a:round/>
            <a:headEnd type="none" w="sm" len="sm"/>
            <a:tailEnd type="triangle" w="med" len="med"/>
          </a:ln>
        </p:spPr>
      </p:cxnSp>
      <p:cxnSp>
        <p:nvCxnSpPr>
          <p:cNvPr id="1210" name="Google Shape;1210;g3f68fc15589_0_868"/>
          <p:cNvCxnSpPr/>
          <p:nvPr/>
        </p:nvCxnSpPr>
        <p:spPr>
          <a:xfrm>
            <a:off x="5766625" y="3347500"/>
            <a:ext cx="654900" cy="933600"/>
          </a:xfrm>
          <a:prstGeom prst="straightConnector1">
            <a:avLst/>
          </a:prstGeom>
          <a:noFill/>
          <a:ln w="19050" cap="flat" cmpd="sng">
            <a:solidFill>
              <a:schemeClr val="accent1"/>
            </a:solidFill>
            <a:prstDash val="solid"/>
            <a:round/>
            <a:headEnd type="none" w="sm" len="sm"/>
            <a:tailEnd type="triangle" w="med" len="med"/>
          </a:ln>
        </p:spPr>
      </p:cxnSp>
      <p:cxnSp>
        <p:nvCxnSpPr>
          <p:cNvPr id="1211" name="Google Shape;1211;g3f68fc15589_0_868"/>
          <p:cNvCxnSpPr/>
          <p:nvPr/>
        </p:nvCxnSpPr>
        <p:spPr>
          <a:xfrm>
            <a:off x="3621088" y="3956425"/>
            <a:ext cx="190500" cy="381000"/>
          </a:xfrm>
          <a:prstGeom prst="straightConnector1">
            <a:avLst/>
          </a:prstGeom>
          <a:noFill/>
          <a:ln w="19050" cap="flat" cmpd="sng">
            <a:solidFill>
              <a:schemeClr val="accent1"/>
            </a:solidFill>
            <a:prstDash val="solid"/>
            <a:round/>
            <a:headEnd type="none" w="sm" len="sm"/>
            <a:tailEnd type="triangle" w="med" len="med"/>
          </a:ln>
        </p:spPr>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pic>
        <p:nvPicPr>
          <p:cNvPr id="1216" name="Google Shape;1216;g3f68fc15589_0_884"/>
          <p:cNvPicPr preferRelativeResize="0"/>
          <p:nvPr/>
        </p:nvPicPr>
        <p:blipFill rotWithShape="1">
          <a:blip r:embed="rId3">
            <a:alphaModFix/>
          </a:blip>
          <a:srcRect/>
          <a:stretch/>
        </p:blipFill>
        <p:spPr>
          <a:xfrm>
            <a:off x="35496" y="1221600"/>
            <a:ext cx="6858003" cy="2611829"/>
          </a:xfrm>
          <a:prstGeom prst="rect">
            <a:avLst/>
          </a:prstGeom>
          <a:noFill/>
          <a:ln>
            <a:noFill/>
          </a:ln>
        </p:spPr>
      </p:pic>
      <p:sp>
        <p:nvSpPr>
          <p:cNvPr id="1217" name="Google Shape;1217;g3f68fc15589_0_884"/>
          <p:cNvSpPr txBox="1"/>
          <p:nvPr/>
        </p:nvSpPr>
        <p:spPr>
          <a:xfrm>
            <a:off x="225150" y="4226425"/>
            <a:ext cx="2685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Adaptive introgression</a:t>
            </a:r>
            <a:endParaRPr sz="1400" b="1" i="0" u="none" strike="noStrike" cap="none">
              <a:solidFill>
                <a:srgbClr val="45818E"/>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Candidate loci</a:t>
            </a:r>
            <a:endParaRPr sz="1400" b="1" i="0" u="none" strike="noStrike" cap="none">
              <a:solidFill>
                <a:srgbClr val="45818E"/>
              </a:solidFill>
              <a:latin typeface="Open Sans"/>
              <a:ea typeface="Open Sans"/>
              <a:cs typeface="Open Sans"/>
              <a:sym typeface="Open Sans"/>
            </a:endParaRPr>
          </a:p>
        </p:txBody>
      </p:sp>
      <p:sp>
        <p:nvSpPr>
          <p:cNvPr id="1218" name="Google Shape;1218;g3f68fc15589_0_884"/>
          <p:cNvSpPr txBox="1"/>
          <p:nvPr/>
        </p:nvSpPr>
        <p:spPr>
          <a:xfrm>
            <a:off x="5937500" y="4226425"/>
            <a:ext cx="21759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Introgression deserts</a:t>
            </a:r>
            <a:endParaRPr sz="1400" b="1" i="0" u="none" strike="noStrike" cap="none">
              <a:solidFill>
                <a:srgbClr val="45818E"/>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Candidate loci</a:t>
            </a:r>
            <a:endParaRPr sz="1400" b="1" i="0" u="none" strike="noStrike" cap="none">
              <a:solidFill>
                <a:srgbClr val="45818E"/>
              </a:solidFill>
              <a:latin typeface="Open Sans"/>
              <a:ea typeface="Open Sans"/>
              <a:cs typeface="Open Sans"/>
              <a:sym typeface="Open Sans"/>
            </a:endParaRPr>
          </a:p>
        </p:txBody>
      </p:sp>
      <p:sp>
        <p:nvSpPr>
          <p:cNvPr id="1219" name="Google Shape;1219;g3f68fc15589_0_884"/>
          <p:cNvSpPr txBox="1"/>
          <p:nvPr/>
        </p:nvSpPr>
        <p:spPr>
          <a:xfrm>
            <a:off x="3081325" y="4226425"/>
            <a:ext cx="268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45818E"/>
                </a:solidFill>
                <a:latin typeface="Open Sans"/>
                <a:ea typeface="Open Sans"/>
                <a:cs typeface="Open Sans"/>
                <a:sym typeface="Open Sans"/>
              </a:rPr>
              <a:t>Genetic variation</a:t>
            </a:r>
            <a:endParaRPr sz="1400" b="1" i="0" u="none" strike="noStrike" cap="none">
              <a:solidFill>
                <a:srgbClr val="45818E"/>
              </a:solidFill>
              <a:latin typeface="Open Sans"/>
              <a:ea typeface="Open Sans"/>
              <a:cs typeface="Open Sans"/>
              <a:sym typeface="Open Sans"/>
            </a:endParaRPr>
          </a:p>
        </p:txBody>
      </p:sp>
      <p:cxnSp>
        <p:nvCxnSpPr>
          <p:cNvPr id="1220" name="Google Shape;1220;g3f68fc15589_0_884"/>
          <p:cNvCxnSpPr/>
          <p:nvPr/>
        </p:nvCxnSpPr>
        <p:spPr>
          <a:xfrm flipH="1">
            <a:off x="1032775" y="3251425"/>
            <a:ext cx="473700" cy="1010700"/>
          </a:xfrm>
          <a:prstGeom prst="straightConnector1">
            <a:avLst/>
          </a:prstGeom>
          <a:noFill/>
          <a:ln w="19050" cap="flat" cmpd="sng">
            <a:solidFill>
              <a:schemeClr val="accent1"/>
            </a:solidFill>
            <a:prstDash val="solid"/>
            <a:round/>
            <a:headEnd type="none" w="sm" len="sm"/>
            <a:tailEnd type="triangle" w="med" len="med"/>
          </a:ln>
        </p:spPr>
      </p:cxnSp>
      <p:cxnSp>
        <p:nvCxnSpPr>
          <p:cNvPr id="1221" name="Google Shape;1221;g3f68fc15589_0_884"/>
          <p:cNvCxnSpPr/>
          <p:nvPr/>
        </p:nvCxnSpPr>
        <p:spPr>
          <a:xfrm>
            <a:off x="5766625" y="3347500"/>
            <a:ext cx="654900" cy="933600"/>
          </a:xfrm>
          <a:prstGeom prst="straightConnector1">
            <a:avLst/>
          </a:prstGeom>
          <a:noFill/>
          <a:ln w="19050" cap="flat" cmpd="sng">
            <a:solidFill>
              <a:schemeClr val="accent1"/>
            </a:solidFill>
            <a:prstDash val="solid"/>
            <a:round/>
            <a:headEnd type="none" w="sm" len="sm"/>
            <a:tailEnd type="triangle" w="med" len="med"/>
          </a:ln>
        </p:spPr>
      </p:cxnSp>
      <p:cxnSp>
        <p:nvCxnSpPr>
          <p:cNvPr id="1222" name="Google Shape;1222;g3f68fc15589_0_884"/>
          <p:cNvCxnSpPr/>
          <p:nvPr/>
        </p:nvCxnSpPr>
        <p:spPr>
          <a:xfrm>
            <a:off x="3621088" y="3956425"/>
            <a:ext cx="190500" cy="381000"/>
          </a:xfrm>
          <a:prstGeom prst="straightConnector1">
            <a:avLst/>
          </a:prstGeom>
          <a:noFill/>
          <a:ln w="19050" cap="flat" cmpd="sng">
            <a:solidFill>
              <a:schemeClr val="accent1"/>
            </a:solidFill>
            <a:prstDash val="solid"/>
            <a:round/>
            <a:headEnd type="none" w="sm" len="sm"/>
            <a:tailEnd type="triangle" w="med" len="med"/>
          </a:ln>
        </p:spPr>
      </p:cxnSp>
      <p:sp>
        <p:nvSpPr>
          <p:cNvPr id="1223" name="Google Shape;1223;g3f68fc15589_0_884"/>
          <p:cNvSpPr/>
          <p:nvPr/>
        </p:nvSpPr>
        <p:spPr>
          <a:xfrm>
            <a:off x="104525" y="4146925"/>
            <a:ext cx="8282100" cy="7746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24" name="Google Shape;1224;g3f68fc15589_0_884"/>
          <p:cNvSpPr txBox="1"/>
          <p:nvPr/>
        </p:nvSpPr>
        <p:spPr>
          <a:xfrm>
            <a:off x="6305375" y="3646125"/>
            <a:ext cx="3000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b="1">
                <a:solidFill>
                  <a:srgbClr val="2A2A2A"/>
                </a:solidFill>
              </a:rPr>
              <a:t>Functionally relevant</a:t>
            </a:r>
            <a:endParaRPr sz="1200">
              <a:solidFill>
                <a:srgbClr val="2A2A2A"/>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p60"/>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Adaptive introgression in humans</a:t>
            </a:r>
            <a:endParaRPr/>
          </a:p>
        </p:txBody>
      </p:sp>
      <p:pic>
        <p:nvPicPr>
          <p:cNvPr id="1230" name="Google Shape;1230;p60"/>
          <p:cNvPicPr preferRelativeResize="0"/>
          <p:nvPr/>
        </p:nvPicPr>
        <p:blipFill rotWithShape="1">
          <a:blip r:embed="rId3">
            <a:alphaModFix/>
          </a:blip>
          <a:srcRect/>
          <a:stretch/>
        </p:blipFill>
        <p:spPr>
          <a:xfrm>
            <a:off x="165500" y="1288281"/>
            <a:ext cx="5307075" cy="3341269"/>
          </a:xfrm>
          <a:prstGeom prst="rect">
            <a:avLst/>
          </a:prstGeom>
          <a:noFill/>
          <a:ln>
            <a:noFill/>
          </a:ln>
        </p:spPr>
      </p:pic>
      <p:sp>
        <p:nvSpPr>
          <p:cNvPr id="1231" name="Google Shape;1231;p60"/>
          <p:cNvSpPr txBox="1"/>
          <p:nvPr/>
        </p:nvSpPr>
        <p:spPr>
          <a:xfrm>
            <a:off x="6615050" y="456902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Huerta-Sanchez et al. 2014</a:t>
            </a:r>
            <a:endParaRPr sz="1200" b="0" i="0" u="none" strike="noStrike" cap="none">
              <a:solidFill>
                <a:srgbClr val="45818E"/>
              </a:solidFill>
              <a:latin typeface="Open Sans"/>
              <a:ea typeface="Open Sans"/>
              <a:cs typeface="Open Sans"/>
              <a:sym typeface="Open Sans"/>
            </a:endParaRPr>
          </a:p>
        </p:txBody>
      </p:sp>
      <p:sp>
        <p:nvSpPr>
          <p:cNvPr id="1232" name="Google Shape;1232;p60"/>
          <p:cNvSpPr txBox="1">
            <a:spLocks noGrp="1"/>
          </p:cNvSpPr>
          <p:nvPr>
            <p:ph type="body" idx="1"/>
          </p:nvPr>
        </p:nvSpPr>
        <p:spPr>
          <a:xfrm>
            <a:off x="4786275" y="1152425"/>
            <a:ext cx="4099800" cy="33027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Font typeface="Arial"/>
              <a:buChar char="●"/>
            </a:pPr>
            <a:r>
              <a:rPr lang="en-GB">
                <a:latin typeface="Arial"/>
                <a:ea typeface="Arial"/>
                <a:cs typeface="Arial"/>
                <a:sym typeface="Arial"/>
              </a:rPr>
              <a:t>Haplotype networks from pairwise differences at </a:t>
            </a:r>
            <a:r>
              <a:rPr lang="en-GB" b="1" i="1">
                <a:latin typeface="Arial"/>
                <a:ea typeface="Arial"/>
                <a:cs typeface="Arial"/>
                <a:sym typeface="Arial"/>
              </a:rPr>
              <a:t>EPAS1</a:t>
            </a:r>
            <a:r>
              <a:rPr lang="en-GB" i="1">
                <a:latin typeface="Arial"/>
                <a:ea typeface="Arial"/>
                <a:cs typeface="Arial"/>
                <a:sym typeface="Arial"/>
              </a:rPr>
              <a:t> </a:t>
            </a:r>
            <a:endParaRPr i="1">
              <a:latin typeface="Arial"/>
              <a:ea typeface="Arial"/>
              <a:cs typeface="Arial"/>
              <a:sym typeface="Arial"/>
            </a:endParaRPr>
          </a:p>
          <a:p>
            <a:pPr marL="457200" lvl="0" indent="-342900" algn="l" rtl="0">
              <a:spcBef>
                <a:spcPts val="0"/>
              </a:spcBef>
              <a:spcAft>
                <a:spcPts val="0"/>
              </a:spcAft>
              <a:buSzPts val="1800"/>
              <a:buFont typeface="Arial"/>
              <a:buChar char="●"/>
            </a:pPr>
            <a:r>
              <a:rPr lang="en-GB">
                <a:latin typeface="Arial"/>
                <a:ea typeface="Arial"/>
                <a:cs typeface="Arial"/>
                <a:sym typeface="Arial"/>
              </a:rPr>
              <a:t>Tibetan haplotype more similar to Denisovan</a:t>
            </a:r>
            <a:endParaRPr>
              <a:latin typeface="Arial"/>
              <a:ea typeface="Arial"/>
              <a:cs typeface="Arial"/>
              <a:sym typeface="Arial"/>
            </a:endParaRPr>
          </a:p>
          <a:p>
            <a:pPr marL="457200" lvl="0" indent="-342900" algn="l" rtl="0">
              <a:spcBef>
                <a:spcPts val="0"/>
              </a:spcBef>
              <a:spcAft>
                <a:spcPts val="0"/>
              </a:spcAft>
              <a:buSzPts val="1800"/>
              <a:buFont typeface="Arial"/>
              <a:buChar char="●"/>
            </a:pPr>
            <a:r>
              <a:rPr lang="en-GB">
                <a:latin typeface="Arial"/>
                <a:ea typeface="Arial"/>
                <a:cs typeface="Arial"/>
                <a:sym typeface="Arial"/>
              </a:rPr>
              <a:t>Divergent to haplotypes of other modern humans</a:t>
            </a:r>
            <a:endParaRPr i="1">
              <a:latin typeface="Arial"/>
              <a:ea typeface="Arial"/>
              <a:cs typeface="Arial"/>
              <a:sym typeface="Arial"/>
            </a:endParaRPr>
          </a:p>
        </p:txBody>
      </p:sp>
      <p:sp>
        <p:nvSpPr>
          <p:cNvPr id="1233" name="Google Shape;1233;p60"/>
          <p:cNvSpPr/>
          <p:nvPr/>
        </p:nvSpPr>
        <p:spPr>
          <a:xfrm>
            <a:off x="4808975" y="1916625"/>
            <a:ext cx="4146900" cy="1312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1238" name="Google Shape;1238;g3f68fc15589_0_906"/>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Adaptive introgression in humans</a:t>
            </a:r>
            <a:endParaRPr/>
          </a:p>
        </p:txBody>
      </p:sp>
      <p:pic>
        <p:nvPicPr>
          <p:cNvPr id="1239" name="Google Shape;1239;g3f68fc15589_0_906"/>
          <p:cNvPicPr preferRelativeResize="0"/>
          <p:nvPr/>
        </p:nvPicPr>
        <p:blipFill rotWithShape="1">
          <a:blip r:embed="rId3">
            <a:alphaModFix/>
          </a:blip>
          <a:srcRect/>
          <a:stretch/>
        </p:blipFill>
        <p:spPr>
          <a:xfrm>
            <a:off x="165500" y="1288281"/>
            <a:ext cx="5307075" cy="3341269"/>
          </a:xfrm>
          <a:prstGeom prst="rect">
            <a:avLst/>
          </a:prstGeom>
          <a:noFill/>
          <a:ln>
            <a:noFill/>
          </a:ln>
        </p:spPr>
      </p:pic>
      <p:sp>
        <p:nvSpPr>
          <p:cNvPr id="1240" name="Google Shape;1240;g3f68fc15589_0_906"/>
          <p:cNvSpPr txBox="1"/>
          <p:nvPr/>
        </p:nvSpPr>
        <p:spPr>
          <a:xfrm>
            <a:off x="6615050" y="456902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Huerta-Sanchez et al. 2014</a:t>
            </a:r>
            <a:endParaRPr sz="1200" b="0" i="0" u="none" strike="noStrike" cap="none">
              <a:solidFill>
                <a:srgbClr val="45818E"/>
              </a:solidFill>
              <a:latin typeface="Open Sans"/>
              <a:ea typeface="Open Sans"/>
              <a:cs typeface="Open Sans"/>
              <a:sym typeface="Open Sans"/>
            </a:endParaRPr>
          </a:p>
        </p:txBody>
      </p:sp>
      <p:sp>
        <p:nvSpPr>
          <p:cNvPr id="1241" name="Google Shape;1241;g3f68fc15589_0_906"/>
          <p:cNvSpPr txBox="1">
            <a:spLocks noGrp="1"/>
          </p:cNvSpPr>
          <p:nvPr>
            <p:ph type="body" idx="1"/>
          </p:nvPr>
        </p:nvSpPr>
        <p:spPr>
          <a:xfrm>
            <a:off x="4786275" y="1152425"/>
            <a:ext cx="4099800" cy="33027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Font typeface="Arial"/>
              <a:buChar char="●"/>
            </a:pPr>
            <a:r>
              <a:rPr lang="en-GB">
                <a:latin typeface="Arial"/>
                <a:ea typeface="Arial"/>
                <a:cs typeface="Arial"/>
                <a:sym typeface="Arial"/>
              </a:rPr>
              <a:t>Haplotype networks from pairwise differences at </a:t>
            </a:r>
            <a:r>
              <a:rPr lang="en-GB" b="1" i="1">
                <a:latin typeface="Arial"/>
                <a:ea typeface="Arial"/>
                <a:cs typeface="Arial"/>
                <a:sym typeface="Arial"/>
              </a:rPr>
              <a:t>EPAS1</a:t>
            </a:r>
            <a:r>
              <a:rPr lang="en-GB" i="1">
                <a:latin typeface="Arial"/>
                <a:ea typeface="Arial"/>
                <a:cs typeface="Arial"/>
                <a:sym typeface="Arial"/>
              </a:rPr>
              <a:t> </a:t>
            </a:r>
            <a:endParaRPr i="1">
              <a:latin typeface="Arial"/>
              <a:ea typeface="Arial"/>
              <a:cs typeface="Arial"/>
              <a:sym typeface="Arial"/>
            </a:endParaRPr>
          </a:p>
          <a:p>
            <a:pPr marL="457200" lvl="0" indent="0" algn="l" rtl="0">
              <a:lnSpc>
                <a:spcPct val="115000"/>
              </a:lnSpc>
              <a:spcBef>
                <a:spcPts val="0"/>
              </a:spcBef>
              <a:spcAft>
                <a:spcPts val="0"/>
              </a:spcAft>
              <a:buNone/>
            </a:pPr>
            <a:endParaRPr i="1">
              <a:latin typeface="Arial"/>
              <a:ea typeface="Arial"/>
              <a:cs typeface="Arial"/>
              <a:sym typeface="Arial"/>
            </a:endParaRPr>
          </a:p>
          <a:p>
            <a:pPr marL="457200" lvl="0" indent="-342900" algn="l" rtl="0">
              <a:spcBef>
                <a:spcPts val="0"/>
              </a:spcBef>
              <a:spcAft>
                <a:spcPts val="0"/>
              </a:spcAft>
              <a:buSzPts val="1800"/>
              <a:buFont typeface="Arial"/>
              <a:buChar char="●"/>
            </a:pPr>
            <a:r>
              <a:rPr lang="en-GB">
                <a:highlight>
                  <a:srgbClr val="EAD1DC"/>
                </a:highlight>
                <a:latin typeface="Arial"/>
                <a:ea typeface="Arial"/>
                <a:cs typeface="Arial"/>
                <a:sym typeface="Arial"/>
              </a:rPr>
              <a:t>Pink = Tibetan haplotype</a:t>
            </a:r>
            <a:r>
              <a:rPr lang="en-GB">
                <a:latin typeface="Arial"/>
                <a:ea typeface="Arial"/>
                <a:cs typeface="Arial"/>
                <a:sym typeface="Arial"/>
              </a:rPr>
              <a:t> is </a:t>
            </a:r>
            <a:r>
              <a:rPr lang="en-GB" b="1">
                <a:latin typeface="Arial"/>
                <a:ea typeface="Arial"/>
                <a:cs typeface="Arial"/>
                <a:sym typeface="Arial"/>
              </a:rPr>
              <a:t>more similar</a:t>
            </a:r>
            <a:r>
              <a:rPr lang="en-GB">
                <a:latin typeface="Arial"/>
                <a:ea typeface="Arial"/>
                <a:cs typeface="Arial"/>
                <a:sym typeface="Arial"/>
              </a:rPr>
              <a:t> to </a:t>
            </a:r>
            <a:r>
              <a:rPr lang="en-GB" b="1">
                <a:highlight>
                  <a:srgbClr val="D9EAD3"/>
                </a:highlight>
                <a:latin typeface="Arial"/>
                <a:ea typeface="Arial"/>
                <a:cs typeface="Arial"/>
                <a:sym typeface="Arial"/>
              </a:rPr>
              <a:t>Denisovan</a:t>
            </a:r>
            <a:r>
              <a:rPr lang="en-GB">
                <a:highlight>
                  <a:srgbClr val="D9EAD3"/>
                </a:highlight>
                <a:latin typeface="Arial"/>
                <a:ea typeface="Arial"/>
                <a:cs typeface="Arial"/>
                <a:sym typeface="Arial"/>
              </a:rPr>
              <a:t> (green)</a:t>
            </a:r>
            <a:r>
              <a:rPr lang="en-GB">
                <a:latin typeface="Arial"/>
                <a:ea typeface="Arial"/>
                <a:cs typeface="Arial"/>
                <a:sym typeface="Arial"/>
              </a:rPr>
              <a:t> &amp; divergent to haplotypes of other modern humans</a:t>
            </a:r>
            <a:endParaRPr i="1">
              <a:latin typeface="Arial"/>
              <a:ea typeface="Arial"/>
              <a:cs typeface="Arial"/>
              <a:sym typeface="Arial"/>
            </a:endParaRPr>
          </a:p>
        </p:txBody>
      </p:sp>
      <p:sp>
        <p:nvSpPr>
          <p:cNvPr id="1242" name="Google Shape;1242;g3f68fc15589_0_906"/>
          <p:cNvSpPr/>
          <p:nvPr/>
        </p:nvSpPr>
        <p:spPr>
          <a:xfrm>
            <a:off x="4228150" y="3136350"/>
            <a:ext cx="1045500" cy="987300"/>
          </a:xfrm>
          <a:prstGeom prst="roundRect">
            <a:avLst>
              <a:gd name="adj" fmla="val 16667"/>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43" name="Google Shape;1243;g3f68fc15589_0_906"/>
          <p:cNvSpPr txBox="1"/>
          <p:nvPr/>
        </p:nvSpPr>
        <p:spPr>
          <a:xfrm>
            <a:off x="5800025" y="3548525"/>
            <a:ext cx="31581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100" b="1">
                <a:solidFill>
                  <a:srgbClr val="6FBE90"/>
                </a:solidFill>
                <a:latin typeface="PT Sans Narrow"/>
                <a:ea typeface="PT Sans Narrow"/>
                <a:cs typeface="PT Sans Narrow"/>
                <a:sym typeface="PT Sans Narrow"/>
              </a:rPr>
              <a:t>Altitude Adaptation</a:t>
            </a:r>
            <a:endParaRPr sz="9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247"/>
        <p:cNvGrpSpPr/>
        <p:nvPr/>
      </p:nvGrpSpPr>
      <p:grpSpPr>
        <a:xfrm>
          <a:off x="0" y="0"/>
          <a:ext cx="0" cy="0"/>
          <a:chOff x="0" y="0"/>
          <a:chExt cx="0" cy="0"/>
        </a:xfrm>
      </p:grpSpPr>
      <p:sp>
        <p:nvSpPr>
          <p:cNvPr id="1248" name="Google Shape;1248;p63"/>
          <p:cNvSpPr txBox="1">
            <a:spLocks noGrp="1"/>
          </p:cNvSpPr>
          <p:nvPr>
            <p:ph type="title"/>
          </p:nvPr>
        </p:nvSpPr>
        <p:spPr>
          <a:xfrm>
            <a:off x="311700" y="445025"/>
            <a:ext cx="88323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But archaic introgression may have been largely deleterious</a:t>
            </a:r>
            <a:endParaRPr/>
          </a:p>
        </p:txBody>
      </p:sp>
      <p:sp>
        <p:nvSpPr>
          <p:cNvPr id="1249" name="Google Shape;1249;p63"/>
          <p:cNvSpPr txBox="1">
            <a:spLocks noGrp="1"/>
          </p:cNvSpPr>
          <p:nvPr>
            <p:ph type="body" idx="1"/>
          </p:nvPr>
        </p:nvSpPr>
        <p:spPr>
          <a:xfrm>
            <a:off x="311700" y="1515150"/>
            <a:ext cx="8520600" cy="33027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Font typeface="Arial"/>
              <a:buChar char="●"/>
            </a:pPr>
            <a:r>
              <a:rPr lang="en-GB" b="1">
                <a:latin typeface="Arial"/>
                <a:ea typeface="Arial"/>
                <a:cs typeface="Arial"/>
                <a:sym typeface="Arial"/>
              </a:rPr>
              <a:t>Reduced Neandertal ancestry</a:t>
            </a:r>
            <a:r>
              <a:rPr lang="en-GB">
                <a:latin typeface="Arial"/>
                <a:ea typeface="Arial"/>
                <a:cs typeface="Arial"/>
                <a:sym typeface="Arial"/>
              </a:rPr>
              <a:t> in regions with </a:t>
            </a:r>
            <a:r>
              <a:rPr lang="en-GB" b="1">
                <a:latin typeface="Arial"/>
                <a:ea typeface="Arial"/>
                <a:cs typeface="Arial"/>
                <a:sym typeface="Arial"/>
              </a:rPr>
              <a:t>strong background selection </a:t>
            </a:r>
            <a:r>
              <a:rPr lang="en-GB">
                <a:latin typeface="Arial"/>
                <a:ea typeface="Arial"/>
                <a:cs typeface="Arial"/>
                <a:sym typeface="Arial"/>
              </a:rPr>
              <a:t>&amp; evolutionary conservation</a:t>
            </a:r>
            <a:endParaRPr>
              <a:latin typeface="Arial"/>
              <a:ea typeface="Arial"/>
              <a:cs typeface="Arial"/>
              <a:sym typeface="Arial"/>
            </a:endParaRPr>
          </a:p>
          <a:p>
            <a:pPr marL="457200" lvl="0" indent="-342900" algn="l" rtl="0">
              <a:lnSpc>
                <a:spcPct val="115000"/>
              </a:lnSpc>
              <a:spcBef>
                <a:spcPts val="0"/>
              </a:spcBef>
              <a:spcAft>
                <a:spcPts val="0"/>
              </a:spcAft>
              <a:buSzPts val="1800"/>
              <a:buFont typeface="Arial"/>
              <a:buChar char="●"/>
            </a:pPr>
            <a:r>
              <a:rPr lang="en-GB">
                <a:latin typeface="Arial"/>
                <a:ea typeface="Arial"/>
                <a:cs typeface="Arial"/>
                <a:sym typeface="Arial"/>
              </a:rPr>
              <a:t>Reduced in </a:t>
            </a:r>
            <a:r>
              <a:rPr lang="en-GB" b="1">
                <a:latin typeface="Arial"/>
                <a:ea typeface="Arial"/>
                <a:cs typeface="Arial"/>
                <a:sym typeface="Arial"/>
              </a:rPr>
              <a:t>genes</a:t>
            </a:r>
            <a:r>
              <a:rPr lang="en-GB">
                <a:latin typeface="Arial"/>
                <a:ea typeface="Arial"/>
                <a:cs typeface="Arial"/>
                <a:sym typeface="Arial"/>
              </a:rPr>
              <a:t> &amp; gene regulatory elements</a:t>
            </a:r>
            <a:endParaRPr>
              <a:latin typeface="Arial"/>
              <a:ea typeface="Arial"/>
              <a:cs typeface="Arial"/>
              <a:sym typeface="Arial"/>
            </a:endParaRPr>
          </a:p>
        </p:txBody>
      </p:sp>
      <p:pic>
        <p:nvPicPr>
          <p:cNvPr id="1250" name="Google Shape;1250;p63"/>
          <p:cNvPicPr preferRelativeResize="0"/>
          <p:nvPr/>
        </p:nvPicPr>
        <p:blipFill rotWithShape="1">
          <a:blip r:embed="rId3">
            <a:alphaModFix/>
          </a:blip>
          <a:srcRect/>
          <a:stretch/>
        </p:blipFill>
        <p:spPr>
          <a:xfrm>
            <a:off x="520001" y="2828453"/>
            <a:ext cx="4571999" cy="1285150"/>
          </a:xfrm>
          <a:prstGeom prst="rect">
            <a:avLst/>
          </a:prstGeom>
          <a:noFill/>
          <a:ln>
            <a:noFill/>
          </a:ln>
        </p:spPr>
      </p:pic>
      <p:pic>
        <p:nvPicPr>
          <p:cNvPr id="1251" name="Google Shape;1251;p63"/>
          <p:cNvPicPr preferRelativeResize="0"/>
          <p:nvPr/>
        </p:nvPicPr>
        <p:blipFill rotWithShape="1">
          <a:blip r:embed="rId4">
            <a:alphaModFix/>
          </a:blip>
          <a:srcRect/>
          <a:stretch/>
        </p:blipFill>
        <p:spPr>
          <a:xfrm>
            <a:off x="3194650" y="3761200"/>
            <a:ext cx="5764043" cy="877625"/>
          </a:xfrm>
          <a:prstGeom prst="rect">
            <a:avLst/>
          </a:prstGeom>
          <a:noFill/>
          <a:ln>
            <a:noFill/>
          </a:ln>
        </p:spPr>
      </p:pic>
      <p:sp>
        <p:nvSpPr>
          <p:cNvPr id="1252" name="Google Shape;1252;p63"/>
          <p:cNvSpPr/>
          <p:nvPr/>
        </p:nvSpPr>
        <p:spPr>
          <a:xfrm>
            <a:off x="7609625" y="4499425"/>
            <a:ext cx="1430400" cy="4221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64"/>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Introgression deserts</a:t>
            </a:r>
            <a:endParaRPr/>
          </a:p>
        </p:txBody>
      </p:sp>
      <p:sp>
        <p:nvSpPr>
          <p:cNvPr id="1258" name="Google Shape;1258;p64"/>
          <p:cNvSpPr txBox="1">
            <a:spLocks noGrp="1"/>
          </p:cNvSpPr>
          <p:nvPr>
            <p:ph type="body" idx="1"/>
          </p:nvPr>
        </p:nvSpPr>
        <p:spPr>
          <a:xfrm>
            <a:off x="311700" y="1266325"/>
            <a:ext cx="80751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GB">
                <a:latin typeface="Arial"/>
                <a:ea typeface="Arial"/>
                <a:cs typeface="Arial"/>
                <a:sym typeface="Arial"/>
              </a:rPr>
              <a:t>Regions &gt; 10Mb with </a:t>
            </a:r>
            <a:r>
              <a:rPr lang="en-GB" b="1">
                <a:latin typeface="Arial"/>
                <a:ea typeface="Arial"/>
                <a:cs typeface="Arial"/>
                <a:sym typeface="Arial"/>
              </a:rPr>
              <a:t>depleted archaic ancestry</a:t>
            </a:r>
            <a:endParaRPr b="1">
              <a:latin typeface="Arial"/>
              <a:ea typeface="Arial"/>
              <a:cs typeface="Arial"/>
              <a:sym typeface="Arial"/>
            </a:endParaRPr>
          </a:p>
          <a:p>
            <a:pPr marL="457200" lvl="0" indent="-342900" algn="l" rtl="0">
              <a:lnSpc>
                <a:spcPct val="115000"/>
              </a:lnSpc>
              <a:spcBef>
                <a:spcPts val="1200"/>
              </a:spcBef>
              <a:spcAft>
                <a:spcPts val="0"/>
              </a:spcAft>
              <a:buSzPts val="1800"/>
              <a:buFont typeface="Arial"/>
              <a:buChar char="●"/>
            </a:pPr>
            <a:r>
              <a:rPr lang="en-GB">
                <a:latin typeface="Arial"/>
                <a:ea typeface="Arial"/>
                <a:cs typeface="Arial"/>
                <a:sym typeface="Arial"/>
              </a:rPr>
              <a:t>In chromosome </a:t>
            </a:r>
            <a:r>
              <a:rPr lang="en-GB" b="1">
                <a:latin typeface="Arial"/>
                <a:ea typeface="Arial"/>
                <a:cs typeface="Arial"/>
                <a:sym typeface="Arial"/>
              </a:rPr>
              <a:t>X </a:t>
            </a:r>
            <a:endParaRPr b="1">
              <a:latin typeface="Arial"/>
              <a:ea typeface="Arial"/>
              <a:cs typeface="Arial"/>
              <a:sym typeface="Arial"/>
            </a:endParaRPr>
          </a:p>
          <a:p>
            <a:pPr marL="457200" lvl="0" indent="-342900" algn="l" rtl="0">
              <a:lnSpc>
                <a:spcPct val="115000"/>
              </a:lnSpc>
              <a:spcBef>
                <a:spcPts val="0"/>
              </a:spcBef>
              <a:spcAft>
                <a:spcPts val="0"/>
              </a:spcAft>
              <a:buSzPts val="1800"/>
              <a:buFont typeface="Arial"/>
              <a:buChar char="●"/>
            </a:pPr>
            <a:r>
              <a:rPr lang="en-GB">
                <a:latin typeface="Arial"/>
                <a:ea typeface="Arial"/>
                <a:cs typeface="Arial"/>
                <a:sym typeface="Arial"/>
              </a:rPr>
              <a:t>Genes expressed in testes</a:t>
            </a:r>
            <a:endParaRPr>
              <a:latin typeface="Arial"/>
              <a:ea typeface="Arial"/>
              <a:cs typeface="Arial"/>
              <a:sym typeface="Arial"/>
            </a:endParaRPr>
          </a:p>
          <a:p>
            <a:pPr marL="914400" lvl="1" indent="-317500" algn="l" rtl="0">
              <a:lnSpc>
                <a:spcPct val="115000"/>
              </a:lnSpc>
              <a:spcBef>
                <a:spcPts val="0"/>
              </a:spcBef>
              <a:spcAft>
                <a:spcPts val="0"/>
              </a:spcAft>
              <a:buSzPts val="1400"/>
              <a:buFont typeface="Arial"/>
              <a:buChar char="○"/>
            </a:pPr>
            <a:r>
              <a:rPr lang="en-GB" sz="1400" b="1">
                <a:latin typeface="Arial"/>
                <a:ea typeface="Arial"/>
                <a:cs typeface="Arial"/>
                <a:sym typeface="Arial"/>
              </a:rPr>
              <a:t>Male hybrid sterility?</a:t>
            </a:r>
            <a:endParaRPr sz="1400" b="1">
              <a:latin typeface="Arial"/>
              <a:ea typeface="Arial"/>
              <a:cs typeface="Arial"/>
              <a:sym typeface="Arial"/>
            </a:endParaRPr>
          </a:p>
          <a:p>
            <a:pPr marL="914400" lvl="1" indent="-317500" algn="l" rtl="0">
              <a:lnSpc>
                <a:spcPct val="115000"/>
              </a:lnSpc>
              <a:spcBef>
                <a:spcPts val="0"/>
              </a:spcBef>
              <a:spcAft>
                <a:spcPts val="0"/>
              </a:spcAft>
              <a:buSzPts val="1400"/>
              <a:buFont typeface="Arial"/>
              <a:buChar char="○"/>
            </a:pPr>
            <a:r>
              <a:rPr lang="en-GB" sz="1400" b="1">
                <a:latin typeface="Arial"/>
                <a:ea typeface="Arial"/>
                <a:cs typeface="Arial"/>
                <a:sym typeface="Arial"/>
              </a:rPr>
              <a:t>Archaic alleles deleterious on human background </a:t>
            </a:r>
            <a:endParaRPr>
              <a:latin typeface="Arial"/>
              <a:ea typeface="Arial"/>
              <a:cs typeface="Arial"/>
              <a:sym typeface="Arial"/>
            </a:endParaRPr>
          </a:p>
          <a:p>
            <a:pPr marL="0" lvl="0" indent="0" algn="l" rtl="0">
              <a:lnSpc>
                <a:spcPct val="115000"/>
              </a:lnSpc>
              <a:spcBef>
                <a:spcPts val="1200"/>
              </a:spcBef>
              <a:spcAft>
                <a:spcPts val="0"/>
              </a:spcAft>
              <a:buSzPts val="1800"/>
              <a:buNone/>
            </a:pPr>
            <a:endParaRPr i="1"/>
          </a:p>
          <a:p>
            <a:pPr marL="0" lvl="0" indent="0" algn="l" rtl="0">
              <a:lnSpc>
                <a:spcPct val="115000"/>
              </a:lnSpc>
              <a:spcBef>
                <a:spcPts val="1200"/>
              </a:spcBef>
              <a:spcAft>
                <a:spcPts val="0"/>
              </a:spcAft>
              <a:buSzPts val="1800"/>
              <a:buNone/>
            </a:pPr>
            <a:endParaRPr i="1"/>
          </a:p>
          <a:p>
            <a:pPr marL="0" lvl="0" indent="0" algn="l" rtl="0">
              <a:lnSpc>
                <a:spcPct val="115000"/>
              </a:lnSpc>
              <a:spcBef>
                <a:spcPts val="1200"/>
              </a:spcBef>
              <a:spcAft>
                <a:spcPts val="1200"/>
              </a:spcAft>
              <a:buSzPts val="1800"/>
              <a:buNone/>
            </a:pPr>
            <a:endParaRPr b="1"/>
          </a:p>
        </p:txBody>
      </p:sp>
      <p:sp>
        <p:nvSpPr>
          <p:cNvPr id="1259" name="Google Shape;1259;p64"/>
          <p:cNvSpPr txBox="1"/>
          <p:nvPr/>
        </p:nvSpPr>
        <p:spPr>
          <a:xfrm>
            <a:off x="6515675" y="4569025"/>
            <a:ext cx="34818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Sankararaman et al. 2014, 2016</a:t>
            </a:r>
            <a:endParaRPr sz="1200" b="0" i="0" u="none" strike="noStrike" cap="none">
              <a:solidFill>
                <a:srgbClr val="45818E"/>
              </a:solidFill>
              <a:latin typeface="Open Sans"/>
              <a:ea typeface="Open Sans"/>
              <a:cs typeface="Open Sans"/>
              <a:sym typeface="Open San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g3f68fc15589_0_919"/>
          <p:cNvSpPr txBox="1">
            <a:spLocks noGrp="1"/>
          </p:cNvSpPr>
          <p:nvPr>
            <p:ph type="title"/>
          </p:nvPr>
        </p:nvSpPr>
        <p:spPr>
          <a:xfrm>
            <a:off x="311700" y="445025"/>
            <a:ext cx="34731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Impact of introgressed variants</a:t>
            </a:r>
            <a:endParaRPr/>
          </a:p>
        </p:txBody>
      </p:sp>
      <p:pic>
        <p:nvPicPr>
          <p:cNvPr id="1265" name="Google Shape;1265;g3f68fc15589_0_919"/>
          <p:cNvPicPr preferRelativeResize="0"/>
          <p:nvPr/>
        </p:nvPicPr>
        <p:blipFill rotWithShape="1">
          <a:blip r:embed="rId3">
            <a:alphaModFix/>
          </a:blip>
          <a:srcRect t="13509" b="21101"/>
          <a:stretch/>
        </p:blipFill>
        <p:spPr>
          <a:xfrm>
            <a:off x="3784850" y="339350"/>
            <a:ext cx="5272474" cy="918750"/>
          </a:xfrm>
          <a:prstGeom prst="rect">
            <a:avLst/>
          </a:prstGeom>
          <a:noFill/>
          <a:ln>
            <a:noFill/>
          </a:ln>
        </p:spPr>
      </p:pic>
      <p:pic>
        <p:nvPicPr>
          <p:cNvPr id="1266" name="Google Shape;1266;g3f68fc15589_0_919"/>
          <p:cNvPicPr preferRelativeResize="0"/>
          <p:nvPr/>
        </p:nvPicPr>
        <p:blipFill rotWithShape="1">
          <a:blip r:embed="rId4">
            <a:alphaModFix/>
          </a:blip>
          <a:srcRect/>
          <a:stretch/>
        </p:blipFill>
        <p:spPr>
          <a:xfrm>
            <a:off x="415340" y="1902975"/>
            <a:ext cx="2746701" cy="2304650"/>
          </a:xfrm>
          <a:prstGeom prst="rect">
            <a:avLst/>
          </a:prstGeom>
          <a:noFill/>
          <a:ln>
            <a:noFill/>
          </a:ln>
        </p:spPr>
      </p:pic>
      <p:sp>
        <p:nvSpPr>
          <p:cNvPr id="1267" name="Google Shape;1267;g3f68fc15589_0_919"/>
          <p:cNvSpPr/>
          <p:nvPr/>
        </p:nvSpPr>
        <p:spPr>
          <a:xfrm>
            <a:off x="3902725" y="1902975"/>
            <a:ext cx="338700" cy="274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g3f68fc15589_0_919"/>
          <p:cNvSpPr txBox="1">
            <a:spLocks noGrp="1"/>
          </p:cNvSpPr>
          <p:nvPr>
            <p:ph type="body" idx="1"/>
          </p:nvPr>
        </p:nvSpPr>
        <p:spPr>
          <a:xfrm>
            <a:off x="3162050" y="904925"/>
            <a:ext cx="57540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endParaRPr>
              <a:latin typeface="Arial"/>
              <a:ea typeface="Arial"/>
              <a:cs typeface="Arial"/>
              <a:sym typeface="Arial"/>
            </a:endParaRPr>
          </a:p>
          <a:p>
            <a:pPr marL="457200" lvl="0" indent="-342900" algn="l" rtl="0">
              <a:lnSpc>
                <a:spcPct val="115000"/>
              </a:lnSpc>
              <a:spcBef>
                <a:spcPts val="1200"/>
              </a:spcBef>
              <a:spcAft>
                <a:spcPts val="0"/>
              </a:spcAft>
              <a:buSzPts val="1800"/>
              <a:buFont typeface="Arial"/>
              <a:buChar char="●"/>
            </a:pPr>
            <a:r>
              <a:rPr lang="en-GB">
                <a:latin typeface="Arial"/>
                <a:ea typeface="Arial"/>
                <a:cs typeface="Arial"/>
                <a:sym typeface="Arial"/>
              </a:rPr>
              <a:t>All risk haplotypes associated with severe COVID19 cluster with Neandertal sequence</a:t>
            </a:r>
            <a:endParaRPr>
              <a:latin typeface="Arial"/>
              <a:ea typeface="Arial"/>
              <a:cs typeface="Arial"/>
              <a:sym typeface="Arial"/>
            </a:endParaRPr>
          </a:p>
          <a:p>
            <a:pPr marL="457200" lvl="0" indent="-342900" algn="l" rtl="0">
              <a:lnSpc>
                <a:spcPct val="115000"/>
              </a:lnSpc>
              <a:spcBef>
                <a:spcPts val="0"/>
              </a:spcBef>
              <a:spcAft>
                <a:spcPts val="0"/>
              </a:spcAft>
              <a:buSzPts val="1800"/>
              <a:buFont typeface="Arial"/>
              <a:buChar char="●"/>
            </a:pPr>
            <a:r>
              <a:rPr lang="en-GB">
                <a:latin typeface="Arial"/>
                <a:ea typeface="Arial"/>
                <a:cs typeface="Arial"/>
                <a:sym typeface="Arial"/>
              </a:rPr>
              <a:t>High frequency of risk haplotype in Asia</a:t>
            </a:r>
            <a:endParaRPr>
              <a:latin typeface="Arial"/>
              <a:ea typeface="Arial"/>
              <a:cs typeface="Arial"/>
              <a:sym typeface="Arial"/>
            </a:endParaRPr>
          </a:p>
          <a:p>
            <a:pPr marL="914400" lvl="1" indent="-317500" algn="l" rtl="0">
              <a:lnSpc>
                <a:spcPct val="115000"/>
              </a:lnSpc>
              <a:spcBef>
                <a:spcPts val="0"/>
              </a:spcBef>
              <a:spcAft>
                <a:spcPts val="0"/>
              </a:spcAft>
              <a:buSzPts val="1400"/>
              <a:buFont typeface="Arial"/>
              <a:buChar char="○"/>
            </a:pPr>
            <a:r>
              <a:rPr lang="en-GB" b="1">
                <a:latin typeface="Arial"/>
                <a:ea typeface="Arial"/>
                <a:cs typeface="Arial"/>
                <a:sym typeface="Arial"/>
              </a:rPr>
              <a:t>2X risk of death vs general UK population</a:t>
            </a:r>
            <a:endParaRPr b="1">
              <a:latin typeface="Arial"/>
              <a:ea typeface="Arial"/>
              <a:cs typeface="Arial"/>
              <a:sym typeface="Arial"/>
            </a:endParaRPr>
          </a:p>
        </p:txBody>
      </p:sp>
      <p:sp>
        <p:nvSpPr>
          <p:cNvPr id="1269" name="Google Shape;1269;g3f68fc15589_0_919"/>
          <p:cNvSpPr/>
          <p:nvPr/>
        </p:nvSpPr>
        <p:spPr>
          <a:xfrm>
            <a:off x="0" y="1908700"/>
            <a:ext cx="338700" cy="274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70" name="Google Shape;1270;g3f68fc15589_0_919"/>
          <p:cNvPicPr preferRelativeResize="0"/>
          <p:nvPr/>
        </p:nvPicPr>
        <p:blipFill rotWithShape="1">
          <a:blip r:embed="rId5">
            <a:alphaModFix/>
          </a:blip>
          <a:srcRect/>
          <a:stretch/>
        </p:blipFill>
        <p:spPr>
          <a:xfrm>
            <a:off x="3371125" y="2822048"/>
            <a:ext cx="4517677" cy="2097052"/>
          </a:xfrm>
          <a:prstGeom prst="rect">
            <a:avLst/>
          </a:prstGeom>
          <a:noFill/>
          <a:ln>
            <a:noFill/>
          </a:ln>
        </p:spPr>
      </p:pic>
      <p:sp>
        <p:nvSpPr>
          <p:cNvPr id="1271" name="Google Shape;1271;g3f68fc15589_0_919"/>
          <p:cNvSpPr/>
          <p:nvPr/>
        </p:nvSpPr>
        <p:spPr>
          <a:xfrm>
            <a:off x="3717075" y="139400"/>
            <a:ext cx="116100" cy="1118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72" name="Google Shape;1272;g3f68fc15589_0_919"/>
          <p:cNvSpPr/>
          <p:nvPr/>
        </p:nvSpPr>
        <p:spPr>
          <a:xfrm>
            <a:off x="3843788" y="0"/>
            <a:ext cx="5154600" cy="369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73" name="Google Shape;1273;g3f68fc15589_0_919"/>
          <p:cNvSpPr/>
          <p:nvPr/>
        </p:nvSpPr>
        <p:spPr>
          <a:xfrm>
            <a:off x="3238700" y="2103875"/>
            <a:ext cx="5612700" cy="2867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74" name="Google Shape;1274;g3f68fc15589_0_919"/>
          <p:cNvSpPr txBox="1"/>
          <p:nvPr/>
        </p:nvSpPr>
        <p:spPr>
          <a:xfrm>
            <a:off x="7425800" y="460227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Zeberg &amp; Paabo 2020</a:t>
            </a:r>
            <a:endParaRPr sz="1200" b="0" i="0" u="none" strike="noStrike" cap="none">
              <a:solidFill>
                <a:srgbClr val="45818E"/>
              </a:solidFill>
              <a:latin typeface="Open Sans"/>
              <a:ea typeface="Open Sans"/>
              <a:cs typeface="Open Sans"/>
              <a:sym typeface="Open San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67"/>
          <p:cNvSpPr txBox="1">
            <a:spLocks noGrp="1"/>
          </p:cNvSpPr>
          <p:nvPr>
            <p:ph type="title"/>
          </p:nvPr>
        </p:nvSpPr>
        <p:spPr>
          <a:xfrm>
            <a:off x="311700" y="445025"/>
            <a:ext cx="34731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Impact of introgressed variants</a:t>
            </a:r>
            <a:endParaRPr/>
          </a:p>
        </p:txBody>
      </p:sp>
      <p:pic>
        <p:nvPicPr>
          <p:cNvPr id="1280" name="Google Shape;1280;p67"/>
          <p:cNvPicPr preferRelativeResize="0"/>
          <p:nvPr/>
        </p:nvPicPr>
        <p:blipFill rotWithShape="1">
          <a:blip r:embed="rId3">
            <a:alphaModFix/>
          </a:blip>
          <a:srcRect t="13509" b="21101"/>
          <a:stretch/>
        </p:blipFill>
        <p:spPr>
          <a:xfrm>
            <a:off x="3784850" y="339350"/>
            <a:ext cx="5272474" cy="918750"/>
          </a:xfrm>
          <a:prstGeom prst="rect">
            <a:avLst/>
          </a:prstGeom>
          <a:noFill/>
          <a:ln>
            <a:noFill/>
          </a:ln>
        </p:spPr>
      </p:pic>
      <p:pic>
        <p:nvPicPr>
          <p:cNvPr id="1281" name="Google Shape;1281;p67"/>
          <p:cNvPicPr preferRelativeResize="0"/>
          <p:nvPr/>
        </p:nvPicPr>
        <p:blipFill rotWithShape="1">
          <a:blip r:embed="rId4">
            <a:alphaModFix/>
          </a:blip>
          <a:srcRect/>
          <a:stretch/>
        </p:blipFill>
        <p:spPr>
          <a:xfrm>
            <a:off x="415340" y="1902975"/>
            <a:ext cx="2746701" cy="2304650"/>
          </a:xfrm>
          <a:prstGeom prst="rect">
            <a:avLst/>
          </a:prstGeom>
          <a:noFill/>
          <a:ln>
            <a:noFill/>
          </a:ln>
        </p:spPr>
      </p:pic>
      <p:sp>
        <p:nvSpPr>
          <p:cNvPr id="1282" name="Google Shape;1282;p67"/>
          <p:cNvSpPr/>
          <p:nvPr/>
        </p:nvSpPr>
        <p:spPr>
          <a:xfrm>
            <a:off x="3902725" y="1902975"/>
            <a:ext cx="338700" cy="274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p67"/>
          <p:cNvSpPr txBox="1">
            <a:spLocks noGrp="1"/>
          </p:cNvSpPr>
          <p:nvPr>
            <p:ph type="body" idx="1"/>
          </p:nvPr>
        </p:nvSpPr>
        <p:spPr>
          <a:xfrm>
            <a:off x="3162050" y="904925"/>
            <a:ext cx="5754000" cy="3302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endParaRPr>
              <a:latin typeface="Arial"/>
              <a:ea typeface="Arial"/>
              <a:cs typeface="Arial"/>
              <a:sym typeface="Arial"/>
            </a:endParaRPr>
          </a:p>
          <a:p>
            <a:pPr marL="457200" lvl="0" indent="-342900" algn="l" rtl="0">
              <a:lnSpc>
                <a:spcPct val="115000"/>
              </a:lnSpc>
              <a:spcBef>
                <a:spcPts val="1200"/>
              </a:spcBef>
              <a:spcAft>
                <a:spcPts val="0"/>
              </a:spcAft>
              <a:buSzPts val="1800"/>
              <a:buFont typeface="Arial"/>
              <a:buChar char="●"/>
            </a:pPr>
            <a:r>
              <a:rPr lang="en-GB">
                <a:latin typeface="Arial"/>
                <a:ea typeface="Arial"/>
                <a:cs typeface="Arial"/>
                <a:sym typeface="Arial"/>
              </a:rPr>
              <a:t>All risk haplotypes associated with severe COVID19 cluster with Neandertal sequence</a:t>
            </a:r>
            <a:endParaRPr>
              <a:latin typeface="Arial"/>
              <a:ea typeface="Arial"/>
              <a:cs typeface="Arial"/>
              <a:sym typeface="Arial"/>
            </a:endParaRPr>
          </a:p>
          <a:p>
            <a:pPr marL="457200" lvl="0" indent="-342900" algn="l" rtl="0">
              <a:lnSpc>
                <a:spcPct val="115000"/>
              </a:lnSpc>
              <a:spcBef>
                <a:spcPts val="0"/>
              </a:spcBef>
              <a:spcAft>
                <a:spcPts val="0"/>
              </a:spcAft>
              <a:buSzPts val="1800"/>
              <a:buFont typeface="Arial"/>
              <a:buChar char="●"/>
            </a:pPr>
            <a:r>
              <a:rPr lang="en-GB">
                <a:latin typeface="Arial"/>
                <a:ea typeface="Arial"/>
                <a:cs typeface="Arial"/>
                <a:sym typeface="Arial"/>
              </a:rPr>
              <a:t>High frequency of risk haplotype in South Asia</a:t>
            </a:r>
            <a:endParaRPr>
              <a:latin typeface="Arial"/>
              <a:ea typeface="Arial"/>
              <a:cs typeface="Arial"/>
              <a:sym typeface="Arial"/>
            </a:endParaRPr>
          </a:p>
          <a:p>
            <a:pPr marL="914400" lvl="1" indent="-317500" algn="l" rtl="0">
              <a:lnSpc>
                <a:spcPct val="115000"/>
              </a:lnSpc>
              <a:spcBef>
                <a:spcPts val="0"/>
              </a:spcBef>
              <a:spcAft>
                <a:spcPts val="0"/>
              </a:spcAft>
              <a:buSzPts val="1400"/>
              <a:buFont typeface="Arial"/>
              <a:buChar char="○"/>
            </a:pPr>
            <a:r>
              <a:rPr lang="en-GB" b="1">
                <a:latin typeface="Arial"/>
                <a:ea typeface="Arial"/>
                <a:cs typeface="Arial"/>
                <a:sym typeface="Arial"/>
              </a:rPr>
              <a:t>2X risk of death vs general UK population</a:t>
            </a:r>
            <a:endParaRPr b="1">
              <a:latin typeface="Arial"/>
              <a:ea typeface="Arial"/>
              <a:cs typeface="Arial"/>
              <a:sym typeface="Arial"/>
            </a:endParaRPr>
          </a:p>
        </p:txBody>
      </p:sp>
      <p:sp>
        <p:nvSpPr>
          <p:cNvPr id="1284" name="Google Shape;1284;p67"/>
          <p:cNvSpPr/>
          <p:nvPr/>
        </p:nvSpPr>
        <p:spPr>
          <a:xfrm>
            <a:off x="0" y="1908700"/>
            <a:ext cx="338700" cy="274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85" name="Google Shape;1285;p67"/>
          <p:cNvPicPr preferRelativeResize="0"/>
          <p:nvPr/>
        </p:nvPicPr>
        <p:blipFill rotWithShape="1">
          <a:blip r:embed="rId5">
            <a:alphaModFix/>
          </a:blip>
          <a:srcRect/>
          <a:stretch/>
        </p:blipFill>
        <p:spPr>
          <a:xfrm>
            <a:off x="3371125" y="2822048"/>
            <a:ext cx="4517677" cy="2097052"/>
          </a:xfrm>
          <a:prstGeom prst="rect">
            <a:avLst/>
          </a:prstGeom>
          <a:noFill/>
          <a:ln>
            <a:noFill/>
          </a:ln>
        </p:spPr>
      </p:pic>
      <p:sp>
        <p:nvSpPr>
          <p:cNvPr id="1286" name="Google Shape;1286;p67"/>
          <p:cNvSpPr txBox="1"/>
          <p:nvPr/>
        </p:nvSpPr>
        <p:spPr>
          <a:xfrm>
            <a:off x="7343075" y="4663325"/>
            <a:ext cx="29295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200" b="0" i="0" u="none" strike="noStrike" cap="none">
                <a:solidFill>
                  <a:srgbClr val="45818E"/>
                </a:solidFill>
                <a:latin typeface="Open Sans"/>
                <a:ea typeface="Open Sans"/>
                <a:cs typeface="Open Sans"/>
                <a:sym typeface="Open Sans"/>
              </a:rPr>
              <a:t>Zeberg &amp; Paabo 2020</a:t>
            </a:r>
            <a:endParaRPr sz="1200" b="0" i="0" u="none" strike="noStrike" cap="none">
              <a:solidFill>
                <a:srgbClr val="45818E"/>
              </a:solidFill>
              <a:latin typeface="Open Sans"/>
              <a:ea typeface="Open Sans"/>
              <a:cs typeface="Open Sans"/>
              <a:sym typeface="Open Sans"/>
            </a:endParaRPr>
          </a:p>
        </p:txBody>
      </p:sp>
      <p:sp>
        <p:nvSpPr>
          <p:cNvPr id="1287" name="Google Shape;1287;p67"/>
          <p:cNvSpPr/>
          <p:nvPr/>
        </p:nvSpPr>
        <p:spPr>
          <a:xfrm>
            <a:off x="3717075" y="139400"/>
            <a:ext cx="116100" cy="1118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88" name="Google Shape;1288;p67"/>
          <p:cNvSpPr/>
          <p:nvPr/>
        </p:nvSpPr>
        <p:spPr>
          <a:xfrm>
            <a:off x="3843788" y="0"/>
            <a:ext cx="5154600" cy="369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289" name="Google Shape;1289;p67"/>
          <p:cNvPicPr preferRelativeResize="0"/>
          <p:nvPr/>
        </p:nvPicPr>
        <p:blipFill>
          <a:blip r:embed="rId6">
            <a:alphaModFix/>
          </a:blip>
          <a:stretch>
            <a:fillRect/>
          </a:stretch>
        </p:blipFill>
        <p:spPr>
          <a:xfrm>
            <a:off x="2889000" y="1417125"/>
            <a:ext cx="5943300" cy="6505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g3f68fc15589_0_93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Exercise</a:t>
            </a:r>
            <a:endParaRPr/>
          </a:p>
        </p:txBody>
      </p:sp>
      <p:sp>
        <p:nvSpPr>
          <p:cNvPr id="1295" name="Google Shape;1295;g3f68fc15589_0_93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9081</Words>
  <Application>Microsoft Macintosh PowerPoint</Application>
  <PresentationFormat>On-screen Show (16:9)</PresentationFormat>
  <Paragraphs>904</Paragraphs>
  <Slides>82</Slides>
  <Notes>82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Roboto</vt:lpstr>
      <vt:lpstr>Arial</vt:lpstr>
      <vt:lpstr>Open Sans</vt:lpstr>
      <vt:lpstr>PT Sans Narrow</vt:lpstr>
      <vt:lpstr>Garamond</vt:lpstr>
      <vt:lpstr>Times New Roman</vt:lpstr>
      <vt:lpstr>Tropic</vt:lpstr>
      <vt:lpstr>Gene Flow and How to Detect it</vt:lpstr>
      <vt:lpstr>Objectives</vt:lpstr>
      <vt:lpstr>Evolutionary processes give rise to genetic variation</vt:lpstr>
      <vt:lpstr>What happens when populations meet?</vt:lpstr>
      <vt:lpstr>What happens when populations meet?</vt:lpstr>
      <vt:lpstr>What happens when populations meet?</vt:lpstr>
      <vt:lpstr>Each generation recombination breaks down the introgressed fragments</vt:lpstr>
      <vt:lpstr>Recent admixture events are easy to detect</vt:lpstr>
      <vt:lpstr>Recent admixture events are easy to detect</vt:lpstr>
      <vt:lpstr>Recent admixture events are easy to detect</vt:lpstr>
      <vt:lpstr>Recent admixture events are easy to detect</vt:lpstr>
      <vt:lpstr>Recent admixture events are easy to detect</vt:lpstr>
      <vt:lpstr>What scenario gave rise to this ADMIXTURE plot?</vt:lpstr>
      <vt:lpstr>What scenario gave rise to this ADMIXTURE plot?</vt:lpstr>
      <vt:lpstr>Different demographic scenarios can give indistinguishable ADMIXTURE plots</vt:lpstr>
      <vt:lpstr>Need to test for gene flow formally</vt:lpstr>
      <vt:lpstr>ABBA-BABA</vt:lpstr>
      <vt:lpstr>ABBA-BABA</vt:lpstr>
      <vt:lpstr>ABBA-BABA</vt:lpstr>
      <vt:lpstr>ABBA-BABA</vt:lpstr>
      <vt:lpstr>ABBA-BABA</vt:lpstr>
      <vt:lpstr>ABBA-BABA</vt:lpstr>
      <vt:lpstr>Incomplete lineage sorting (ILS)</vt:lpstr>
      <vt:lpstr>Gene Flow</vt:lpstr>
      <vt:lpstr>Gene Flow</vt:lpstr>
      <vt:lpstr>Real example</vt:lpstr>
      <vt:lpstr>PowerPoint Presentation</vt:lpstr>
      <vt:lpstr>Test gene flow between Neandertals &amp; modern humans </vt:lpstr>
      <vt:lpstr>Test gene flow between Neandertals &amp; modern humans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Evidence of gene flow from Neandertals to modern humans </vt:lpstr>
      <vt:lpstr>ABBA-BABA</vt:lpstr>
      <vt:lpstr>ABBA-BABA</vt:lpstr>
      <vt:lpstr>ABBA-BABA</vt:lpstr>
      <vt:lpstr>ABBA-BABA</vt:lpstr>
      <vt:lpstr>ABBA-BABA</vt:lpstr>
      <vt:lpstr>ABBA-BABA</vt:lpstr>
      <vt:lpstr>ABBA-BABA</vt:lpstr>
      <vt:lpstr>How else to test for gene flow?</vt:lpstr>
      <vt:lpstr>How else to test for gene flow?</vt:lpstr>
      <vt:lpstr>We can go from a genome-wide signal of Neanderthal SNPs to introgressed segments of Neanderthal DNA</vt:lpstr>
      <vt:lpstr>We can go from a genome-wide signal of Neanderthal SNPs to introgressed segments of Neanderthal DNA</vt:lpstr>
      <vt:lpstr>We can go from a genome-wide signal of Neanderthal SNPs to introgressed segments of Neanderthal DNA</vt:lpstr>
      <vt:lpstr>We can go from a genome-wide signal of Neanderthal SNPs to introgressed segments of Neanderthal DNA</vt:lpstr>
      <vt:lpstr>We can go from a genome-wide signal of Neanderthal SNPs to introgressed segments of Neanderthal DNA</vt:lpstr>
      <vt:lpstr>3 lines of evidence of gene flow from Neandertals to modern humans </vt:lpstr>
      <vt:lpstr>Further evidence of gene flow from Neandertals to modern humans : Ust-Ishim</vt:lpstr>
      <vt:lpstr>Further evidence of gene flow from Neandertals to modern humans : Ust-Ishim</vt:lpstr>
      <vt:lpstr>Further evidence of gene flow from Neandertals to modern humans : Oase cu Pestera</vt:lpstr>
      <vt:lpstr>Further evidence of gene flow from Neandertals to modern humans : Oase cu Pestera</vt:lpstr>
      <vt:lpstr>Further evidence of gene flow from Neandertals to modern humans : Oase cu Pestera</vt:lpstr>
      <vt:lpstr>Summary of archaic introgression in hominins</vt:lpstr>
      <vt:lpstr>Gene flow is not unique to humans</vt:lpstr>
      <vt:lpstr>Gene flow between chimpanzees and bonobos</vt:lpstr>
      <vt:lpstr>Gene flow between chimpanzees and bonobos</vt:lpstr>
      <vt:lpstr>Gene flow between chimpanzees and bonobos</vt:lpstr>
      <vt:lpstr>Gene flow between chimpanzees and bonobos</vt:lpstr>
      <vt:lpstr>Further scenario to consider</vt:lpstr>
      <vt:lpstr>Further scenario to consider</vt:lpstr>
      <vt:lpstr>Gene flow in eastern gorillas</vt:lpstr>
      <vt:lpstr>Ghost gene flow in eastern gorillas</vt:lpstr>
      <vt:lpstr>Impact of gene flow on the genome</vt:lpstr>
      <vt:lpstr>PowerPoint Presentation</vt:lpstr>
      <vt:lpstr>PowerPoint Presentation</vt:lpstr>
      <vt:lpstr>PowerPoint Presentation</vt:lpstr>
      <vt:lpstr>PowerPoint Presentation</vt:lpstr>
      <vt:lpstr>PowerPoint Presentation</vt:lpstr>
      <vt:lpstr>PowerPoint Presentation</vt:lpstr>
      <vt:lpstr>Adaptive introgression in humans</vt:lpstr>
      <vt:lpstr>Adaptive introgression in humans</vt:lpstr>
      <vt:lpstr>But archaic introgression may have been largely deleterious</vt:lpstr>
      <vt:lpstr>Introgression deserts</vt:lpstr>
      <vt:lpstr>Impact of introgressed variants</vt:lpstr>
      <vt:lpstr>Impact of introgressed variants</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Harvinder Kaur Pawar</cp:lastModifiedBy>
  <cp:revision>1</cp:revision>
  <dcterms:modified xsi:type="dcterms:W3CDTF">2026-08-16T16:16:02Z</dcterms:modified>
</cp:coreProperties>
</file>