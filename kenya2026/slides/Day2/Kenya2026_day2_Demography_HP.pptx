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05"/>
      <p:bold r:id="rId106"/>
      <p:italic r:id="rId107"/>
      <p:boldItalic r:id="rId108"/>
    </p:embeddedFont>
    <p:embeddedFont>
      <p:font typeface="Roboto" panose="02000000000000000000" pitchFamily="2" charset="0"/>
      <p:regular r:id="rId109"/>
      <p:bold r:id="rId110"/>
      <p:italic r:id="rId111"/>
      <p:boldItalic r:id="rId1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8" roundtripDataSignature="AMtx7mgIhKmf09+gWSeYq/Xi3+L9Fb3N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54" d="100"/>
          <a:sy n="154" d="100"/>
        </p:scale>
        <p:origin x="46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8.fntdata"/><Relationship Id="rId16" Type="http://schemas.openxmlformats.org/officeDocument/2006/relationships/slide" Target="slides/slide15.xml"/><Relationship Id="rId107" Type="http://schemas.openxmlformats.org/officeDocument/2006/relationships/font" Target="fonts/font3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8" Type="http://customschemas.google.com/relationships/presentationmetadata" Target="meta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font" Target="fonts/font4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9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5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6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7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693fca5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f5693fca5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We have our population of interest &amp; we want to understand their evolutionary past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5693fca55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3f5693fca55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..reconstruct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5693fca5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f5693fca55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5693fca55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f5693fca55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3bc888e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f3bc888e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693fca55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f5693fca55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693fca55_0_9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3f5693fca55_0_9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693fca55_0_9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f5693fca55_0_9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5693fca55_0_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3f5693fca55_0_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57dc837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f57dc837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5693fca55_0_9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f5693fca55_0_9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5693fca55_0_10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f5693fca55_0_10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what do we expect to see re time to fixation &amp; probability of fixation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Define genetic drift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Impact of different population sizes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54f06bec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3f54f06bec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add explanation re smaller ne &amp; higher impact of drift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57dc8374a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f57dc8374a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Define genetic drift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Impact of different population sizes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693fca55_0_8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f5693fca55_0_8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Random loss or fixation of allele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5693fca55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f5693fca55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5693fca55_0_1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3f5693fca55_0_1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5693fca55_0_1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3f5693fca55_0_1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..briefly introduce the concept of coalescence, which will be important for what we will discuss today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Here we have a representation of a population, of constant population size through time, where each row represents a different generation &amp; here in the present we sample 10 haploid individuals. The relationships of the samples to each other is what we call a genealogy.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5693fca55_0_10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g3f5693fca55_0_10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Here we have a representation of a population, of constant population size through time, where each row represents a different generation &amp; here in the present we sample 10 haploid individuals. The relationships of the samples to each other is what we call a genealogy.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5693fca55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3f5693fca55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Here we have a representation of a population, of constant population size through time, where each row represents a different generation &amp; here in the present we sample 10 haploid individuals. The relationships of the samples to each other is what we call a genealogy.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If we start from the present, using coalescence, we can trace back the ancestry of these samples, to determine where they share a common ancestor.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5693fca55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3f5693fca55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If we start from the present, using coalescence, we can trace back the ancestry of these samples, to determine where they share a common ancestor.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5693fca55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3f5693fca55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If we start from the present, using coalescence, we can trace back the ancestry of these samples, to determine where they share a common ancestor.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5693fca55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3f5693fca55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If we start from the present, using coalescence, we can trace back the ancestry of these samples, to determine where they share a common ancestor.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5693fca55_0_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3f5693fca55_0_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first coalescence usually happens quickly, then waiting time increases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6b66d6053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g3f6b66d6053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first coalescence usually happens quickly, then waiting time increases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57dc8374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f57dc8374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Long internal branches - when there is only 2 lineages left, we expect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them to take 2Ne generations to coalesce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5693fca55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g3f5693fca55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54f06bec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3f54f06bec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57dc8374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g3f57dc8374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5693fca55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g3f5693fca55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5693fca55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g3f5693fca55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molecular divergence coming before species divergence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5693fca55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g3f5693fca55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5693fca55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g3f5693fca55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5693fca5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g3f5693fca55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5693fca55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g3f5693fca55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5693fca5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4" name="Google Shape;494;g3f5693fca5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5693fca55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g3f5693fca55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5693fca55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3f5693fca55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5693fca55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1" name="Google Shape;531;g3f5693fca55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5693fca55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g3f5693fca55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5693fca55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g3f5693fca55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5693fca55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2" name="Google Shape;602;g3f5693fca55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5693fca55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2" name="Google Shape;632;g3f5693fca55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57dc8374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3" name="Google Shape;663;g3f57dc8374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question to ask here - what demog is shown in red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- bottleneck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large pop -&gt; pop decline -&gt; pop expansion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f5693fca55_0_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0" name="Google Shape;670;g3f5693fca55_0_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58085c09e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8" name="Google Shape;678;g3f58085c09e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f5693fca55_0_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8" name="Google Shape;688;g3f5693fca55_0_7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f3bc888ea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9" name="Google Shape;709;g3f3bc888ea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f5693fca55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1" name="Google Shape;731;g3f5693fca55_0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f5693fca55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6" name="Google Shape;756;g3f5693fca55_0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f57dc8374a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7" name="Google Shape;777;g3f57dc8374a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57dc8374a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1" name="Google Shape;801;g3f57dc8374a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f5693fca55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6" name="Google Shape;826;g3f5693fca55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f57dc8374a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8" name="Google Shape;848;g3f57dc8374a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f5693fca55_0_7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3" name="Google Shape;873;g3f5693fca55_0_7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Ask question here - what demography type has the most rare variants?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f57dc8374a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9" name="Google Shape;879;g3f57dc8374a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57dc8374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6" name="Google Shape;886;g3f57dc8374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f5693fca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2" name="Google Shape;892;g3f5693fca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f57dc8374a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8" name="Google Shape;898;g3f57dc8374a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f57dc8374a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5" name="Google Shape;905;g3f57dc8374a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f57dc8374a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3" name="Google Shape;913;g3f57dc8374a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f57dc8374a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5" name="Google Shape;925;g3f57dc8374a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f57dc8374a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3" name="Google Shape;933;g3f57dc8374a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f57dc8374a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1" name="Google Shape;941;g3f57dc8374a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f57dc8374a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9" name="Google Shape;949;g3f57dc8374a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f57dc8374a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7" name="Google Shape;957;g3f57dc8374a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f57dc8374a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4" name="Google Shape;964;g3f57dc8374a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f57dc8374a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2" name="Google Shape;972;g3f57dc8374a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f57dc8374a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4" name="Google Shape;984;g3f57dc8374a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f57dc8374a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6" name="Google Shape;996;g3f57dc8374a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f57dc8374a_0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1" name="Google Shape;1011;g3f57dc8374a_0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https://www.cell.com/trends/genetics/fulltext/S0168-9525%2814%2900158-9#fig0005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f57dc8374a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6" name="Google Shape;1026;g3f57dc8374a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f57dc8374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2" name="Google Shape;1032;g3f57dc8374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f57dc8374a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9" name="Google Shape;1039;g3f57dc8374a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f57dc8374a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5" name="Google Shape;1045;g3f57dc8374a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f57dc8374a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1" name="Google Shape;1051;g3f57dc8374a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f57dc8374a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9" name="Google Shape;1059;g3f57dc8374a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f5693fca5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5" name="Google Shape;1065;g3f5693fca5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..reconstruct 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f5693fca55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5" name="Google Shape;1075;g3f5693fca55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f5693fca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1" name="Google Shape;1081;g3f5693fca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</a:rPr>
              <a:t>methods that infer recent or historical Ne trajectories provide information about a specific part of the Ne trajectory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</a:rPr>
              <a:t>Note that the spans of the timeframes are approximate since they depend on the data used and the true demographic history; this applies particularly for SFS‐based methods and recent times</a:t>
            </a:r>
            <a:endParaRPr sz="10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f57dc8374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2" name="Google Shape;1092;g3f57dc8374a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f5693fca55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4" name="Google Shape;1104;g3f5693fca55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f6f665d46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3f6f665d46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f6f665d46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3f6f665d46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f6f665d46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3f6f665d46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8b8ec6fd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38b8ec6fd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8b8ec6fd5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8b8ec6fd5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8b8ec6fd5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8b8ec6fd5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8b8ec6fd5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38b8ec6fd5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https://pmc.ncbi.nlm.nih.gov/articles/PMC3462787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3f5693fca55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6" name="Google Shape;1186;g3f5693fca55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3f57dc8374a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4" name="Google Shape;1194;g3f57dc8374a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f3bf9b08b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1" name="Google Shape;1201;g3f3bf9b08b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f3bf9b08b1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0" name="Google Shape;1210;g3f3bf9b08b1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f57f6c2c9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0" name="Google Shape;1220;g3f57f6c2c9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3f57dc8374a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7" name="Google Shape;1227;g3f57dc8374a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f57dc8374a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3" name="Google Shape;1233;g3f57dc8374a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f6b66d64b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3f6b66d64b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8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78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818E"/>
              </a:buClr>
              <a:buSzPts val="3600"/>
              <a:buNone/>
              <a:defRPr>
                <a:solidFill>
                  <a:srgbClr val="45818E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818E"/>
              </a:buClr>
              <a:buSzPts val="3600"/>
              <a:buNone/>
              <a:defRPr>
                <a:solidFill>
                  <a:srgbClr val="45818E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818E"/>
              </a:buClr>
              <a:buSzPts val="3600"/>
              <a:buNone/>
              <a:defRPr>
                <a:solidFill>
                  <a:srgbClr val="45818E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818E"/>
              </a:buClr>
              <a:buSzPts val="3600"/>
              <a:buNone/>
              <a:defRPr>
                <a:solidFill>
                  <a:srgbClr val="45818E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818E"/>
              </a:buClr>
              <a:buSzPts val="3600"/>
              <a:buNone/>
              <a:defRPr>
                <a:solidFill>
                  <a:srgbClr val="45818E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818E"/>
              </a:buClr>
              <a:buSzPts val="3600"/>
              <a:buNone/>
              <a:defRPr>
                <a:solidFill>
                  <a:srgbClr val="45818E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818E"/>
              </a:buClr>
              <a:buSzPts val="3600"/>
              <a:buNone/>
              <a:defRPr>
                <a:solidFill>
                  <a:srgbClr val="45818E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818E"/>
              </a:buClr>
              <a:buSzPts val="3600"/>
              <a:buNone/>
              <a:defRPr>
                <a:solidFill>
                  <a:srgbClr val="45818E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818E"/>
              </a:buClr>
              <a:buSzPts val="3600"/>
              <a:buNone/>
              <a:defRPr>
                <a:solidFill>
                  <a:srgbClr val="45818E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9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818E"/>
              </a:buClr>
              <a:buSzPts val="3600"/>
              <a:buNone/>
              <a:defRPr>
                <a:solidFill>
                  <a:srgbClr val="45818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80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80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1" name="Google Shape;21;p80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22" name="Google Shape;22;p80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rgbClr val="45818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80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rgbClr val="45818E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4" name="Google Shape;24;p80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25" name="Google Shape;25;p80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rgbClr val="45818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80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rgbClr val="45818E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7" name="Google Shape;27;p80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818E"/>
              </a:buClr>
              <a:buSzPts val="5400"/>
              <a:buNone/>
              <a:defRPr sz="5400">
                <a:solidFill>
                  <a:srgbClr val="45818E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28" name="Google Shape;28;p80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8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1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1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8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4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8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85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85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85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6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7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7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87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8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8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8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8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7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Demography, coalescence &amp; the SFS</a:t>
            </a:r>
            <a:endParaRPr/>
          </a:p>
        </p:txBody>
      </p:sp>
      <p:sp>
        <p:nvSpPr>
          <p:cNvPr id="73" name="Google Shape;73;p1"/>
          <p:cNvSpPr txBox="1">
            <a:spLocks noGrp="1"/>
          </p:cNvSpPr>
          <p:nvPr>
            <p:ph type="title"/>
          </p:nvPr>
        </p:nvSpPr>
        <p:spPr>
          <a:xfrm>
            <a:off x="400325" y="3020475"/>
            <a:ext cx="8571300" cy="18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7"/>
              <a:buNone/>
            </a:pPr>
            <a:r>
              <a:rPr lang="en-GB" sz="2400">
                <a:solidFill>
                  <a:schemeClr val="lt1"/>
                </a:solidFill>
              </a:rPr>
              <a:t>Harvi Pawar, PhD</a:t>
            </a: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7"/>
              <a:buNone/>
            </a:pPr>
            <a:r>
              <a:rPr lang="en-GB" sz="2400">
                <a:solidFill>
                  <a:schemeClr val="lt1"/>
                </a:solidFill>
              </a:rPr>
              <a:t>Postdoctoral Researcher</a:t>
            </a: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7"/>
              <a:buNone/>
            </a:pPr>
            <a:r>
              <a:rPr lang="en-GB" sz="2400">
                <a:solidFill>
                  <a:schemeClr val="lt1"/>
                </a:solidFill>
              </a:rPr>
              <a:t>University of Copenhagen</a:t>
            </a: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7"/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7"/>
              <a:buNone/>
            </a:pPr>
            <a:r>
              <a:rPr lang="en-GB" sz="2400">
                <a:solidFill>
                  <a:schemeClr val="lt1"/>
                </a:solidFill>
              </a:rPr>
              <a:t>Conservation Genomics Workshop 2026, Mpala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79" name="Google Shape;79;p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What do we mean by demography?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Effective population size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What is the coalescent?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Species tree vs gene trees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What is the SFS?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What methods can we use for demographic inference?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f5693fca55_0_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3588" y="1651675"/>
            <a:ext cx="3642975" cy="24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f5693fca55_0_70"/>
          <p:cNvSpPr txBox="1"/>
          <p:nvPr/>
        </p:nvSpPr>
        <p:spPr>
          <a:xfrm>
            <a:off x="2845075" y="567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Population of interest 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5693fca55_0_70"/>
          <p:cNvSpPr txBox="1"/>
          <p:nvPr/>
        </p:nvSpPr>
        <p:spPr>
          <a:xfrm>
            <a:off x="1566650" y="1059850"/>
            <a:ext cx="821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can we understand their evolutionary past?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f5693fca55_0_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675" y="3314350"/>
            <a:ext cx="2343550" cy="15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f5693fca55_0_48"/>
          <p:cNvSpPr txBox="1"/>
          <p:nvPr/>
        </p:nvSpPr>
        <p:spPr>
          <a:xfrm>
            <a:off x="2845075" y="567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Population of interest 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5693fca55_0_48"/>
          <p:cNvSpPr txBox="1"/>
          <p:nvPr/>
        </p:nvSpPr>
        <p:spPr>
          <a:xfrm>
            <a:off x="1566650" y="1059850"/>
            <a:ext cx="821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can we understand their evolutionary past?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g3f5693fca55_0_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60913" y="1723350"/>
            <a:ext cx="964825" cy="78457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f5693fca55_0_48"/>
          <p:cNvSpPr txBox="1"/>
          <p:nvPr/>
        </p:nvSpPr>
        <p:spPr>
          <a:xfrm>
            <a:off x="1107425" y="2507925"/>
            <a:ext cx="225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Present day genetic variation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g3f5693fca55_0_48"/>
          <p:cNvPicPr preferRelativeResize="0"/>
          <p:nvPr/>
        </p:nvPicPr>
        <p:blipFill rotWithShape="1">
          <a:blip r:embed="rId5">
            <a:alphaModFix/>
          </a:blip>
          <a:srcRect l="23521" t="26259" r="27943" b="29666"/>
          <a:stretch/>
        </p:blipFill>
        <p:spPr>
          <a:xfrm>
            <a:off x="1215475" y="1886625"/>
            <a:ext cx="688850" cy="62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f5693fca55_0_48"/>
          <p:cNvSpPr/>
          <p:nvPr/>
        </p:nvSpPr>
        <p:spPr>
          <a:xfrm>
            <a:off x="3052500" y="2232225"/>
            <a:ext cx="2486100" cy="275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7B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g3f5693fca55_0_48"/>
          <p:cNvSpPr txBox="1"/>
          <p:nvPr/>
        </p:nvSpPr>
        <p:spPr>
          <a:xfrm>
            <a:off x="5845075" y="2000550"/>
            <a:ext cx="263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Reconstruct past demography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3f5693fca55_0_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675" y="3314350"/>
            <a:ext cx="2343550" cy="15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5693fca55_0_111"/>
          <p:cNvSpPr txBox="1"/>
          <p:nvPr/>
        </p:nvSpPr>
        <p:spPr>
          <a:xfrm>
            <a:off x="2845075" y="567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Population of interest 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5693fca55_0_111"/>
          <p:cNvSpPr txBox="1"/>
          <p:nvPr/>
        </p:nvSpPr>
        <p:spPr>
          <a:xfrm>
            <a:off x="1566650" y="1059850"/>
            <a:ext cx="821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can we understand their evolutionary past?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g3f5693fca55_0_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60913" y="1723350"/>
            <a:ext cx="964825" cy="78457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f5693fca55_0_111"/>
          <p:cNvSpPr txBox="1"/>
          <p:nvPr/>
        </p:nvSpPr>
        <p:spPr>
          <a:xfrm>
            <a:off x="1107425" y="2507925"/>
            <a:ext cx="225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Present day genetic variation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3f5693fca55_0_111"/>
          <p:cNvPicPr preferRelativeResize="0"/>
          <p:nvPr/>
        </p:nvPicPr>
        <p:blipFill rotWithShape="1">
          <a:blip r:embed="rId5">
            <a:alphaModFix/>
          </a:blip>
          <a:srcRect l="23521" t="26259" r="27943" b="29666"/>
          <a:stretch/>
        </p:blipFill>
        <p:spPr>
          <a:xfrm>
            <a:off x="1215475" y="1886625"/>
            <a:ext cx="688850" cy="62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f5693fca55_0_111"/>
          <p:cNvSpPr/>
          <p:nvPr/>
        </p:nvSpPr>
        <p:spPr>
          <a:xfrm>
            <a:off x="3052500" y="2232225"/>
            <a:ext cx="2486100" cy="275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7B7B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g3f5693fca55_0_111"/>
          <p:cNvSpPr txBox="1"/>
          <p:nvPr/>
        </p:nvSpPr>
        <p:spPr>
          <a:xfrm>
            <a:off x="5845075" y="2000550"/>
            <a:ext cx="263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Reconstruct past demography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5693fca55_0_111"/>
          <p:cNvSpPr txBox="1"/>
          <p:nvPr/>
        </p:nvSpPr>
        <p:spPr>
          <a:xfrm>
            <a:off x="3583375" y="3093025"/>
            <a:ext cx="5440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Changes in </a:t>
            </a: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effective population size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bottlenecks, expansions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Population </a:t>
            </a: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splits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Migration</a:t>
            </a: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events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Temporal changes</a:t>
            </a: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these demographic events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693fca55_0_150"/>
          <p:cNvSpPr txBox="1"/>
          <p:nvPr/>
        </p:nvSpPr>
        <p:spPr>
          <a:xfrm>
            <a:off x="438800" y="1622700"/>
            <a:ext cx="5659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Past demography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5693fca55_0_150"/>
          <p:cNvSpPr txBox="1"/>
          <p:nvPr/>
        </p:nvSpPr>
        <p:spPr>
          <a:xfrm>
            <a:off x="73125" y="2084400"/>
            <a:ext cx="48402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Changes in effective population size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bottlenecks, expansions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Population splits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Migration events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Temporal changes in these demographic events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5693fca55_0_150"/>
          <p:cNvSpPr txBox="1"/>
          <p:nvPr/>
        </p:nvSpPr>
        <p:spPr>
          <a:xfrm>
            <a:off x="2254850" y="567250"/>
            <a:ext cx="453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Why does demography matter?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5693fca55_0_150"/>
          <p:cNvSpPr/>
          <p:nvPr/>
        </p:nvSpPr>
        <p:spPr>
          <a:xfrm>
            <a:off x="4394550" y="1768500"/>
            <a:ext cx="354900" cy="2009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g3f5693fca55_0_150"/>
          <p:cNvSpPr txBox="1"/>
          <p:nvPr/>
        </p:nvSpPr>
        <p:spPr>
          <a:xfrm>
            <a:off x="5078325" y="1476450"/>
            <a:ext cx="56598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Impacts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5693fca55_0_150"/>
          <p:cNvSpPr txBox="1"/>
          <p:nvPr/>
        </p:nvSpPr>
        <p:spPr>
          <a:xfrm>
            <a:off x="4840625" y="1999075"/>
            <a:ext cx="38637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Efficiency</a:t>
            </a: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natural selection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Levels of</a:t>
            </a: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genetic diversity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Mutational </a:t>
            </a: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Genetic</a:t>
            </a: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resilience</a:t>
            </a: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populations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Extinction risk 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5693fca55_0_150"/>
          <p:cNvSpPr/>
          <p:nvPr/>
        </p:nvSpPr>
        <p:spPr>
          <a:xfrm>
            <a:off x="4962575" y="1987325"/>
            <a:ext cx="3802500" cy="184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3bc888eac_0_0"/>
          <p:cNvSpPr txBox="1"/>
          <p:nvPr/>
        </p:nvSpPr>
        <p:spPr>
          <a:xfrm>
            <a:off x="438800" y="1622700"/>
            <a:ext cx="5659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Past demography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3bc888eac_0_0"/>
          <p:cNvSpPr txBox="1"/>
          <p:nvPr/>
        </p:nvSpPr>
        <p:spPr>
          <a:xfrm>
            <a:off x="73125" y="2084400"/>
            <a:ext cx="48402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Changes in effective population size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bottlenecks, expansions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Population splits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Migration events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Temporal changes in these demographic events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f3bc888eac_0_0"/>
          <p:cNvSpPr txBox="1"/>
          <p:nvPr/>
        </p:nvSpPr>
        <p:spPr>
          <a:xfrm>
            <a:off x="2254850" y="567250"/>
            <a:ext cx="453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Why does demography matter?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3bc888eac_0_0"/>
          <p:cNvSpPr/>
          <p:nvPr/>
        </p:nvSpPr>
        <p:spPr>
          <a:xfrm>
            <a:off x="4394550" y="1768500"/>
            <a:ext cx="354900" cy="2009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g3f3bc888eac_0_0"/>
          <p:cNvSpPr txBox="1"/>
          <p:nvPr/>
        </p:nvSpPr>
        <p:spPr>
          <a:xfrm>
            <a:off x="5078325" y="1476450"/>
            <a:ext cx="56598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Impacts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f3bc888eac_0_0"/>
          <p:cNvSpPr txBox="1"/>
          <p:nvPr/>
        </p:nvSpPr>
        <p:spPr>
          <a:xfrm>
            <a:off x="4840625" y="1999075"/>
            <a:ext cx="38637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Efficiency</a:t>
            </a: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natural selection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Levels of</a:t>
            </a: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genetic diversity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Mutational </a:t>
            </a: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Genetic</a:t>
            </a: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resilience</a:t>
            </a: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populations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Extinction risk 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5693fca55_0_170"/>
          <p:cNvSpPr txBox="1">
            <a:spLocks noGrp="1"/>
          </p:cNvSpPr>
          <p:nvPr>
            <p:ph type="ctrTitle"/>
          </p:nvPr>
        </p:nvSpPr>
        <p:spPr>
          <a:xfrm>
            <a:off x="1003650" y="214001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11111"/>
              <a:buNone/>
            </a:pPr>
            <a:r>
              <a:rPr lang="en-GB"/>
              <a:t>Effective population size (Ne)</a:t>
            </a:r>
            <a:endParaRPr/>
          </a:p>
        </p:txBody>
      </p:sp>
      <p:sp>
        <p:nvSpPr>
          <p:cNvPr id="138" name="Google Shape;138;g3f5693fca55_0_170"/>
          <p:cNvSpPr/>
          <p:nvPr/>
        </p:nvSpPr>
        <p:spPr>
          <a:xfrm>
            <a:off x="1466600" y="3067300"/>
            <a:ext cx="6453000" cy="42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5693fca55_0_9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Effective population size (Ne)</a:t>
            </a:r>
            <a:endParaRPr/>
          </a:p>
        </p:txBody>
      </p:sp>
      <p:sp>
        <p:nvSpPr>
          <p:cNvPr id="144" name="Google Shape;144;g3f5693fca55_0_94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 number of individuals of a theoretical, idealised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Wright-Fisher population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that would experience the same rate of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genetic drift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as the observed population.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693fca55_0_99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Effective population size (Ne)</a:t>
            </a:r>
            <a:endParaRPr/>
          </a:p>
        </p:txBody>
      </p:sp>
      <p:sp>
        <p:nvSpPr>
          <p:cNvPr id="150" name="Google Shape;150;g3f5693fca55_0_99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 number of individuals of a theoretical, idealised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Wright-Fisher population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that would experience the same rate of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genetic drift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as the observed population.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=&gt; measure of the expected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efficacy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drift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selection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5693fca55_0_9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Effective population size (Ne)</a:t>
            </a:r>
            <a:endParaRPr/>
          </a:p>
        </p:txBody>
      </p:sp>
      <p:sp>
        <p:nvSpPr>
          <p:cNvPr id="156" name="Google Shape;156;g3f5693fca55_0_99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 number of individuals of a theoretical, idealised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Wright-Fisher population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that would experience the same rate of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genetic drift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as the observed population.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=&gt; measure of the expected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efficacy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drift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selection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Ne != census population size (Nc)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cxnSp>
        <p:nvCxnSpPr>
          <p:cNvPr id="157" name="Google Shape;157;g3f5693fca55_0_990"/>
          <p:cNvCxnSpPr/>
          <p:nvPr/>
        </p:nvCxnSpPr>
        <p:spPr>
          <a:xfrm rot="10800000">
            <a:off x="3232200" y="3301625"/>
            <a:ext cx="1339800" cy="4230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158" name="Google Shape;158;g3f5693fca55_0_990"/>
          <p:cNvSpPr txBox="1"/>
          <p:nvPr/>
        </p:nvSpPr>
        <p:spPr>
          <a:xfrm>
            <a:off x="4572000" y="3724625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 of individuals in population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57dc8374a_0_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Effective population size (Ne)</a:t>
            </a:r>
            <a:endParaRPr/>
          </a:p>
        </p:txBody>
      </p:sp>
      <p:sp>
        <p:nvSpPr>
          <p:cNvPr id="164" name="Google Shape;164;g3f57dc8374a_0_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 number of individuals of a theoretical, idealised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Wright-Fisher population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that would experience the same rate of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genetic drift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as the observed population.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=&gt; measure of the expected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efficacy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drift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selection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Ne != census population size (Nc)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Most wild populations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Ne &lt;&lt; Nc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5693fca55_0_9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Genetic drift</a:t>
            </a:r>
            <a:endParaRPr/>
          </a:p>
        </p:txBody>
      </p:sp>
      <p:sp>
        <p:nvSpPr>
          <p:cNvPr id="170" name="Google Shape;170;g3f5693fca55_0_98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Stochastic process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Leading to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random change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in allele frequencies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f5693fca55_0_1001" title="Screenshot 2026-07-20 at 16.26.5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1975" y="915313"/>
            <a:ext cx="4244849" cy="400472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f5693fca55_0_1001"/>
          <p:cNvSpPr txBox="1">
            <a:spLocks noGrp="1"/>
          </p:cNvSpPr>
          <p:nvPr>
            <p:ph type="title"/>
          </p:nvPr>
        </p:nvSpPr>
        <p:spPr>
          <a:xfrm>
            <a:off x="464100" y="2283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Impact of genetic drift at different Ne</a:t>
            </a:r>
            <a:endParaRPr/>
          </a:p>
        </p:txBody>
      </p:sp>
      <p:sp>
        <p:nvSpPr>
          <p:cNvPr id="177" name="Google Shape;177;g3f5693fca55_0_1001"/>
          <p:cNvSpPr txBox="1"/>
          <p:nvPr/>
        </p:nvSpPr>
        <p:spPr>
          <a:xfrm>
            <a:off x="464100" y="935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Starting allele frequencies</a:t>
            </a:r>
            <a:endParaRPr sz="14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g3f5693fca55_0_1001"/>
          <p:cNvCxnSpPr/>
          <p:nvPr/>
        </p:nvCxnSpPr>
        <p:spPr>
          <a:xfrm flipH="1">
            <a:off x="6846825" y="1459675"/>
            <a:ext cx="26100" cy="32718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179" name="Google Shape;179;g3f5693fca55_0_1001"/>
          <p:cNvSpPr txBox="1"/>
          <p:nvPr/>
        </p:nvSpPr>
        <p:spPr>
          <a:xfrm>
            <a:off x="6996425" y="2866550"/>
            <a:ext cx="1787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Different effective population sizes</a:t>
            </a:r>
            <a:endParaRPr sz="14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5693fca55_0_1001"/>
          <p:cNvSpPr/>
          <p:nvPr/>
        </p:nvSpPr>
        <p:spPr>
          <a:xfrm>
            <a:off x="3088500" y="1260025"/>
            <a:ext cx="3368700" cy="337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g3f5693fca55_0_1001"/>
          <p:cNvSpPr txBox="1"/>
          <p:nvPr/>
        </p:nvSpPr>
        <p:spPr>
          <a:xfrm>
            <a:off x="6996425" y="4151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Large Ne</a:t>
            </a:r>
            <a:endParaRPr sz="14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5693fca55_0_1001"/>
          <p:cNvSpPr txBox="1"/>
          <p:nvPr/>
        </p:nvSpPr>
        <p:spPr>
          <a:xfrm>
            <a:off x="7110675" y="1402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Small Ne</a:t>
            </a:r>
            <a:endParaRPr sz="14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f54f06becc_0_0" title="Screenshot 2026-07-20 at 16.26.5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1975" y="915313"/>
            <a:ext cx="4244849" cy="40047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f54f06becc_0_0"/>
          <p:cNvSpPr txBox="1">
            <a:spLocks noGrp="1"/>
          </p:cNvSpPr>
          <p:nvPr>
            <p:ph type="title"/>
          </p:nvPr>
        </p:nvSpPr>
        <p:spPr>
          <a:xfrm>
            <a:off x="464100" y="2283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Impact of genetic drift at different Ne</a:t>
            </a:r>
            <a:endParaRPr/>
          </a:p>
        </p:txBody>
      </p:sp>
      <p:cxnSp>
        <p:nvCxnSpPr>
          <p:cNvPr id="189" name="Google Shape;189;g3f54f06becc_0_0"/>
          <p:cNvCxnSpPr/>
          <p:nvPr/>
        </p:nvCxnSpPr>
        <p:spPr>
          <a:xfrm flipH="1">
            <a:off x="6846825" y="1459675"/>
            <a:ext cx="26100" cy="32718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190" name="Google Shape;190;g3f54f06becc_0_0"/>
          <p:cNvSpPr/>
          <p:nvPr/>
        </p:nvSpPr>
        <p:spPr>
          <a:xfrm>
            <a:off x="3088500" y="2123500"/>
            <a:ext cx="3368700" cy="251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g3f54f06becc_0_0"/>
          <p:cNvSpPr/>
          <p:nvPr/>
        </p:nvSpPr>
        <p:spPr>
          <a:xfrm>
            <a:off x="2791875" y="998925"/>
            <a:ext cx="3918900" cy="1075800"/>
          </a:xfrm>
          <a:prstGeom prst="rect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g3f54f06becc_0_0"/>
          <p:cNvSpPr txBox="1"/>
          <p:nvPr/>
        </p:nvSpPr>
        <p:spPr>
          <a:xfrm>
            <a:off x="7008975" y="998925"/>
            <a:ext cx="2012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Low Ne high impact of drift, alleles randomly drift to loss or fixation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f57dc8374a_0_393" title="Screenshot 2026-07-20 at 16.26.5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1975" y="915313"/>
            <a:ext cx="4244849" cy="40047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f57dc8374a_0_393"/>
          <p:cNvSpPr txBox="1">
            <a:spLocks noGrp="1"/>
          </p:cNvSpPr>
          <p:nvPr>
            <p:ph type="title"/>
          </p:nvPr>
        </p:nvSpPr>
        <p:spPr>
          <a:xfrm>
            <a:off x="464100" y="2283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Impact of genetic drift at different Ne</a:t>
            </a:r>
            <a:endParaRPr/>
          </a:p>
        </p:txBody>
      </p:sp>
      <p:cxnSp>
        <p:nvCxnSpPr>
          <p:cNvPr id="199" name="Google Shape;199;g3f57dc8374a_0_393"/>
          <p:cNvCxnSpPr/>
          <p:nvPr/>
        </p:nvCxnSpPr>
        <p:spPr>
          <a:xfrm flipH="1">
            <a:off x="6846825" y="1459675"/>
            <a:ext cx="26100" cy="32718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200" name="Google Shape;200;g3f57dc8374a_0_393"/>
          <p:cNvSpPr/>
          <p:nvPr/>
        </p:nvSpPr>
        <p:spPr>
          <a:xfrm>
            <a:off x="3088500" y="2957575"/>
            <a:ext cx="3368700" cy="1679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g3f57dc8374a_0_393"/>
          <p:cNvSpPr/>
          <p:nvPr/>
        </p:nvSpPr>
        <p:spPr>
          <a:xfrm>
            <a:off x="2791875" y="998925"/>
            <a:ext cx="3918900" cy="1075800"/>
          </a:xfrm>
          <a:prstGeom prst="rect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g3f57dc8374a_0_393"/>
          <p:cNvSpPr txBox="1"/>
          <p:nvPr/>
        </p:nvSpPr>
        <p:spPr>
          <a:xfrm>
            <a:off x="7008975" y="998925"/>
            <a:ext cx="2012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Low Ne high impact of drift, alleles randomly drift to loss or fixation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f5693fca55_0_824" title="Screenshot 2026-07-20 at 16.26.5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1975" y="915313"/>
            <a:ext cx="4244849" cy="4004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g3f5693fca55_0_824"/>
          <p:cNvCxnSpPr/>
          <p:nvPr/>
        </p:nvCxnSpPr>
        <p:spPr>
          <a:xfrm flipH="1">
            <a:off x="6846825" y="1459675"/>
            <a:ext cx="26100" cy="32718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209" name="Google Shape;209;g3f5693fca55_0_824"/>
          <p:cNvSpPr txBox="1">
            <a:spLocks noGrp="1"/>
          </p:cNvSpPr>
          <p:nvPr>
            <p:ph type="title"/>
          </p:nvPr>
        </p:nvSpPr>
        <p:spPr>
          <a:xfrm>
            <a:off x="464100" y="2283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Impact of genetic drift at different Ne</a:t>
            </a:r>
            <a:endParaRPr/>
          </a:p>
        </p:txBody>
      </p:sp>
      <p:sp>
        <p:nvSpPr>
          <p:cNvPr id="210" name="Google Shape;210;g3f5693fca55_0_824"/>
          <p:cNvSpPr txBox="1"/>
          <p:nvPr/>
        </p:nvSpPr>
        <p:spPr>
          <a:xfrm>
            <a:off x="7008975" y="998925"/>
            <a:ext cx="2012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Low Ne high impact of drift, alleles randomly drift to loss or fixation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f5693fca55_0_824"/>
          <p:cNvSpPr txBox="1"/>
          <p:nvPr/>
        </p:nvSpPr>
        <p:spPr>
          <a:xfrm>
            <a:off x="589275" y="3945025"/>
            <a:ext cx="2012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High Ne, low impact of drift, stable allele frequencies</a:t>
            </a:r>
            <a:endParaRPr sz="1400" b="1" i="0" u="none" strike="noStrike" cap="non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5693fca55_0_824"/>
          <p:cNvSpPr/>
          <p:nvPr/>
        </p:nvSpPr>
        <p:spPr>
          <a:xfrm>
            <a:off x="2764950" y="3867625"/>
            <a:ext cx="3918900" cy="986100"/>
          </a:xfrm>
          <a:prstGeom prst="rect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5693fca55_0_2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Lost genetic diversity is lost</a:t>
            </a:r>
            <a:endParaRPr/>
          </a:p>
        </p:txBody>
      </p:sp>
      <p:sp>
        <p:nvSpPr>
          <p:cNvPr id="218" name="Google Shape;218;g3f5693fca55_0_25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Smaller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Ne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=&gt; purifying selection is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less efficient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=&gt; deleterious mutation accumulation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19" name="Google Shape;219;g3f5693fca55_0_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675" y="3314350"/>
            <a:ext cx="2343550" cy="15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f5693fca55_0_258"/>
          <p:cNvSpPr/>
          <p:nvPr/>
        </p:nvSpPr>
        <p:spPr>
          <a:xfrm rot="5400000">
            <a:off x="6165550" y="3436450"/>
            <a:ext cx="960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5693fca55_0_10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Lost genetic diversity is lost</a:t>
            </a:r>
            <a:endParaRPr/>
          </a:p>
        </p:txBody>
      </p:sp>
      <p:sp>
        <p:nvSpPr>
          <p:cNvPr id="226" name="Google Shape;226;g3f5693fca55_0_101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Smaller Ne =&gt; purifying selection is less efficient =&gt; deleterious mutation accumulation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Extinction vortex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27" name="Google Shape;227;g3f5693fca55_0_10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675" y="3314350"/>
            <a:ext cx="2343550" cy="15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f5693fca55_0_1013"/>
          <p:cNvPicPr preferRelativeResize="0"/>
          <p:nvPr/>
        </p:nvPicPr>
        <p:blipFill rotWithShape="1">
          <a:blip r:embed="rId4">
            <a:alphaModFix/>
          </a:blip>
          <a:srcRect t="8983"/>
          <a:stretch/>
        </p:blipFill>
        <p:spPr>
          <a:xfrm>
            <a:off x="4194175" y="1864825"/>
            <a:ext cx="4501574" cy="307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f5693fca55_0_1013"/>
          <p:cNvSpPr/>
          <p:nvPr/>
        </p:nvSpPr>
        <p:spPr>
          <a:xfrm rot="5400000">
            <a:off x="6165550" y="3436450"/>
            <a:ext cx="960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0" name="Google Shape;230;g3f5693fca55_0_1013"/>
          <p:cNvCxnSpPr/>
          <p:nvPr/>
        </p:nvCxnSpPr>
        <p:spPr>
          <a:xfrm rot="10800000">
            <a:off x="3024075" y="2158175"/>
            <a:ext cx="2229300" cy="342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693fca55_0_10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Lost genetic diversity is lost</a:t>
            </a:r>
            <a:endParaRPr/>
          </a:p>
        </p:txBody>
      </p:sp>
      <p:sp>
        <p:nvSpPr>
          <p:cNvPr id="236" name="Google Shape;236;g3f5693fca55_0_10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Smaller Ne =&gt; purifying selection is less efficient =&gt; deleterious mutation accumulation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Extinction vortex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But genetic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purging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can occur of deleterious mutations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g3f5693fca55_0_10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675" y="3314350"/>
            <a:ext cx="2343550" cy="15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f5693fca55_0_1022"/>
          <p:cNvSpPr/>
          <p:nvPr/>
        </p:nvSpPr>
        <p:spPr>
          <a:xfrm rot="5400000">
            <a:off x="6165550" y="3436450"/>
            <a:ext cx="960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9" name="Google Shape;239;g3f5693fca55_0_1022" title="Screenshot 2026-07-22 at 09.39.2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3575" y="2765002"/>
            <a:ext cx="6318099" cy="13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f5693fca55_0_1022"/>
          <p:cNvSpPr/>
          <p:nvPr/>
        </p:nvSpPr>
        <p:spPr>
          <a:xfrm>
            <a:off x="2653600" y="2722525"/>
            <a:ext cx="6387000" cy="1562400"/>
          </a:xfrm>
          <a:prstGeom prst="rect">
            <a:avLst/>
          </a:prstGeom>
          <a:noFill/>
          <a:ln w="38100" cap="flat" cmpd="sng">
            <a:solidFill>
              <a:srgbClr val="6FBE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"/>
          <p:cNvSpPr txBox="1">
            <a:spLocks noGrp="1"/>
          </p:cNvSpPr>
          <p:nvPr>
            <p:ph type="ctrTitle"/>
          </p:nvPr>
        </p:nvSpPr>
        <p:spPr>
          <a:xfrm>
            <a:off x="1003650" y="214001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</a:pPr>
            <a:r>
              <a:rPr lang="en-GB"/>
              <a:t>Coalescence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1466600" y="2933225"/>
            <a:ext cx="6453000" cy="42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405000" y="3354125"/>
            <a:ext cx="8739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Stochastic process concerning the genealogy of sampled gene sequences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300" y="101053"/>
            <a:ext cx="4877749" cy="46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"/>
          <p:cNvSpPr/>
          <p:nvPr/>
        </p:nvSpPr>
        <p:spPr>
          <a:xfrm>
            <a:off x="292525" y="4217175"/>
            <a:ext cx="1023900" cy="56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467600" y="1828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412800" y="44061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5074050" y="1303413"/>
            <a:ext cx="41667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Constant sized population (2N)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mutation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migration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selection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recombination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population structure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Non-overlapping generations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5168450" y="481575"/>
            <a:ext cx="363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Under a Wright-Fisher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173925" y="1216650"/>
            <a:ext cx="3714000" cy="3000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g3f5693fca55_0_10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300" y="101053"/>
            <a:ext cx="4877749" cy="46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f5693fca55_0_1031"/>
          <p:cNvSpPr/>
          <p:nvPr/>
        </p:nvSpPr>
        <p:spPr>
          <a:xfrm>
            <a:off x="292525" y="4217175"/>
            <a:ext cx="1023900" cy="56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g3f5693fca55_0_1031"/>
          <p:cNvSpPr txBox="1"/>
          <p:nvPr/>
        </p:nvSpPr>
        <p:spPr>
          <a:xfrm>
            <a:off x="467600" y="1828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5693fca55_0_1031"/>
          <p:cNvSpPr txBox="1"/>
          <p:nvPr/>
        </p:nvSpPr>
        <p:spPr>
          <a:xfrm>
            <a:off x="412800" y="44061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5693fca55_0_1031"/>
          <p:cNvSpPr txBox="1"/>
          <p:nvPr/>
        </p:nvSpPr>
        <p:spPr>
          <a:xfrm>
            <a:off x="5074050" y="1303413"/>
            <a:ext cx="41667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Constant sized population (2N)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mutation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migration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selection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recombination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population structure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Non-overlapping generations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f5693fca55_0_1031"/>
          <p:cNvSpPr txBox="1"/>
          <p:nvPr/>
        </p:nvSpPr>
        <p:spPr>
          <a:xfrm>
            <a:off x="5168450" y="481575"/>
            <a:ext cx="363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Under a Wright-Fisher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g3f5693fca55_0_3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300" y="101053"/>
            <a:ext cx="4877749" cy="46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f5693fca55_0_357"/>
          <p:cNvSpPr/>
          <p:nvPr/>
        </p:nvSpPr>
        <p:spPr>
          <a:xfrm>
            <a:off x="292525" y="4217175"/>
            <a:ext cx="1023900" cy="56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g3f5693fca55_0_357"/>
          <p:cNvSpPr txBox="1"/>
          <p:nvPr/>
        </p:nvSpPr>
        <p:spPr>
          <a:xfrm>
            <a:off x="467600" y="1828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5693fca55_0_357"/>
          <p:cNvSpPr txBox="1"/>
          <p:nvPr/>
        </p:nvSpPr>
        <p:spPr>
          <a:xfrm>
            <a:off x="412800" y="44061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f5693fca55_0_357"/>
          <p:cNvSpPr txBox="1"/>
          <p:nvPr/>
        </p:nvSpPr>
        <p:spPr>
          <a:xfrm>
            <a:off x="4977300" y="4127525"/>
            <a:ext cx="4166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Haploid</a:t>
            </a:r>
            <a:r>
              <a:rPr lang="en-GB" sz="16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samples in the present</a:t>
            </a:r>
            <a:endParaRPr sz="1200" b="0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f5693fca55_0_357"/>
          <p:cNvSpPr txBox="1"/>
          <p:nvPr/>
        </p:nvSpPr>
        <p:spPr>
          <a:xfrm>
            <a:off x="4900450" y="2030750"/>
            <a:ext cx="4166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944E49"/>
                </a:solidFill>
                <a:latin typeface="Arial"/>
                <a:ea typeface="Arial"/>
                <a:cs typeface="Arial"/>
                <a:sym typeface="Arial"/>
              </a:rPr>
              <a:t>Each row = 1 generation</a:t>
            </a:r>
            <a:endParaRPr sz="1200" b="0" i="0" u="none" strike="noStrike" cap="none">
              <a:solidFill>
                <a:srgbClr val="944E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g3f5693fca55_0_357"/>
          <p:cNvCxnSpPr>
            <a:endCxn id="280" idx="1"/>
          </p:cNvCxnSpPr>
          <p:nvPr/>
        </p:nvCxnSpPr>
        <p:spPr>
          <a:xfrm>
            <a:off x="4485300" y="402200"/>
            <a:ext cx="1658700" cy="6570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281" name="Google Shape;281;g3f5693fca55_0_357"/>
          <p:cNvCxnSpPr>
            <a:endCxn id="280" idx="1"/>
          </p:cNvCxnSpPr>
          <p:nvPr/>
        </p:nvCxnSpPr>
        <p:spPr>
          <a:xfrm rot="10800000" flipH="1">
            <a:off x="4820400" y="1059200"/>
            <a:ext cx="1323600" cy="2388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280" name="Google Shape;280;g3f5693fca55_0_357"/>
          <p:cNvSpPr txBox="1"/>
          <p:nvPr/>
        </p:nvSpPr>
        <p:spPr>
          <a:xfrm>
            <a:off x="6144000" y="72065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Relationship of samples to each other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275" y="222825"/>
            <a:ext cx="4282400" cy="46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 txBox="1"/>
          <p:nvPr/>
        </p:nvSpPr>
        <p:spPr>
          <a:xfrm>
            <a:off x="4854675" y="410625"/>
            <a:ext cx="38184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Trace back the ancestry of samples 2,4,5,7,9</a:t>
            </a:r>
            <a:endParaRPr sz="16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Where do they share a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common ancestor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4572000" y="4267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5 samples</a:t>
            </a:r>
            <a:endParaRPr sz="14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g3f5693fca55_0_3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275" y="222825"/>
            <a:ext cx="4282400" cy="4697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4" name="Google Shape;294;g3f5693fca55_0_385"/>
          <p:cNvCxnSpPr/>
          <p:nvPr/>
        </p:nvCxnSpPr>
        <p:spPr>
          <a:xfrm rot="10800000" flipH="1">
            <a:off x="2699700" y="2998275"/>
            <a:ext cx="2577900" cy="9690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295" name="Google Shape;295;g3f5693fca55_0_385"/>
          <p:cNvSpPr txBox="1"/>
          <p:nvPr/>
        </p:nvSpPr>
        <p:spPr>
          <a:xfrm>
            <a:off x="5353550" y="2710350"/>
            <a:ext cx="3851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 &amp; 5 share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common ancestor 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 previous generation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they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coalesce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here to one lineage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5693fca55_0_385"/>
          <p:cNvSpPr txBox="1"/>
          <p:nvPr/>
        </p:nvSpPr>
        <p:spPr>
          <a:xfrm>
            <a:off x="4572000" y="4267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5 samples</a:t>
            </a:r>
            <a:endParaRPr sz="14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f5693fca55_0_385"/>
          <p:cNvSpPr txBox="1"/>
          <p:nvPr/>
        </p:nvSpPr>
        <p:spPr>
          <a:xfrm>
            <a:off x="4572000" y="38673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ancestors</a:t>
            </a:r>
            <a:endParaRPr sz="14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f5693fca55_0_385"/>
          <p:cNvSpPr txBox="1"/>
          <p:nvPr/>
        </p:nvSpPr>
        <p:spPr>
          <a:xfrm>
            <a:off x="4854675" y="410625"/>
            <a:ext cx="38184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Trace back the ancestry of samples 2,4,5,7,9</a:t>
            </a:r>
            <a:endParaRPr sz="16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Where do they share a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common ancestor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g3f5693fca55_0_3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275" y="222825"/>
            <a:ext cx="4282400" cy="4697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g3f5693fca55_0_393"/>
          <p:cNvCxnSpPr/>
          <p:nvPr/>
        </p:nvCxnSpPr>
        <p:spPr>
          <a:xfrm rot="10800000" flipH="1">
            <a:off x="2699625" y="2169588"/>
            <a:ext cx="2980200" cy="6237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305" name="Google Shape;305;g3f5693fca55_0_393"/>
          <p:cNvSpPr txBox="1"/>
          <p:nvPr/>
        </p:nvSpPr>
        <p:spPr>
          <a:xfrm>
            <a:off x="5679825" y="202330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 &amp; ancestor of (4 &amp; 5)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coalesce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here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f5693fca55_0_393"/>
          <p:cNvSpPr txBox="1"/>
          <p:nvPr/>
        </p:nvSpPr>
        <p:spPr>
          <a:xfrm>
            <a:off x="4572000" y="4267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5 samples</a:t>
            </a:r>
            <a:endParaRPr sz="14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f5693fca55_0_393"/>
          <p:cNvSpPr txBox="1"/>
          <p:nvPr/>
        </p:nvSpPr>
        <p:spPr>
          <a:xfrm>
            <a:off x="4572000" y="38673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ancestors</a:t>
            </a:r>
            <a:endParaRPr sz="14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f5693fca55_0_393"/>
          <p:cNvSpPr txBox="1"/>
          <p:nvPr/>
        </p:nvSpPr>
        <p:spPr>
          <a:xfrm>
            <a:off x="4572000" y="264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3 ancestors</a:t>
            </a:r>
            <a:endParaRPr sz="14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f5693fca55_0_393"/>
          <p:cNvSpPr txBox="1"/>
          <p:nvPr/>
        </p:nvSpPr>
        <p:spPr>
          <a:xfrm>
            <a:off x="4854675" y="410625"/>
            <a:ext cx="38184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Trace back the ancestry of samples 2,4,5,7,9</a:t>
            </a:r>
            <a:endParaRPr sz="16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Where do they share a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common ancestor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g3f5693fca55_0_4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275" y="222825"/>
            <a:ext cx="4282400" cy="46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f5693fca55_0_402"/>
          <p:cNvSpPr txBox="1"/>
          <p:nvPr/>
        </p:nvSpPr>
        <p:spPr>
          <a:xfrm>
            <a:off x="4854675" y="410625"/>
            <a:ext cx="3470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Trace back the ancestry of samples 2,4,5,7,9</a:t>
            </a:r>
            <a:endParaRPr sz="16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g3f5693fca55_0_402"/>
          <p:cNvCxnSpPr/>
          <p:nvPr/>
        </p:nvCxnSpPr>
        <p:spPr>
          <a:xfrm>
            <a:off x="2632700" y="1304150"/>
            <a:ext cx="2961900" cy="13614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317" name="Google Shape;317;g3f5693fca55_0_402"/>
          <p:cNvSpPr txBox="1"/>
          <p:nvPr/>
        </p:nvSpPr>
        <p:spPr>
          <a:xfrm>
            <a:off x="5594600" y="224305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1D629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1D6295"/>
                </a:solidFill>
                <a:latin typeface="Arial"/>
                <a:ea typeface="Arial"/>
                <a:cs typeface="Arial"/>
                <a:sym typeface="Arial"/>
              </a:rPr>
              <a:t>Eventually all lineages coalesce into one</a:t>
            </a:r>
            <a:endParaRPr sz="1600" b="0" i="0" u="none" strike="noStrike" cap="none">
              <a:solidFill>
                <a:srgbClr val="1D629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1D6295"/>
                </a:solidFill>
                <a:latin typeface="Arial"/>
                <a:ea typeface="Arial"/>
                <a:cs typeface="Arial"/>
                <a:sym typeface="Arial"/>
              </a:rPr>
              <a:t>This is where they share the </a:t>
            </a:r>
            <a:r>
              <a:rPr lang="en-GB" sz="1600" b="1" i="0" u="none" strike="noStrike" cap="none">
                <a:solidFill>
                  <a:srgbClr val="1D6295"/>
                </a:solidFill>
                <a:latin typeface="Arial"/>
                <a:ea typeface="Arial"/>
                <a:cs typeface="Arial"/>
                <a:sym typeface="Arial"/>
              </a:rPr>
              <a:t>most recent</a:t>
            </a:r>
            <a:r>
              <a:rPr lang="en-GB" sz="1600" b="0" i="0" u="none" strike="noStrike" cap="none">
                <a:solidFill>
                  <a:srgbClr val="1D629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600" b="1" i="0" u="none" strike="noStrike" cap="none">
                <a:solidFill>
                  <a:srgbClr val="1D6295"/>
                </a:solidFill>
                <a:latin typeface="Arial"/>
                <a:ea typeface="Arial"/>
                <a:cs typeface="Arial"/>
                <a:sym typeface="Arial"/>
              </a:rPr>
              <a:t>common ancestor (MRCA)</a:t>
            </a:r>
            <a:endParaRPr sz="1400" b="0" i="0" u="none" strike="noStrike" cap="none">
              <a:solidFill>
                <a:srgbClr val="1D629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f5693fca55_0_402"/>
          <p:cNvSpPr txBox="1"/>
          <p:nvPr/>
        </p:nvSpPr>
        <p:spPr>
          <a:xfrm>
            <a:off x="62300" y="4192425"/>
            <a:ext cx="168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5 samples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f5693fca55_0_402"/>
          <p:cNvSpPr txBox="1"/>
          <p:nvPr/>
        </p:nvSpPr>
        <p:spPr>
          <a:xfrm>
            <a:off x="62300" y="37922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f5693fca55_0_402"/>
          <p:cNvSpPr txBox="1"/>
          <p:nvPr/>
        </p:nvSpPr>
        <p:spPr>
          <a:xfrm>
            <a:off x="62300" y="2571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3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5693fca55_0_402"/>
          <p:cNvSpPr txBox="1"/>
          <p:nvPr/>
        </p:nvSpPr>
        <p:spPr>
          <a:xfrm>
            <a:off x="62300" y="3382088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5693fca55_0_402"/>
          <p:cNvSpPr txBox="1"/>
          <p:nvPr/>
        </p:nvSpPr>
        <p:spPr>
          <a:xfrm>
            <a:off x="62300" y="297691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f5693fca55_0_402"/>
          <p:cNvSpPr txBox="1"/>
          <p:nvPr/>
        </p:nvSpPr>
        <p:spPr>
          <a:xfrm>
            <a:off x="62300" y="22430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3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f5693fca55_0_402"/>
          <p:cNvSpPr txBox="1"/>
          <p:nvPr/>
        </p:nvSpPr>
        <p:spPr>
          <a:xfrm>
            <a:off x="62300" y="1873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2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f5693fca55_0_402"/>
          <p:cNvSpPr txBox="1"/>
          <p:nvPr/>
        </p:nvSpPr>
        <p:spPr>
          <a:xfrm>
            <a:off x="62300" y="15091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2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f5693fca55_0_402"/>
          <p:cNvSpPr txBox="1"/>
          <p:nvPr/>
        </p:nvSpPr>
        <p:spPr>
          <a:xfrm>
            <a:off x="62300" y="11040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1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f5693fca55_0_402"/>
          <p:cNvSpPr/>
          <p:nvPr/>
        </p:nvSpPr>
        <p:spPr>
          <a:xfrm>
            <a:off x="2291425" y="39002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g3f5693fca55_0_402"/>
          <p:cNvSpPr/>
          <p:nvPr/>
        </p:nvSpPr>
        <p:spPr>
          <a:xfrm>
            <a:off x="2291425" y="26784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g3f5693fca55_0_402"/>
          <p:cNvSpPr/>
          <p:nvPr/>
        </p:nvSpPr>
        <p:spPr>
          <a:xfrm>
            <a:off x="2291425" y="188842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0" name="Google Shape;330;g3f5693fca55_0_402"/>
          <p:cNvSpPr/>
          <p:nvPr/>
        </p:nvSpPr>
        <p:spPr>
          <a:xfrm>
            <a:off x="2291425" y="10983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g3f5693fca55_0_6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275" y="222825"/>
            <a:ext cx="4282400" cy="46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f5693fca55_0_619"/>
          <p:cNvSpPr txBox="1"/>
          <p:nvPr/>
        </p:nvSpPr>
        <p:spPr>
          <a:xfrm>
            <a:off x="62300" y="4192425"/>
            <a:ext cx="168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5 samples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5693fca55_0_619"/>
          <p:cNvSpPr txBox="1"/>
          <p:nvPr/>
        </p:nvSpPr>
        <p:spPr>
          <a:xfrm>
            <a:off x="62300" y="37922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f5693fca55_0_619"/>
          <p:cNvSpPr txBox="1"/>
          <p:nvPr/>
        </p:nvSpPr>
        <p:spPr>
          <a:xfrm>
            <a:off x="62300" y="2571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3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f5693fca55_0_619"/>
          <p:cNvSpPr txBox="1"/>
          <p:nvPr/>
        </p:nvSpPr>
        <p:spPr>
          <a:xfrm>
            <a:off x="62300" y="3382088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f5693fca55_0_619"/>
          <p:cNvSpPr txBox="1"/>
          <p:nvPr/>
        </p:nvSpPr>
        <p:spPr>
          <a:xfrm>
            <a:off x="62300" y="297691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f5693fca55_0_619"/>
          <p:cNvSpPr txBox="1"/>
          <p:nvPr/>
        </p:nvSpPr>
        <p:spPr>
          <a:xfrm>
            <a:off x="62300" y="22430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3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f5693fca55_0_619"/>
          <p:cNvSpPr txBox="1"/>
          <p:nvPr/>
        </p:nvSpPr>
        <p:spPr>
          <a:xfrm>
            <a:off x="62300" y="1873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2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f5693fca55_0_619"/>
          <p:cNvSpPr txBox="1"/>
          <p:nvPr/>
        </p:nvSpPr>
        <p:spPr>
          <a:xfrm>
            <a:off x="62300" y="15091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2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f5693fca55_0_619"/>
          <p:cNvSpPr txBox="1"/>
          <p:nvPr/>
        </p:nvSpPr>
        <p:spPr>
          <a:xfrm>
            <a:off x="62300" y="11040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1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f5693fca55_0_619"/>
          <p:cNvSpPr/>
          <p:nvPr/>
        </p:nvSpPr>
        <p:spPr>
          <a:xfrm>
            <a:off x="2291425" y="39002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g3f5693fca55_0_619"/>
          <p:cNvSpPr/>
          <p:nvPr/>
        </p:nvSpPr>
        <p:spPr>
          <a:xfrm>
            <a:off x="2291425" y="26784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g3f5693fca55_0_619"/>
          <p:cNvSpPr/>
          <p:nvPr/>
        </p:nvSpPr>
        <p:spPr>
          <a:xfrm>
            <a:off x="2291425" y="188842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g3f5693fca55_0_619"/>
          <p:cNvSpPr/>
          <p:nvPr/>
        </p:nvSpPr>
        <p:spPr>
          <a:xfrm>
            <a:off x="2291425" y="10983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9" name="Google Shape;349;g3f5693fca55_0_619"/>
          <p:cNvPicPr preferRelativeResize="0"/>
          <p:nvPr/>
        </p:nvPicPr>
        <p:blipFill rotWithShape="1">
          <a:blip r:embed="rId4">
            <a:alphaModFix/>
          </a:blip>
          <a:srcRect l="21359"/>
          <a:stretch/>
        </p:blipFill>
        <p:spPr>
          <a:xfrm>
            <a:off x="4757675" y="1104000"/>
            <a:ext cx="2982025" cy="363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f5693fca55_0_619"/>
          <p:cNvSpPr txBox="1"/>
          <p:nvPr/>
        </p:nvSpPr>
        <p:spPr>
          <a:xfrm>
            <a:off x="4724400" y="375225"/>
            <a:ext cx="4521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Probability of coalescence of 2 alleles in previous generation (t-1)  = 1 / 2Ne</a:t>
            </a:r>
            <a:endParaRPr sz="3200" b="1" i="0" u="none" strike="noStrike" cap="non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g3f6b66d6053_1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275" y="222825"/>
            <a:ext cx="4282400" cy="46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f6b66d6053_1_6"/>
          <p:cNvSpPr txBox="1"/>
          <p:nvPr/>
        </p:nvSpPr>
        <p:spPr>
          <a:xfrm>
            <a:off x="62300" y="4192425"/>
            <a:ext cx="168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5 samples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f6b66d6053_1_6"/>
          <p:cNvSpPr txBox="1"/>
          <p:nvPr/>
        </p:nvSpPr>
        <p:spPr>
          <a:xfrm>
            <a:off x="62300" y="37922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f6b66d6053_1_6"/>
          <p:cNvSpPr txBox="1"/>
          <p:nvPr/>
        </p:nvSpPr>
        <p:spPr>
          <a:xfrm>
            <a:off x="62300" y="2571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3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f6b66d6053_1_6"/>
          <p:cNvSpPr txBox="1"/>
          <p:nvPr/>
        </p:nvSpPr>
        <p:spPr>
          <a:xfrm>
            <a:off x="62300" y="3382088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f6b66d6053_1_6"/>
          <p:cNvSpPr txBox="1"/>
          <p:nvPr/>
        </p:nvSpPr>
        <p:spPr>
          <a:xfrm>
            <a:off x="62300" y="297691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f6b66d6053_1_6"/>
          <p:cNvSpPr txBox="1"/>
          <p:nvPr/>
        </p:nvSpPr>
        <p:spPr>
          <a:xfrm>
            <a:off x="62300" y="22430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3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f6b66d6053_1_6"/>
          <p:cNvSpPr txBox="1"/>
          <p:nvPr/>
        </p:nvSpPr>
        <p:spPr>
          <a:xfrm>
            <a:off x="62300" y="1873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2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f6b66d6053_1_6"/>
          <p:cNvSpPr txBox="1"/>
          <p:nvPr/>
        </p:nvSpPr>
        <p:spPr>
          <a:xfrm>
            <a:off x="62300" y="15091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2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f6b66d6053_1_6"/>
          <p:cNvSpPr txBox="1"/>
          <p:nvPr/>
        </p:nvSpPr>
        <p:spPr>
          <a:xfrm>
            <a:off x="62300" y="11040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1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f6b66d6053_1_6"/>
          <p:cNvSpPr/>
          <p:nvPr/>
        </p:nvSpPr>
        <p:spPr>
          <a:xfrm>
            <a:off x="2291425" y="39002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g3f6b66d6053_1_6"/>
          <p:cNvSpPr/>
          <p:nvPr/>
        </p:nvSpPr>
        <p:spPr>
          <a:xfrm>
            <a:off x="2291425" y="26784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g3f6b66d6053_1_6"/>
          <p:cNvSpPr/>
          <p:nvPr/>
        </p:nvSpPr>
        <p:spPr>
          <a:xfrm>
            <a:off x="2291425" y="188842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g3f6b66d6053_1_6"/>
          <p:cNvSpPr/>
          <p:nvPr/>
        </p:nvSpPr>
        <p:spPr>
          <a:xfrm>
            <a:off x="2291425" y="10983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69" name="Google Shape;369;g3f6b66d6053_1_6"/>
          <p:cNvPicPr preferRelativeResize="0"/>
          <p:nvPr/>
        </p:nvPicPr>
        <p:blipFill rotWithShape="1">
          <a:blip r:embed="rId4">
            <a:alphaModFix/>
          </a:blip>
          <a:srcRect l="21359"/>
          <a:stretch/>
        </p:blipFill>
        <p:spPr>
          <a:xfrm>
            <a:off x="4757675" y="1104000"/>
            <a:ext cx="2982025" cy="363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f6b66d6053_1_6"/>
          <p:cNvSpPr txBox="1"/>
          <p:nvPr/>
        </p:nvSpPr>
        <p:spPr>
          <a:xfrm>
            <a:off x="4724400" y="375225"/>
            <a:ext cx="4521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Probability of coalescence of 2 alleles in previous generation (t-1)  = 1 / 2Ne</a:t>
            </a:r>
            <a:endParaRPr sz="3200" b="1" i="0" u="none" strike="noStrike" cap="non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f6b66d6053_1_6"/>
          <p:cNvSpPr txBox="1"/>
          <p:nvPr/>
        </p:nvSpPr>
        <p:spPr>
          <a:xfrm>
            <a:off x="7097750" y="1728900"/>
            <a:ext cx="18564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First coalescence usually happens </a:t>
            </a:r>
            <a:r>
              <a:rPr lang="en-GB" sz="1800" b="1">
                <a:solidFill>
                  <a:schemeClr val="dk2"/>
                </a:solidFill>
              </a:rPr>
              <a:t>fast</a:t>
            </a:r>
            <a:r>
              <a:rPr lang="en-GB" sz="1800">
                <a:solidFill>
                  <a:schemeClr val="dk2"/>
                </a:solidFill>
              </a:rPr>
              <a:t>, then waiting times increase</a:t>
            </a:r>
            <a:endParaRPr/>
          </a:p>
        </p:txBody>
      </p:sp>
      <p:cxnSp>
        <p:nvCxnSpPr>
          <p:cNvPr id="372" name="Google Shape;372;g3f6b66d6053_1_6"/>
          <p:cNvCxnSpPr/>
          <p:nvPr/>
        </p:nvCxnSpPr>
        <p:spPr>
          <a:xfrm rot="10800000" flipH="1">
            <a:off x="5809800" y="2361525"/>
            <a:ext cx="1328700" cy="1430700"/>
          </a:xfrm>
          <a:prstGeom prst="straightConnector1">
            <a:avLst/>
          </a:prstGeom>
          <a:noFill/>
          <a:ln w="38100" cap="flat" cmpd="sng">
            <a:solidFill>
              <a:srgbClr val="CE93D8"/>
            </a:solidFill>
            <a:prstDash val="solid"/>
            <a:round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g3f57dc8374a_0_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275" y="222825"/>
            <a:ext cx="4282400" cy="46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f57dc8374a_0_15"/>
          <p:cNvSpPr txBox="1"/>
          <p:nvPr/>
        </p:nvSpPr>
        <p:spPr>
          <a:xfrm>
            <a:off x="62300" y="4192425"/>
            <a:ext cx="168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5 samples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f57dc8374a_0_15"/>
          <p:cNvSpPr txBox="1"/>
          <p:nvPr/>
        </p:nvSpPr>
        <p:spPr>
          <a:xfrm>
            <a:off x="62300" y="37922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f57dc8374a_0_15"/>
          <p:cNvSpPr txBox="1"/>
          <p:nvPr/>
        </p:nvSpPr>
        <p:spPr>
          <a:xfrm>
            <a:off x="62300" y="2571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3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f57dc8374a_0_15"/>
          <p:cNvSpPr txBox="1"/>
          <p:nvPr/>
        </p:nvSpPr>
        <p:spPr>
          <a:xfrm>
            <a:off x="62300" y="3382088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f57dc8374a_0_15"/>
          <p:cNvSpPr txBox="1"/>
          <p:nvPr/>
        </p:nvSpPr>
        <p:spPr>
          <a:xfrm>
            <a:off x="62300" y="297691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4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f57dc8374a_0_15"/>
          <p:cNvSpPr txBox="1"/>
          <p:nvPr/>
        </p:nvSpPr>
        <p:spPr>
          <a:xfrm>
            <a:off x="62300" y="22430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3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f57dc8374a_0_15"/>
          <p:cNvSpPr txBox="1"/>
          <p:nvPr/>
        </p:nvSpPr>
        <p:spPr>
          <a:xfrm>
            <a:off x="62300" y="1873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2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f57dc8374a_0_15"/>
          <p:cNvSpPr txBox="1"/>
          <p:nvPr/>
        </p:nvSpPr>
        <p:spPr>
          <a:xfrm>
            <a:off x="62300" y="15091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2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f57dc8374a_0_15"/>
          <p:cNvSpPr txBox="1"/>
          <p:nvPr/>
        </p:nvSpPr>
        <p:spPr>
          <a:xfrm>
            <a:off x="62300" y="11040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rgbClr val="00A1D5"/>
                </a:solidFill>
                <a:latin typeface="Arial"/>
                <a:ea typeface="Arial"/>
                <a:cs typeface="Arial"/>
                <a:sym typeface="Arial"/>
              </a:rPr>
              <a:t>1 anc</a:t>
            </a:r>
            <a:endParaRPr sz="1200" b="1" i="0" u="none" strike="noStrike" cap="none">
              <a:solidFill>
                <a:srgbClr val="00A1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f57dc8374a_0_15"/>
          <p:cNvSpPr/>
          <p:nvPr/>
        </p:nvSpPr>
        <p:spPr>
          <a:xfrm>
            <a:off x="2291425" y="39002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8" name="Google Shape;388;g3f57dc8374a_0_15"/>
          <p:cNvSpPr/>
          <p:nvPr/>
        </p:nvSpPr>
        <p:spPr>
          <a:xfrm>
            <a:off x="2291425" y="26784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9" name="Google Shape;389;g3f57dc8374a_0_15"/>
          <p:cNvSpPr/>
          <p:nvPr/>
        </p:nvSpPr>
        <p:spPr>
          <a:xfrm>
            <a:off x="2291425" y="188842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0" name="Google Shape;390;g3f57dc8374a_0_15"/>
          <p:cNvSpPr/>
          <p:nvPr/>
        </p:nvSpPr>
        <p:spPr>
          <a:xfrm>
            <a:off x="2291425" y="10983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g3f57dc8374a_0_15"/>
          <p:cNvSpPr txBox="1"/>
          <p:nvPr/>
        </p:nvSpPr>
        <p:spPr>
          <a:xfrm>
            <a:off x="4724400" y="375225"/>
            <a:ext cx="45219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Probability of coalescence of 2 alleles in previous generation (t-1)  = 1 / 2Ne</a:t>
            </a:r>
            <a:endParaRPr sz="1600" b="1" i="0" u="none" strike="noStrike" cap="non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Coalescence rate </a:t>
            </a:r>
            <a:r>
              <a:rPr lang="en-GB" sz="32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∝</a:t>
            </a:r>
            <a:r>
              <a:rPr lang="en-GB" sz="16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 population size</a:t>
            </a:r>
            <a:endParaRPr sz="1600" b="1" i="0" u="none" strike="noStrike" cap="non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Direct relation between time and Ne</a:t>
            </a:r>
            <a:endParaRPr sz="1600" b="1" i="0" u="none" strike="noStrike" cap="non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5693fca55_0_326"/>
          <p:cNvSpPr txBox="1">
            <a:spLocks noGrp="1"/>
          </p:cNvSpPr>
          <p:nvPr>
            <p:ph type="ctrTitle"/>
          </p:nvPr>
        </p:nvSpPr>
        <p:spPr>
          <a:xfrm>
            <a:off x="1003650" y="214001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 trees + species trees</a:t>
            </a:r>
            <a:endParaRPr/>
          </a:p>
        </p:txBody>
      </p:sp>
      <p:sp>
        <p:nvSpPr>
          <p:cNvPr id="397" name="Google Shape;397;g3f5693fca55_0_326"/>
          <p:cNvSpPr/>
          <p:nvPr/>
        </p:nvSpPr>
        <p:spPr>
          <a:xfrm>
            <a:off x="1466600" y="3067300"/>
            <a:ext cx="6453000" cy="42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54f06becc_0_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403" name="Google Shape;403;g3f54f06becc_0_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404" name="Google Shape;404;g3f54f06becc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f54f06becc_0_6"/>
          <p:cNvSpPr txBox="1"/>
          <p:nvPr/>
        </p:nvSpPr>
        <p:spPr>
          <a:xfrm>
            <a:off x="6311850" y="1459700"/>
            <a:ext cx="225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Species tree</a:t>
            </a:r>
            <a:endParaRPr sz="1400" b="0" i="0" u="none" strike="noStrike" cap="none">
              <a:solidFill>
                <a:srgbClr val="2A2A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f54f06becc_0_6"/>
          <p:cNvSpPr txBox="1"/>
          <p:nvPr/>
        </p:nvSpPr>
        <p:spPr>
          <a:xfrm>
            <a:off x="467600" y="292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f54f06becc_0_6"/>
          <p:cNvSpPr txBox="1"/>
          <p:nvPr/>
        </p:nvSpPr>
        <p:spPr>
          <a:xfrm>
            <a:off x="412800" y="44061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f54f06becc_0_6"/>
          <p:cNvSpPr/>
          <p:nvPr/>
        </p:nvSpPr>
        <p:spPr>
          <a:xfrm rot="1553058">
            <a:off x="2268112" y="4039222"/>
            <a:ext cx="417816" cy="46169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9" name="Google Shape;409;g3f54f06becc_0_6"/>
          <p:cNvSpPr/>
          <p:nvPr/>
        </p:nvSpPr>
        <p:spPr>
          <a:xfrm rot="1551843">
            <a:off x="3843645" y="387590"/>
            <a:ext cx="405743" cy="29165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0" name="Google Shape;410;g3f54f06becc_0_6"/>
          <p:cNvSpPr/>
          <p:nvPr/>
        </p:nvSpPr>
        <p:spPr>
          <a:xfrm rot="1551981">
            <a:off x="2629820" y="2559123"/>
            <a:ext cx="429089" cy="212344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1" name="Google Shape;411;g3f54f06becc_0_6"/>
          <p:cNvSpPr/>
          <p:nvPr/>
        </p:nvSpPr>
        <p:spPr>
          <a:xfrm rot="9887855">
            <a:off x="4117642" y="2093381"/>
            <a:ext cx="429013" cy="257073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2" name="Google Shape;412;g3f54f06becc_0_6"/>
          <p:cNvSpPr/>
          <p:nvPr/>
        </p:nvSpPr>
        <p:spPr>
          <a:xfrm rot="8902605">
            <a:off x="5022012" y="405269"/>
            <a:ext cx="429118" cy="2570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3" name="Google Shape;413;g3f54f06becc_0_6"/>
          <p:cNvSpPr/>
          <p:nvPr/>
        </p:nvSpPr>
        <p:spPr>
          <a:xfrm rot="9521144">
            <a:off x="6244688" y="2713844"/>
            <a:ext cx="321060" cy="196491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4" name="Google Shape;414;g3f54f06becc_0_6"/>
          <p:cNvSpPr/>
          <p:nvPr/>
        </p:nvSpPr>
        <p:spPr>
          <a:xfrm rot="9521144">
            <a:off x="5871838" y="1935219"/>
            <a:ext cx="321060" cy="196491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57dc8374a_0_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420" name="Google Shape;420;g3f57dc8374a_0_5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421" name="Google Shape;421;g3f57dc8374a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f57dc8374a_0_58"/>
          <p:cNvSpPr txBox="1"/>
          <p:nvPr/>
        </p:nvSpPr>
        <p:spPr>
          <a:xfrm>
            <a:off x="6311850" y="1459700"/>
            <a:ext cx="225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Species tree</a:t>
            </a:r>
            <a:endParaRPr sz="1400" b="0" i="0" u="none" strike="noStrike" cap="none">
              <a:solidFill>
                <a:srgbClr val="2A2A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3f57dc8374a_0_58"/>
          <p:cNvSpPr txBox="1"/>
          <p:nvPr/>
        </p:nvSpPr>
        <p:spPr>
          <a:xfrm>
            <a:off x="1393900" y="2110050"/>
            <a:ext cx="1409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D49047"/>
                </a:solidFill>
                <a:latin typeface="Arial"/>
                <a:ea typeface="Arial"/>
                <a:cs typeface="Arial"/>
                <a:sym typeface="Arial"/>
              </a:rPr>
              <a:t>Gene tree</a:t>
            </a:r>
            <a:endParaRPr sz="1400" b="0" i="0" u="none" strike="noStrike" cap="none">
              <a:solidFill>
                <a:srgbClr val="D49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f57dc8374a_0_58"/>
          <p:cNvSpPr txBox="1"/>
          <p:nvPr/>
        </p:nvSpPr>
        <p:spPr>
          <a:xfrm>
            <a:off x="467600" y="292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f57dc8374a_0_58"/>
          <p:cNvSpPr txBox="1"/>
          <p:nvPr/>
        </p:nvSpPr>
        <p:spPr>
          <a:xfrm>
            <a:off x="412800" y="44061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5693fca55_0_2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431" name="Google Shape;431;g3f5693fca55_0_27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432" name="Google Shape;432;g3f5693fca55_0_2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g3f5693fca55_0_272"/>
          <p:cNvSpPr txBox="1"/>
          <p:nvPr/>
        </p:nvSpPr>
        <p:spPr>
          <a:xfrm>
            <a:off x="6311850" y="1459700"/>
            <a:ext cx="225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Species tree</a:t>
            </a:r>
            <a:endParaRPr sz="1400" b="0" i="0" u="none" strike="noStrike" cap="none">
              <a:solidFill>
                <a:srgbClr val="2A2A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f5693fca55_0_272"/>
          <p:cNvSpPr txBox="1"/>
          <p:nvPr/>
        </p:nvSpPr>
        <p:spPr>
          <a:xfrm>
            <a:off x="1393900" y="2110050"/>
            <a:ext cx="1409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D49047"/>
                </a:solidFill>
                <a:latin typeface="Arial"/>
                <a:ea typeface="Arial"/>
                <a:cs typeface="Arial"/>
                <a:sym typeface="Arial"/>
              </a:rPr>
              <a:t>Gene tree</a:t>
            </a:r>
            <a:endParaRPr sz="1400" b="0" i="0" u="none" strike="noStrike" cap="none">
              <a:solidFill>
                <a:srgbClr val="D49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g3f5693fca55_0_272"/>
          <p:cNvCxnSpPr/>
          <p:nvPr/>
        </p:nvCxnSpPr>
        <p:spPr>
          <a:xfrm rot="10800000">
            <a:off x="2644850" y="475325"/>
            <a:ext cx="2009400" cy="2004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436" name="Google Shape;436;g3f5693fca55_0_272"/>
          <p:cNvCxnSpPr/>
          <p:nvPr/>
        </p:nvCxnSpPr>
        <p:spPr>
          <a:xfrm rot="10800000">
            <a:off x="1730700" y="1852650"/>
            <a:ext cx="2169600" cy="1125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437" name="Google Shape;437;g3f5693fca55_0_272"/>
          <p:cNvSpPr txBox="1"/>
          <p:nvPr/>
        </p:nvSpPr>
        <p:spPr>
          <a:xfrm>
            <a:off x="363975" y="1371138"/>
            <a:ext cx="153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&amp; B coalesce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f5693fca55_0_272"/>
          <p:cNvSpPr txBox="1"/>
          <p:nvPr/>
        </p:nvSpPr>
        <p:spPr>
          <a:xfrm>
            <a:off x="718500" y="206075"/>
            <a:ext cx="225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 &amp; anc(A,B) coalesce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5693fca55_0_28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444" name="Google Shape;444;g3f5693fca55_0_28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445" name="Google Shape;445;g3f5693fca55_0_2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3f5693fca55_0_287"/>
          <p:cNvSpPr txBox="1"/>
          <p:nvPr/>
        </p:nvSpPr>
        <p:spPr>
          <a:xfrm>
            <a:off x="6311850" y="1459700"/>
            <a:ext cx="225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Species tree</a:t>
            </a:r>
            <a:endParaRPr sz="1400" b="0" i="0" u="none" strike="noStrike" cap="none">
              <a:solidFill>
                <a:srgbClr val="2A2A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f5693fca55_0_287"/>
          <p:cNvSpPr txBox="1"/>
          <p:nvPr/>
        </p:nvSpPr>
        <p:spPr>
          <a:xfrm>
            <a:off x="1393900" y="2110050"/>
            <a:ext cx="1409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D49047"/>
                </a:solidFill>
                <a:latin typeface="Arial"/>
                <a:ea typeface="Arial"/>
                <a:cs typeface="Arial"/>
                <a:sym typeface="Arial"/>
              </a:rPr>
              <a:t>Gene tree</a:t>
            </a:r>
            <a:endParaRPr sz="1400" b="0" i="0" u="none" strike="noStrike" cap="none">
              <a:solidFill>
                <a:srgbClr val="D49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g3f5693fca55_0_287"/>
          <p:cNvCxnSpPr>
            <a:endCxn id="449" idx="1"/>
          </p:cNvCxnSpPr>
          <p:nvPr/>
        </p:nvCxnSpPr>
        <p:spPr>
          <a:xfrm>
            <a:off x="4826550" y="2096250"/>
            <a:ext cx="2259300" cy="6498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449" name="Google Shape;449;g3f5693fca55_0_287"/>
          <p:cNvSpPr txBox="1"/>
          <p:nvPr/>
        </p:nvSpPr>
        <p:spPr>
          <a:xfrm>
            <a:off x="7085850" y="2376600"/>
            <a:ext cx="153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Species divergence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g3f5693fca55_0_287"/>
          <p:cNvCxnSpPr/>
          <p:nvPr/>
        </p:nvCxnSpPr>
        <p:spPr>
          <a:xfrm flipH="1">
            <a:off x="2644875" y="683825"/>
            <a:ext cx="1998900" cy="1449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451" name="Google Shape;451;g3f5693fca55_0_287"/>
          <p:cNvSpPr txBox="1"/>
          <p:nvPr/>
        </p:nvSpPr>
        <p:spPr>
          <a:xfrm>
            <a:off x="1168425" y="445025"/>
            <a:ext cx="153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Molecular divergence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5693fca55_0_30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457" name="Google Shape;457;g3f5693fca55_0_30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458" name="Google Shape;458;g3f5693fca55_0_3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f5693fca55_0_300"/>
          <p:cNvSpPr txBox="1"/>
          <p:nvPr/>
        </p:nvSpPr>
        <p:spPr>
          <a:xfrm>
            <a:off x="656425" y="804625"/>
            <a:ext cx="225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What is happening in this </a:t>
            </a:r>
            <a:r>
              <a:rPr lang="en-GB" sz="1800" b="1" i="0" u="none" strike="noStrike" cap="none">
                <a:solidFill>
                  <a:srgbClr val="6FBE90"/>
                </a:solidFill>
                <a:latin typeface="Arial"/>
                <a:ea typeface="Arial"/>
                <a:cs typeface="Arial"/>
                <a:sym typeface="Arial"/>
              </a:rPr>
              <a:t>gene tree</a:t>
            </a: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5693fca55_0_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465" name="Google Shape;465;g3f5693fca55_0_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466" name="Google Shape;466;g3f5693fca55_0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f5693fca55_0_23"/>
          <p:cNvSpPr txBox="1"/>
          <p:nvPr/>
        </p:nvSpPr>
        <p:spPr>
          <a:xfrm>
            <a:off x="656425" y="804625"/>
            <a:ext cx="225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What is happening in this </a:t>
            </a:r>
            <a:r>
              <a:rPr lang="en-GB" sz="1800" b="1" i="0" u="none" strike="noStrike" cap="none">
                <a:solidFill>
                  <a:srgbClr val="6FBE90"/>
                </a:solidFill>
                <a:latin typeface="Arial"/>
                <a:ea typeface="Arial"/>
                <a:cs typeface="Arial"/>
                <a:sym typeface="Arial"/>
              </a:rPr>
              <a:t>gene tree</a:t>
            </a: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8" name="Google Shape;468;g3f5693fca55_0_23"/>
          <p:cNvCxnSpPr/>
          <p:nvPr/>
        </p:nvCxnSpPr>
        <p:spPr>
          <a:xfrm>
            <a:off x="4572000" y="1072425"/>
            <a:ext cx="2259300" cy="6498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469" name="Google Shape;469;g3f5693fca55_0_23"/>
          <p:cNvCxnSpPr>
            <a:endCxn id="470" idx="1"/>
          </p:cNvCxnSpPr>
          <p:nvPr/>
        </p:nvCxnSpPr>
        <p:spPr>
          <a:xfrm>
            <a:off x="4809675" y="616375"/>
            <a:ext cx="2454600" cy="3696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471" name="Google Shape;471;g3f5693fca55_0_23"/>
          <p:cNvSpPr txBox="1"/>
          <p:nvPr/>
        </p:nvSpPr>
        <p:spPr>
          <a:xfrm>
            <a:off x="6660675" y="1543513"/>
            <a:ext cx="153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&amp; C coalesce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f5693fca55_0_23"/>
          <p:cNvSpPr txBox="1"/>
          <p:nvPr/>
        </p:nvSpPr>
        <p:spPr>
          <a:xfrm>
            <a:off x="7264275" y="616525"/>
            <a:ext cx="1738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 &amp; anc(A,C) coalesce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5693fca55_0_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477" name="Google Shape;477;g3f5693fca55_0_2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478" name="Google Shape;478;g3f5693fca55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g3f5693fca55_0_28"/>
          <p:cNvSpPr txBox="1"/>
          <p:nvPr/>
        </p:nvSpPr>
        <p:spPr>
          <a:xfrm>
            <a:off x="656425" y="804625"/>
            <a:ext cx="225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&amp; this</a:t>
            </a:r>
            <a:r>
              <a:rPr lang="en-GB" sz="1800" b="1" i="0" u="none" strike="noStrike" cap="none">
                <a:solidFill>
                  <a:srgbClr val="2D6BBC"/>
                </a:solidFill>
                <a:latin typeface="Arial"/>
                <a:ea typeface="Arial"/>
                <a:cs typeface="Arial"/>
                <a:sym typeface="Arial"/>
              </a:rPr>
              <a:t> gene tree</a:t>
            </a: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5693fca55_0_3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485" name="Google Shape;485;g3f5693fca55_0_3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486" name="Google Shape;486;g3f5693fca55_0_3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f5693fca55_0_315"/>
          <p:cNvSpPr txBox="1"/>
          <p:nvPr/>
        </p:nvSpPr>
        <p:spPr>
          <a:xfrm>
            <a:off x="656425" y="804625"/>
            <a:ext cx="225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&amp; this</a:t>
            </a:r>
            <a:r>
              <a:rPr lang="en-GB" sz="1800" b="1" i="0" u="none" strike="noStrike" cap="none">
                <a:solidFill>
                  <a:srgbClr val="2D6BBC"/>
                </a:solidFill>
                <a:latin typeface="Arial"/>
                <a:ea typeface="Arial"/>
                <a:cs typeface="Arial"/>
                <a:sym typeface="Arial"/>
              </a:rPr>
              <a:t> gene tree</a:t>
            </a: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g3f5693fca55_0_315"/>
          <p:cNvCxnSpPr/>
          <p:nvPr/>
        </p:nvCxnSpPr>
        <p:spPr>
          <a:xfrm>
            <a:off x="5217975" y="1152425"/>
            <a:ext cx="2259300" cy="6498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489" name="Google Shape;489;g3f5693fca55_0_315"/>
          <p:cNvCxnSpPr/>
          <p:nvPr/>
        </p:nvCxnSpPr>
        <p:spPr>
          <a:xfrm>
            <a:off x="4809675" y="616375"/>
            <a:ext cx="2454600" cy="3696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490" name="Google Shape;490;g3f5693fca55_0_315"/>
          <p:cNvSpPr txBox="1"/>
          <p:nvPr/>
        </p:nvSpPr>
        <p:spPr>
          <a:xfrm>
            <a:off x="7136025" y="1750713"/>
            <a:ext cx="153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 &amp; C coalesce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f5693fca55_0_315"/>
          <p:cNvSpPr txBox="1"/>
          <p:nvPr/>
        </p:nvSpPr>
        <p:spPr>
          <a:xfrm>
            <a:off x="7264275" y="616525"/>
            <a:ext cx="1738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&amp; anc(B,C) coalesce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5693fca55_0_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497" name="Google Shape;497;g3f5693fca55_0_3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498" name="Google Shape;498;g3f5693fca55_0_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g3f5693fca55_0_33"/>
          <p:cNvSpPr txBox="1"/>
          <p:nvPr/>
        </p:nvSpPr>
        <p:spPr>
          <a:xfrm>
            <a:off x="1132625" y="4102675"/>
            <a:ext cx="5082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populations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species tree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possible gene tree topologies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f5693fca55_0_33"/>
          <p:cNvSpPr txBox="1"/>
          <p:nvPr/>
        </p:nvSpPr>
        <p:spPr>
          <a:xfrm>
            <a:off x="7479400" y="1842413"/>
            <a:ext cx="15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((A,B),C)</a:t>
            </a:r>
            <a:endParaRPr sz="13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f5693fca55_0_33"/>
          <p:cNvSpPr txBox="1"/>
          <p:nvPr/>
        </p:nvSpPr>
        <p:spPr>
          <a:xfrm>
            <a:off x="7479400" y="3114888"/>
            <a:ext cx="15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((A,C),B)</a:t>
            </a:r>
            <a:endParaRPr sz="13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f5693fca55_0_33"/>
          <p:cNvSpPr txBox="1"/>
          <p:nvPr/>
        </p:nvSpPr>
        <p:spPr>
          <a:xfrm>
            <a:off x="7544925" y="4387363"/>
            <a:ext cx="1531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((B,C),A)</a:t>
            </a:r>
            <a:endParaRPr sz="13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f5693fca55_0_33"/>
          <p:cNvSpPr/>
          <p:nvPr/>
        </p:nvSpPr>
        <p:spPr>
          <a:xfrm>
            <a:off x="1637525" y="78600"/>
            <a:ext cx="6327600" cy="70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4" name="Google Shape;504;g3f5693fca55_0_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Multispecies coalescent model</a:t>
            </a:r>
            <a:endParaRPr/>
          </a:p>
        </p:txBody>
      </p:sp>
      <p:sp>
        <p:nvSpPr>
          <p:cNvPr id="505" name="Google Shape;505;g3f5693fca55_0_33"/>
          <p:cNvSpPr/>
          <p:nvPr/>
        </p:nvSpPr>
        <p:spPr>
          <a:xfrm>
            <a:off x="6905625" y="1085850"/>
            <a:ext cx="847800" cy="381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5693fca55_0_339"/>
          <p:cNvSpPr txBox="1"/>
          <p:nvPr/>
        </p:nvSpPr>
        <p:spPr>
          <a:xfrm>
            <a:off x="311700" y="567250"/>
            <a:ext cx="8585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1D6295"/>
                </a:solidFill>
                <a:latin typeface="Arial"/>
                <a:ea typeface="Arial"/>
                <a:cs typeface="Arial"/>
                <a:sym typeface="Arial"/>
              </a:rPr>
              <a:t>Recombination</a:t>
            </a:r>
            <a:r>
              <a:rPr lang="en-GB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allows </a:t>
            </a:r>
            <a:r>
              <a:rPr lang="en-GB" sz="2000" b="1" i="0" u="none" strike="noStrike" cap="none">
                <a:solidFill>
                  <a:srgbClr val="1D6295"/>
                </a:solidFill>
                <a:latin typeface="Arial"/>
                <a:ea typeface="Arial"/>
                <a:cs typeface="Arial"/>
                <a:sym typeface="Arial"/>
              </a:rPr>
              <a:t>different genomic regions</a:t>
            </a:r>
            <a:r>
              <a:rPr lang="en-GB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have </a:t>
            </a:r>
            <a:r>
              <a:rPr lang="en-GB" sz="2000" b="1" i="0" u="none" strike="noStrike" cap="none">
                <a:solidFill>
                  <a:srgbClr val="1D6295"/>
                </a:solidFill>
                <a:latin typeface="Arial"/>
                <a:ea typeface="Arial"/>
                <a:cs typeface="Arial"/>
                <a:sym typeface="Arial"/>
              </a:rPr>
              <a:t>different gene trees</a:t>
            </a:r>
            <a:endParaRPr sz="1400" b="0" i="0" u="none" strike="noStrike" cap="none">
              <a:solidFill>
                <a:srgbClr val="1D629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g3f5693fca55_0_3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5025" y="1556600"/>
            <a:ext cx="6266424" cy="185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5693fca55_0_432"/>
          <p:cNvSpPr txBox="1">
            <a:spLocks noGrp="1"/>
          </p:cNvSpPr>
          <p:nvPr>
            <p:ph type="title"/>
          </p:nvPr>
        </p:nvSpPr>
        <p:spPr>
          <a:xfrm>
            <a:off x="146275" y="17075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 trees under different population sizes</a:t>
            </a:r>
            <a:endParaRPr/>
          </a:p>
        </p:txBody>
      </p:sp>
      <p:pic>
        <p:nvPicPr>
          <p:cNvPr id="517" name="Google Shape;517;g3f5693fca55_0_4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113" y="1475400"/>
            <a:ext cx="8390926" cy="30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g3f5693fca55_0_4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2450" y="1475400"/>
            <a:ext cx="453875" cy="19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3f5693fca55_0_432"/>
          <p:cNvSpPr/>
          <p:nvPr/>
        </p:nvSpPr>
        <p:spPr>
          <a:xfrm>
            <a:off x="1138725" y="1346775"/>
            <a:ext cx="3291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0" name="Google Shape;520;g3f5693fca55_0_432"/>
          <p:cNvSpPr/>
          <p:nvPr/>
        </p:nvSpPr>
        <p:spPr>
          <a:xfrm>
            <a:off x="6337125" y="1645425"/>
            <a:ext cx="2742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1" name="Google Shape;521;g3f5693fca55_0_432"/>
          <p:cNvSpPr txBox="1"/>
          <p:nvPr/>
        </p:nvSpPr>
        <p:spPr>
          <a:xfrm>
            <a:off x="986125" y="797438"/>
            <a:ext cx="15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Constant Ne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f5693fca55_0_432"/>
          <p:cNvSpPr txBox="1"/>
          <p:nvPr/>
        </p:nvSpPr>
        <p:spPr>
          <a:xfrm>
            <a:off x="4527100" y="878150"/>
            <a:ext cx="313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Population expansion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f5693fca55_0_432"/>
          <p:cNvSpPr/>
          <p:nvPr/>
        </p:nvSpPr>
        <p:spPr>
          <a:xfrm rot="5400000">
            <a:off x="2528125" y="3077475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4" name="Google Shape;524;g3f5693fca55_0_432"/>
          <p:cNvSpPr/>
          <p:nvPr/>
        </p:nvSpPr>
        <p:spPr>
          <a:xfrm rot="5400000">
            <a:off x="7689950" y="3168950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5" name="Google Shape;525;g3f5693fca55_0_432"/>
          <p:cNvSpPr/>
          <p:nvPr/>
        </p:nvSpPr>
        <p:spPr>
          <a:xfrm>
            <a:off x="364800" y="2468100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6" name="Google Shape;526;g3f5693fca55_0_432"/>
          <p:cNvSpPr/>
          <p:nvPr/>
        </p:nvSpPr>
        <p:spPr>
          <a:xfrm>
            <a:off x="5270675" y="1962325"/>
            <a:ext cx="274200" cy="12249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7" name="Google Shape;527;g3f5693fca55_0_432"/>
          <p:cNvSpPr txBox="1"/>
          <p:nvPr/>
        </p:nvSpPr>
        <p:spPr>
          <a:xfrm>
            <a:off x="3611325" y="1259150"/>
            <a:ext cx="79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f5693fca55_0_432"/>
          <p:cNvSpPr txBox="1"/>
          <p:nvPr/>
        </p:nvSpPr>
        <p:spPr>
          <a:xfrm>
            <a:off x="3422450" y="452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5693fca55_0_455"/>
          <p:cNvSpPr txBox="1">
            <a:spLocks noGrp="1"/>
          </p:cNvSpPr>
          <p:nvPr>
            <p:ph type="title"/>
          </p:nvPr>
        </p:nvSpPr>
        <p:spPr>
          <a:xfrm>
            <a:off x="146275" y="17075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 trees under different population sizes</a:t>
            </a:r>
            <a:endParaRPr/>
          </a:p>
        </p:txBody>
      </p:sp>
      <p:pic>
        <p:nvPicPr>
          <p:cNvPr id="534" name="Google Shape;534;g3f5693fca55_0_4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113" y="1475400"/>
            <a:ext cx="8390926" cy="30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g3f5693fca55_0_4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2450" y="1475400"/>
            <a:ext cx="453875" cy="19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g3f5693fca55_0_455"/>
          <p:cNvSpPr/>
          <p:nvPr/>
        </p:nvSpPr>
        <p:spPr>
          <a:xfrm>
            <a:off x="1138725" y="1346775"/>
            <a:ext cx="3291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7" name="Google Shape;537;g3f5693fca55_0_455"/>
          <p:cNvSpPr/>
          <p:nvPr/>
        </p:nvSpPr>
        <p:spPr>
          <a:xfrm>
            <a:off x="6337125" y="1645425"/>
            <a:ext cx="2742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8" name="Google Shape;538;g3f5693fca55_0_455"/>
          <p:cNvSpPr txBox="1"/>
          <p:nvPr/>
        </p:nvSpPr>
        <p:spPr>
          <a:xfrm>
            <a:off x="986125" y="797438"/>
            <a:ext cx="15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Constant Ne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f5693fca55_0_455"/>
          <p:cNvSpPr txBox="1"/>
          <p:nvPr/>
        </p:nvSpPr>
        <p:spPr>
          <a:xfrm>
            <a:off x="4527100" y="878150"/>
            <a:ext cx="313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Population expansion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f5693fca55_0_455"/>
          <p:cNvSpPr/>
          <p:nvPr/>
        </p:nvSpPr>
        <p:spPr>
          <a:xfrm rot="5400000">
            <a:off x="2528125" y="3077475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1" name="Google Shape;541;g3f5693fca55_0_455"/>
          <p:cNvSpPr/>
          <p:nvPr/>
        </p:nvSpPr>
        <p:spPr>
          <a:xfrm rot="5400000">
            <a:off x="7689950" y="3168950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2" name="Google Shape;542;g3f5693fca55_0_455"/>
          <p:cNvSpPr/>
          <p:nvPr/>
        </p:nvSpPr>
        <p:spPr>
          <a:xfrm>
            <a:off x="364800" y="2468100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3" name="Google Shape;543;g3f5693fca55_0_455"/>
          <p:cNvSpPr/>
          <p:nvPr/>
        </p:nvSpPr>
        <p:spPr>
          <a:xfrm>
            <a:off x="5270675" y="1962325"/>
            <a:ext cx="274200" cy="12249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4" name="Google Shape;544;g3f5693fca55_0_455"/>
          <p:cNvSpPr txBox="1"/>
          <p:nvPr/>
        </p:nvSpPr>
        <p:spPr>
          <a:xfrm>
            <a:off x="3611325" y="1259150"/>
            <a:ext cx="79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f5693fca55_0_455"/>
          <p:cNvSpPr txBox="1"/>
          <p:nvPr/>
        </p:nvSpPr>
        <p:spPr>
          <a:xfrm>
            <a:off x="3422450" y="452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f5693fca55_0_455"/>
          <p:cNvSpPr/>
          <p:nvPr/>
        </p:nvSpPr>
        <p:spPr>
          <a:xfrm rot="10800000">
            <a:off x="6337125" y="3050600"/>
            <a:ext cx="274200" cy="281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47" name="Google Shape;547;g3f5693fca55_0_455"/>
          <p:cNvCxnSpPr/>
          <p:nvPr/>
        </p:nvCxnSpPr>
        <p:spPr>
          <a:xfrm rot="10800000" flipH="1">
            <a:off x="8173625" y="2596050"/>
            <a:ext cx="510900" cy="552000"/>
          </a:xfrm>
          <a:prstGeom prst="straightConnector1">
            <a:avLst/>
          </a:prstGeom>
          <a:noFill/>
          <a:ln w="3835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548" name="Google Shape;548;g3f5693fca55_0_455"/>
          <p:cNvCxnSpPr/>
          <p:nvPr/>
        </p:nvCxnSpPr>
        <p:spPr>
          <a:xfrm rot="10800000" flipH="1">
            <a:off x="5456625" y="2616588"/>
            <a:ext cx="1761600" cy="629700"/>
          </a:xfrm>
          <a:prstGeom prst="straightConnector1">
            <a:avLst/>
          </a:prstGeom>
          <a:noFill/>
          <a:ln w="3835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549" name="Google Shape;549;g3f5693fca55_0_455"/>
          <p:cNvSpPr txBox="1"/>
          <p:nvPr/>
        </p:nvSpPr>
        <p:spPr>
          <a:xfrm>
            <a:off x="6011600" y="1413275"/>
            <a:ext cx="3040500" cy="15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Small Ne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in ancestor =&gt;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higher coalescence rate</a:t>
            </a: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lineages coalesce quickly before the population expansion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f5693fca55_0_455"/>
          <p:cNvSpPr txBox="1"/>
          <p:nvPr/>
        </p:nvSpPr>
        <p:spPr>
          <a:xfrm>
            <a:off x="6532125" y="452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short internal branches</a:t>
            </a:r>
            <a:endParaRPr sz="10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5693fca55_0_477"/>
          <p:cNvSpPr txBox="1">
            <a:spLocks noGrp="1"/>
          </p:cNvSpPr>
          <p:nvPr>
            <p:ph type="title"/>
          </p:nvPr>
        </p:nvSpPr>
        <p:spPr>
          <a:xfrm>
            <a:off x="146275" y="17075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 trees under different population sizes</a:t>
            </a:r>
            <a:endParaRPr/>
          </a:p>
        </p:txBody>
      </p:sp>
      <p:pic>
        <p:nvPicPr>
          <p:cNvPr id="556" name="Google Shape;556;g3f5693fca55_0_4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113" y="1475400"/>
            <a:ext cx="8390926" cy="30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g3f5693fca55_0_4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2450" y="1475400"/>
            <a:ext cx="453875" cy="19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g3f5693fca55_0_477"/>
          <p:cNvSpPr/>
          <p:nvPr/>
        </p:nvSpPr>
        <p:spPr>
          <a:xfrm>
            <a:off x="1138725" y="1346775"/>
            <a:ext cx="3291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9" name="Google Shape;559;g3f5693fca55_0_477"/>
          <p:cNvSpPr/>
          <p:nvPr/>
        </p:nvSpPr>
        <p:spPr>
          <a:xfrm>
            <a:off x="6337125" y="1645425"/>
            <a:ext cx="2742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0" name="Google Shape;560;g3f5693fca55_0_477"/>
          <p:cNvSpPr txBox="1"/>
          <p:nvPr/>
        </p:nvSpPr>
        <p:spPr>
          <a:xfrm>
            <a:off x="986125" y="797438"/>
            <a:ext cx="15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Constant Ne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f5693fca55_0_477"/>
          <p:cNvSpPr txBox="1"/>
          <p:nvPr/>
        </p:nvSpPr>
        <p:spPr>
          <a:xfrm>
            <a:off x="4527100" y="878150"/>
            <a:ext cx="313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Population expansion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f5693fca55_0_477"/>
          <p:cNvSpPr/>
          <p:nvPr/>
        </p:nvSpPr>
        <p:spPr>
          <a:xfrm rot="5400000">
            <a:off x="2528125" y="3077475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3" name="Google Shape;563;g3f5693fca55_0_477"/>
          <p:cNvSpPr/>
          <p:nvPr/>
        </p:nvSpPr>
        <p:spPr>
          <a:xfrm rot="5400000">
            <a:off x="7689950" y="3168950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4" name="Google Shape;564;g3f5693fca55_0_477"/>
          <p:cNvSpPr/>
          <p:nvPr/>
        </p:nvSpPr>
        <p:spPr>
          <a:xfrm>
            <a:off x="364800" y="2468100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5" name="Google Shape;565;g3f5693fca55_0_477"/>
          <p:cNvSpPr/>
          <p:nvPr/>
        </p:nvSpPr>
        <p:spPr>
          <a:xfrm>
            <a:off x="5270675" y="1962325"/>
            <a:ext cx="274200" cy="12249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6" name="Google Shape;566;g3f5693fca55_0_477"/>
          <p:cNvSpPr txBox="1"/>
          <p:nvPr/>
        </p:nvSpPr>
        <p:spPr>
          <a:xfrm>
            <a:off x="3611325" y="1259150"/>
            <a:ext cx="79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f5693fca55_0_477"/>
          <p:cNvSpPr txBox="1"/>
          <p:nvPr/>
        </p:nvSpPr>
        <p:spPr>
          <a:xfrm>
            <a:off x="3422450" y="452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f5693fca55_0_477"/>
          <p:cNvSpPr/>
          <p:nvPr/>
        </p:nvSpPr>
        <p:spPr>
          <a:xfrm>
            <a:off x="8648575" y="3246675"/>
            <a:ext cx="274200" cy="13299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9" name="Google Shape;569;g3f5693fca55_0_477"/>
          <p:cNvSpPr txBox="1"/>
          <p:nvPr/>
        </p:nvSpPr>
        <p:spPr>
          <a:xfrm>
            <a:off x="6532125" y="452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Long external branches</a:t>
            </a:r>
            <a:endParaRPr sz="10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0" name="Google Shape;570;g3f5693fca55_0_477"/>
          <p:cNvCxnSpPr/>
          <p:nvPr/>
        </p:nvCxnSpPr>
        <p:spPr>
          <a:xfrm rot="10800000">
            <a:off x="6203300" y="2355050"/>
            <a:ext cx="482400" cy="17115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571" name="Google Shape;571;g3f5693fca55_0_477"/>
          <p:cNvSpPr txBox="1"/>
          <p:nvPr/>
        </p:nvSpPr>
        <p:spPr>
          <a:xfrm>
            <a:off x="5626325" y="1462125"/>
            <a:ext cx="3296400" cy="15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expansion,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high Ne 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low coalescence rate</a:t>
            </a: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=&gt; lineages persist for longer time without coalescing 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5693fca55_0_499"/>
          <p:cNvSpPr txBox="1">
            <a:spLocks noGrp="1"/>
          </p:cNvSpPr>
          <p:nvPr>
            <p:ph type="title"/>
          </p:nvPr>
        </p:nvSpPr>
        <p:spPr>
          <a:xfrm>
            <a:off x="146275" y="17075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 trees under different population sizes</a:t>
            </a:r>
            <a:endParaRPr/>
          </a:p>
        </p:txBody>
      </p:sp>
      <p:pic>
        <p:nvPicPr>
          <p:cNvPr id="577" name="Google Shape;577;g3f5693fca55_0_4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113" y="1475400"/>
            <a:ext cx="8390926" cy="30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g3f5693fca55_0_4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2450" y="1475400"/>
            <a:ext cx="453875" cy="19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g3f5693fca55_0_499"/>
          <p:cNvSpPr/>
          <p:nvPr/>
        </p:nvSpPr>
        <p:spPr>
          <a:xfrm>
            <a:off x="1138725" y="1346775"/>
            <a:ext cx="3291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0" name="Google Shape;580;g3f5693fca55_0_499"/>
          <p:cNvSpPr/>
          <p:nvPr/>
        </p:nvSpPr>
        <p:spPr>
          <a:xfrm>
            <a:off x="6337125" y="1645425"/>
            <a:ext cx="2742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1" name="Google Shape;581;g3f5693fca55_0_499"/>
          <p:cNvSpPr txBox="1"/>
          <p:nvPr/>
        </p:nvSpPr>
        <p:spPr>
          <a:xfrm>
            <a:off x="986125" y="797438"/>
            <a:ext cx="15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Constant Ne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f5693fca55_0_499"/>
          <p:cNvSpPr txBox="1"/>
          <p:nvPr/>
        </p:nvSpPr>
        <p:spPr>
          <a:xfrm>
            <a:off x="4527100" y="878150"/>
            <a:ext cx="313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Population expansion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f5693fca55_0_499"/>
          <p:cNvSpPr/>
          <p:nvPr/>
        </p:nvSpPr>
        <p:spPr>
          <a:xfrm rot="5400000">
            <a:off x="2528125" y="3077475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4" name="Google Shape;584;g3f5693fca55_0_499"/>
          <p:cNvSpPr/>
          <p:nvPr/>
        </p:nvSpPr>
        <p:spPr>
          <a:xfrm rot="5400000">
            <a:off x="7689950" y="3168950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5" name="Google Shape;585;g3f5693fca55_0_499"/>
          <p:cNvSpPr/>
          <p:nvPr/>
        </p:nvSpPr>
        <p:spPr>
          <a:xfrm>
            <a:off x="364800" y="2468100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6" name="Google Shape;586;g3f5693fca55_0_499"/>
          <p:cNvSpPr/>
          <p:nvPr/>
        </p:nvSpPr>
        <p:spPr>
          <a:xfrm>
            <a:off x="5270675" y="1962325"/>
            <a:ext cx="274200" cy="12249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7" name="Google Shape;587;g3f5693fca55_0_499"/>
          <p:cNvSpPr txBox="1"/>
          <p:nvPr/>
        </p:nvSpPr>
        <p:spPr>
          <a:xfrm>
            <a:off x="3611325" y="1259150"/>
            <a:ext cx="79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f5693fca55_0_499"/>
          <p:cNvSpPr txBox="1"/>
          <p:nvPr/>
        </p:nvSpPr>
        <p:spPr>
          <a:xfrm>
            <a:off x="3422450" y="452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f5693fca55_0_499"/>
          <p:cNvSpPr/>
          <p:nvPr/>
        </p:nvSpPr>
        <p:spPr>
          <a:xfrm>
            <a:off x="8648575" y="3246675"/>
            <a:ext cx="274200" cy="13299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90" name="Google Shape;590;g3f5693fca55_0_499"/>
          <p:cNvCxnSpPr/>
          <p:nvPr/>
        </p:nvCxnSpPr>
        <p:spPr>
          <a:xfrm rot="10800000">
            <a:off x="6252675" y="2340250"/>
            <a:ext cx="390000" cy="14991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591" name="Google Shape;591;g3f5693fca55_0_499"/>
          <p:cNvSpPr txBox="1"/>
          <p:nvPr/>
        </p:nvSpPr>
        <p:spPr>
          <a:xfrm>
            <a:off x="6123775" y="1346775"/>
            <a:ext cx="2514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Lower number of lineages =&gt; lower rate of coalescence and increased waiting time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f5693fca55_0_499"/>
          <p:cNvSpPr/>
          <p:nvPr/>
        </p:nvSpPr>
        <p:spPr>
          <a:xfrm>
            <a:off x="4460950" y="743500"/>
            <a:ext cx="4461900" cy="399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3" name="Google Shape;593;g3f5693fca55_0_499"/>
          <p:cNvPicPr preferRelativeResize="0"/>
          <p:nvPr/>
        </p:nvPicPr>
        <p:blipFill rotWithShape="1">
          <a:blip r:embed="rId5">
            <a:alphaModFix/>
          </a:blip>
          <a:srcRect l="46386"/>
          <a:stretch/>
        </p:blipFill>
        <p:spPr>
          <a:xfrm>
            <a:off x="4460949" y="1364338"/>
            <a:ext cx="3758077" cy="3047626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g3f5693fca55_0_499"/>
          <p:cNvSpPr/>
          <p:nvPr/>
        </p:nvSpPr>
        <p:spPr>
          <a:xfrm>
            <a:off x="5817175" y="1109150"/>
            <a:ext cx="2742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5" name="Google Shape;595;g3f5693fca55_0_499"/>
          <p:cNvSpPr/>
          <p:nvPr/>
        </p:nvSpPr>
        <p:spPr>
          <a:xfrm>
            <a:off x="6062925" y="1109149"/>
            <a:ext cx="189600" cy="173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g3f5693fca55_0_499"/>
          <p:cNvSpPr/>
          <p:nvPr/>
        </p:nvSpPr>
        <p:spPr>
          <a:xfrm>
            <a:off x="7586250" y="743500"/>
            <a:ext cx="795300" cy="173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7" name="Google Shape;597;g3f5693fca55_0_499"/>
          <p:cNvSpPr/>
          <p:nvPr/>
        </p:nvSpPr>
        <p:spPr>
          <a:xfrm>
            <a:off x="5197775" y="2705800"/>
            <a:ext cx="1896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8" name="Google Shape;598;g3f5693fca55_0_499"/>
          <p:cNvSpPr txBox="1"/>
          <p:nvPr/>
        </p:nvSpPr>
        <p:spPr>
          <a:xfrm>
            <a:off x="4527100" y="878150"/>
            <a:ext cx="313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Population decline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3f5693fca55_0_499"/>
          <p:cNvSpPr/>
          <p:nvPr/>
        </p:nvSpPr>
        <p:spPr>
          <a:xfrm rot="5400000">
            <a:off x="6835125" y="2943375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5693fca55_0_558"/>
          <p:cNvSpPr txBox="1">
            <a:spLocks noGrp="1"/>
          </p:cNvSpPr>
          <p:nvPr>
            <p:ph type="title"/>
          </p:nvPr>
        </p:nvSpPr>
        <p:spPr>
          <a:xfrm>
            <a:off x="146275" y="17075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 trees under different population sizes</a:t>
            </a:r>
            <a:endParaRPr/>
          </a:p>
        </p:txBody>
      </p:sp>
      <p:pic>
        <p:nvPicPr>
          <p:cNvPr id="605" name="Google Shape;605;g3f5693fca55_0_5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113" y="1475400"/>
            <a:ext cx="8390926" cy="30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f5693fca55_0_5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2450" y="1475400"/>
            <a:ext cx="453875" cy="19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g3f5693fca55_0_558"/>
          <p:cNvSpPr/>
          <p:nvPr/>
        </p:nvSpPr>
        <p:spPr>
          <a:xfrm>
            <a:off x="1138725" y="1346775"/>
            <a:ext cx="3291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8" name="Google Shape;608;g3f5693fca55_0_558"/>
          <p:cNvSpPr/>
          <p:nvPr/>
        </p:nvSpPr>
        <p:spPr>
          <a:xfrm>
            <a:off x="6337125" y="1645425"/>
            <a:ext cx="2742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9" name="Google Shape;609;g3f5693fca55_0_558"/>
          <p:cNvSpPr txBox="1"/>
          <p:nvPr/>
        </p:nvSpPr>
        <p:spPr>
          <a:xfrm>
            <a:off x="986125" y="797438"/>
            <a:ext cx="15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Constant Ne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f5693fca55_0_558"/>
          <p:cNvSpPr txBox="1"/>
          <p:nvPr/>
        </p:nvSpPr>
        <p:spPr>
          <a:xfrm>
            <a:off x="4527100" y="878150"/>
            <a:ext cx="313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Population expansion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3f5693fca55_0_558"/>
          <p:cNvSpPr/>
          <p:nvPr/>
        </p:nvSpPr>
        <p:spPr>
          <a:xfrm rot="5400000">
            <a:off x="2528125" y="3077475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2" name="Google Shape;612;g3f5693fca55_0_558"/>
          <p:cNvSpPr/>
          <p:nvPr/>
        </p:nvSpPr>
        <p:spPr>
          <a:xfrm rot="5400000">
            <a:off x="7689950" y="3168950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g3f5693fca55_0_558"/>
          <p:cNvSpPr/>
          <p:nvPr/>
        </p:nvSpPr>
        <p:spPr>
          <a:xfrm>
            <a:off x="364800" y="2468100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4" name="Google Shape;614;g3f5693fca55_0_558"/>
          <p:cNvSpPr/>
          <p:nvPr/>
        </p:nvSpPr>
        <p:spPr>
          <a:xfrm>
            <a:off x="5270675" y="1962325"/>
            <a:ext cx="274200" cy="12249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5" name="Google Shape;615;g3f5693fca55_0_558"/>
          <p:cNvSpPr txBox="1"/>
          <p:nvPr/>
        </p:nvSpPr>
        <p:spPr>
          <a:xfrm>
            <a:off x="3611325" y="1259150"/>
            <a:ext cx="79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f5693fca55_0_558"/>
          <p:cNvSpPr txBox="1"/>
          <p:nvPr/>
        </p:nvSpPr>
        <p:spPr>
          <a:xfrm>
            <a:off x="3422450" y="452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f5693fca55_0_558"/>
          <p:cNvSpPr/>
          <p:nvPr/>
        </p:nvSpPr>
        <p:spPr>
          <a:xfrm>
            <a:off x="8648575" y="3246675"/>
            <a:ext cx="274200" cy="13299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18" name="Google Shape;618;g3f5693fca55_0_558"/>
          <p:cNvCxnSpPr/>
          <p:nvPr/>
        </p:nvCxnSpPr>
        <p:spPr>
          <a:xfrm rot="10800000">
            <a:off x="6252675" y="2340250"/>
            <a:ext cx="390000" cy="14991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619" name="Google Shape;619;g3f5693fca55_0_558"/>
          <p:cNvSpPr txBox="1"/>
          <p:nvPr/>
        </p:nvSpPr>
        <p:spPr>
          <a:xfrm>
            <a:off x="6123775" y="1346775"/>
            <a:ext cx="2514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Lower number of lineages =&gt; lower rate of coalescence and increased waiting time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f5693fca55_0_558"/>
          <p:cNvSpPr/>
          <p:nvPr/>
        </p:nvSpPr>
        <p:spPr>
          <a:xfrm>
            <a:off x="4460950" y="743500"/>
            <a:ext cx="4461900" cy="399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21" name="Google Shape;621;g3f5693fca55_0_558"/>
          <p:cNvPicPr preferRelativeResize="0"/>
          <p:nvPr/>
        </p:nvPicPr>
        <p:blipFill rotWithShape="1">
          <a:blip r:embed="rId5">
            <a:alphaModFix/>
          </a:blip>
          <a:srcRect l="46386"/>
          <a:stretch/>
        </p:blipFill>
        <p:spPr>
          <a:xfrm>
            <a:off x="4460949" y="1364338"/>
            <a:ext cx="3758077" cy="3047626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g3f5693fca55_0_558"/>
          <p:cNvSpPr/>
          <p:nvPr/>
        </p:nvSpPr>
        <p:spPr>
          <a:xfrm>
            <a:off x="5817175" y="1109150"/>
            <a:ext cx="2742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3" name="Google Shape;623;g3f5693fca55_0_558"/>
          <p:cNvSpPr/>
          <p:nvPr/>
        </p:nvSpPr>
        <p:spPr>
          <a:xfrm>
            <a:off x="6062925" y="1109149"/>
            <a:ext cx="189600" cy="173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4" name="Google Shape;624;g3f5693fca55_0_558"/>
          <p:cNvSpPr/>
          <p:nvPr/>
        </p:nvSpPr>
        <p:spPr>
          <a:xfrm>
            <a:off x="7586250" y="743500"/>
            <a:ext cx="795300" cy="173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5" name="Google Shape;625;g3f5693fca55_0_558"/>
          <p:cNvSpPr/>
          <p:nvPr/>
        </p:nvSpPr>
        <p:spPr>
          <a:xfrm>
            <a:off x="5197775" y="2705800"/>
            <a:ext cx="1896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6" name="Google Shape;626;g3f5693fca55_0_558"/>
          <p:cNvSpPr txBox="1"/>
          <p:nvPr/>
        </p:nvSpPr>
        <p:spPr>
          <a:xfrm>
            <a:off x="4527100" y="878150"/>
            <a:ext cx="313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Population decline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f5693fca55_0_558"/>
          <p:cNvSpPr/>
          <p:nvPr/>
        </p:nvSpPr>
        <p:spPr>
          <a:xfrm rot="5400000">
            <a:off x="6835125" y="2943375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8" name="Google Shape;628;g3f5693fca55_0_558"/>
          <p:cNvSpPr/>
          <p:nvPr/>
        </p:nvSpPr>
        <p:spPr>
          <a:xfrm>
            <a:off x="7735700" y="1454200"/>
            <a:ext cx="189600" cy="2592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9" name="Google Shape;629;g3f5693fca55_0_558"/>
          <p:cNvSpPr txBox="1"/>
          <p:nvPr/>
        </p:nvSpPr>
        <p:spPr>
          <a:xfrm>
            <a:off x="7779875" y="647288"/>
            <a:ext cx="1359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Long internal branches</a:t>
            </a:r>
            <a:endParaRPr sz="1400" b="1" i="0" u="none" strike="noStrike" cap="none">
              <a:solidFill>
                <a:srgbClr val="4DB6A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f5693fca55_0_527"/>
          <p:cNvSpPr txBox="1">
            <a:spLocks noGrp="1"/>
          </p:cNvSpPr>
          <p:nvPr>
            <p:ph type="title"/>
          </p:nvPr>
        </p:nvSpPr>
        <p:spPr>
          <a:xfrm>
            <a:off x="146275" y="17075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 trees under different population sizes</a:t>
            </a:r>
            <a:endParaRPr/>
          </a:p>
        </p:txBody>
      </p:sp>
      <p:pic>
        <p:nvPicPr>
          <p:cNvPr id="635" name="Google Shape;635;g3f5693fca55_0_5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113" y="1475400"/>
            <a:ext cx="8390926" cy="30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g3f5693fca55_0_5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2450" y="1475400"/>
            <a:ext cx="453875" cy="19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g3f5693fca55_0_527"/>
          <p:cNvSpPr/>
          <p:nvPr/>
        </p:nvSpPr>
        <p:spPr>
          <a:xfrm>
            <a:off x="1138725" y="1346775"/>
            <a:ext cx="3291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8" name="Google Shape;638;g3f5693fca55_0_527"/>
          <p:cNvSpPr/>
          <p:nvPr/>
        </p:nvSpPr>
        <p:spPr>
          <a:xfrm>
            <a:off x="6337125" y="1645425"/>
            <a:ext cx="2742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9" name="Google Shape;639;g3f5693fca55_0_527"/>
          <p:cNvSpPr txBox="1"/>
          <p:nvPr/>
        </p:nvSpPr>
        <p:spPr>
          <a:xfrm>
            <a:off x="986125" y="797438"/>
            <a:ext cx="15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Constant Ne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f5693fca55_0_527"/>
          <p:cNvSpPr txBox="1"/>
          <p:nvPr/>
        </p:nvSpPr>
        <p:spPr>
          <a:xfrm>
            <a:off x="4527100" y="878150"/>
            <a:ext cx="313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Population expansion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f5693fca55_0_527"/>
          <p:cNvSpPr/>
          <p:nvPr/>
        </p:nvSpPr>
        <p:spPr>
          <a:xfrm rot="5400000">
            <a:off x="2528125" y="3077475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2" name="Google Shape;642;g3f5693fca55_0_527"/>
          <p:cNvSpPr/>
          <p:nvPr/>
        </p:nvSpPr>
        <p:spPr>
          <a:xfrm rot="5400000">
            <a:off x="7689950" y="3168950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3" name="Google Shape;643;g3f5693fca55_0_527"/>
          <p:cNvSpPr/>
          <p:nvPr/>
        </p:nvSpPr>
        <p:spPr>
          <a:xfrm>
            <a:off x="364800" y="2468100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4" name="Google Shape;644;g3f5693fca55_0_527"/>
          <p:cNvSpPr/>
          <p:nvPr/>
        </p:nvSpPr>
        <p:spPr>
          <a:xfrm>
            <a:off x="5270675" y="1962325"/>
            <a:ext cx="274200" cy="12249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5" name="Google Shape;645;g3f5693fca55_0_527"/>
          <p:cNvSpPr txBox="1"/>
          <p:nvPr/>
        </p:nvSpPr>
        <p:spPr>
          <a:xfrm>
            <a:off x="3611325" y="1259150"/>
            <a:ext cx="79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f5693fca55_0_527"/>
          <p:cNvSpPr txBox="1"/>
          <p:nvPr/>
        </p:nvSpPr>
        <p:spPr>
          <a:xfrm>
            <a:off x="3422450" y="452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f5693fca55_0_527"/>
          <p:cNvSpPr/>
          <p:nvPr/>
        </p:nvSpPr>
        <p:spPr>
          <a:xfrm>
            <a:off x="8648575" y="3246675"/>
            <a:ext cx="274200" cy="13299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48" name="Google Shape;648;g3f5693fca55_0_527"/>
          <p:cNvCxnSpPr/>
          <p:nvPr/>
        </p:nvCxnSpPr>
        <p:spPr>
          <a:xfrm rot="10800000">
            <a:off x="6252675" y="2340250"/>
            <a:ext cx="390000" cy="14991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649" name="Google Shape;649;g3f5693fca55_0_527"/>
          <p:cNvSpPr txBox="1"/>
          <p:nvPr/>
        </p:nvSpPr>
        <p:spPr>
          <a:xfrm>
            <a:off x="6123775" y="1346775"/>
            <a:ext cx="2514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Lower number of lineages =&gt; lower rate of coalescence and increased waiting time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f5693fca55_0_527"/>
          <p:cNvSpPr/>
          <p:nvPr/>
        </p:nvSpPr>
        <p:spPr>
          <a:xfrm>
            <a:off x="4460950" y="743500"/>
            <a:ext cx="4461900" cy="399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51" name="Google Shape;651;g3f5693fca55_0_527"/>
          <p:cNvPicPr preferRelativeResize="0"/>
          <p:nvPr/>
        </p:nvPicPr>
        <p:blipFill rotWithShape="1">
          <a:blip r:embed="rId5">
            <a:alphaModFix/>
          </a:blip>
          <a:srcRect l="46386"/>
          <a:stretch/>
        </p:blipFill>
        <p:spPr>
          <a:xfrm>
            <a:off x="4460949" y="1364338"/>
            <a:ext cx="3758077" cy="3047626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g3f5693fca55_0_527"/>
          <p:cNvSpPr/>
          <p:nvPr/>
        </p:nvSpPr>
        <p:spPr>
          <a:xfrm>
            <a:off x="5817175" y="1109150"/>
            <a:ext cx="2742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3" name="Google Shape;653;g3f5693fca55_0_527"/>
          <p:cNvSpPr/>
          <p:nvPr/>
        </p:nvSpPr>
        <p:spPr>
          <a:xfrm>
            <a:off x="6062925" y="1109149"/>
            <a:ext cx="189600" cy="173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4" name="Google Shape;654;g3f5693fca55_0_527"/>
          <p:cNvSpPr/>
          <p:nvPr/>
        </p:nvSpPr>
        <p:spPr>
          <a:xfrm>
            <a:off x="7586250" y="743500"/>
            <a:ext cx="795300" cy="173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5" name="Google Shape;655;g3f5693fca55_0_527"/>
          <p:cNvSpPr/>
          <p:nvPr/>
        </p:nvSpPr>
        <p:spPr>
          <a:xfrm>
            <a:off x="5197775" y="2705800"/>
            <a:ext cx="1896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6" name="Google Shape;656;g3f5693fca55_0_527"/>
          <p:cNvSpPr txBox="1"/>
          <p:nvPr/>
        </p:nvSpPr>
        <p:spPr>
          <a:xfrm>
            <a:off x="4527100" y="878150"/>
            <a:ext cx="313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Population decline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f5693fca55_0_527"/>
          <p:cNvSpPr/>
          <p:nvPr/>
        </p:nvSpPr>
        <p:spPr>
          <a:xfrm rot="5400000">
            <a:off x="6835125" y="2943375"/>
            <a:ext cx="365700" cy="290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8" name="Google Shape;658;g3f5693fca55_0_527"/>
          <p:cNvSpPr/>
          <p:nvPr/>
        </p:nvSpPr>
        <p:spPr>
          <a:xfrm>
            <a:off x="8219025" y="4102675"/>
            <a:ext cx="274200" cy="309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9" name="Google Shape;659;g3f5693fca55_0_527"/>
          <p:cNvSpPr txBox="1"/>
          <p:nvPr/>
        </p:nvSpPr>
        <p:spPr>
          <a:xfrm>
            <a:off x="4460950" y="4344975"/>
            <a:ext cx="4206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Lots of coalescence events in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recent time 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(when population size is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f5693fca55_0_527"/>
          <p:cNvSpPr txBox="1"/>
          <p:nvPr/>
        </p:nvSpPr>
        <p:spPr>
          <a:xfrm>
            <a:off x="6611325" y="3646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Short external branches</a:t>
            </a:r>
            <a:endParaRPr sz="10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f57dc8374a_0_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Coalescence summary 1</a:t>
            </a:r>
            <a:endParaRPr/>
          </a:p>
        </p:txBody>
      </p:sp>
      <p:sp>
        <p:nvSpPr>
          <p:cNvPr id="666" name="Google Shape;666;g3f57dc8374a_0_7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Coalescence events are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more likely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to occur when the population size  is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small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Population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decline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shorter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coalescence times in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recent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past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Population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expansion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 longer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coalescence times in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recent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past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7" name="Google Shape;667;g3f57dc8374a_0_75" title="Screenshot 2026-07-21 at 10.12.1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4551" y="2738375"/>
            <a:ext cx="5853100" cy="22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f5693fca55_0_6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Coalescence with mutation</a:t>
            </a:r>
            <a:endParaRPr/>
          </a:p>
        </p:txBody>
      </p:sp>
      <p:sp>
        <p:nvSpPr>
          <p:cNvPr id="673" name="Google Shape;673;g3f5693fca55_0_64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Topology of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neutral coalescent trees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depends on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demography,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but is independent of mutation process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We can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add neutral mutations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to the genealogical tree, according to a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Poisson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distribution.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Mutations accumulate along the branches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Long branches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carry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more mutations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than short branches.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3f5693fca55_0_645"/>
          <p:cNvSpPr/>
          <p:nvPr/>
        </p:nvSpPr>
        <p:spPr>
          <a:xfrm>
            <a:off x="289875" y="2938200"/>
            <a:ext cx="6680100" cy="168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5" name="Google Shape;675;g3f5693fca55_0_645"/>
          <p:cNvSpPr txBox="1"/>
          <p:nvPr/>
        </p:nvSpPr>
        <p:spPr>
          <a:xfrm>
            <a:off x="311700" y="3063775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Expected number of mutations between a pair of sequences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2 * E[TMRCA]* 𝜇 = 4N𝜇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f58085c09e_2_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Let’s add neutral mutations</a:t>
            </a:r>
            <a:endParaRPr/>
          </a:p>
        </p:txBody>
      </p:sp>
      <p:sp>
        <p:nvSpPr>
          <p:cNvPr id="681" name="Google Shape;681;g3f58085c09e_2_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Topology of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neutral coalescent trees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depends on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demography,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but is independent of mutation process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We can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add neutral mutations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to the genealogical tree, according to a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Poisson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distribution.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Mutations accumulate along the branches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Long branches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carry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more mutations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than short branches.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g3f58085c09e_2_2"/>
          <p:cNvSpPr/>
          <p:nvPr/>
        </p:nvSpPr>
        <p:spPr>
          <a:xfrm>
            <a:off x="289875" y="2938200"/>
            <a:ext cx="6680100" cy="168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g3f58085c09e_2_2"/>
          <p:cNvSpPr txBox="1"/>
          <p:nvPr/>
        </p:nvSpPr>
        <p:spPr>
          <a:xfrm>
            <a:off x="311700" y="3063775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Expected number of mutations between a pair of sequences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2 * E[TMRCA]* 𝜇 = 4N𝜇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3f58085c09e_2_2"/>
          <p:cNvSpPr/>
          <p:nvPr/>
        </p:nvSpPr>
        <p:spPr>
          <a:xfrm rot="5400000">
            <a:off x="3103125" y="3781525"/>
            <a:ext cx="339300" cy="46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5" name="Google Shape;685;g3f58085c09e_2_2"/>
          <p:cNvSpPr txBox="1"/>
          <p:nvPr/>
        </p:nvSpPr>
        <p:spPr>
          <a:xfrm>
            <a:off x="2939650" y="4183375"/>
            <a:ext cx="35049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𝜃 neutral parameter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g3f5693fca55_0_7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048350"/>
            <a:ext cx="8839199" cy="3944658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g3f5693fca55_0_714"/>
          <p:cNvSpPr/>
          <p:nvPr/>
        </p:nvSpPr>
        <p:spPr>
          <a:xfrm>
            <a:off x="575600" y="22315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2" name="Google Shape;692;g3f5693fca55_0_714"/>
          <p:cNvSpPr/>
          <p:nvPr/>
        </p:nvSpPr>
        <p:spPr>
          <a:xfrm>
            <a:off x="5431750" y="16724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3" name="Google Shape;693;g3f5693fca55_0_714"/>
          <p:cNvSpPr/>
          <p:nvPr/>
        </p:nvSpPr>
        <p:spPr>
          <a:xfrm>
            <a:off x="5628700" y="2508200"/>
            <a:ext cx="1605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4" name="Google Shape;694;g3f5693fca55_0_714"/>
          <p:cNvSpPr/>
          <p:nvPr/>
        </p:nvSpPr>
        <p:spPr>
          <a:xfrm>
            <a:off x="1362725" y="1048350"/>
            <a:ext cx="4029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5" name="Google Shape;695;g3f5693fca55_0_714"/>
          <p:cNvSpPr/>
          <p:nvPr/>
        </p:nvSpPr>
        <p:spPr>
          <a:xfrm rot="5400000">
            <a:off x="2716375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6" name="Google Shape;696;g3f5693fca55_0_714"/>
          <p:cNvSpPr/>
          <p:nvPr/>
        </p:nvSpPr>
        <p:spPr>
          <a:xfrm rot="5400000">
            <a:off x="7478550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7" name="Google Shape;697;g3f5693fca55_0_714"/>
          <p:cNvSpPr/>
          <p:nvPr/>
        </p:nvSpPr>
        <p:spPr>
          <a:xfrm>
            <a:off x="6253800" y="908100"/>
            <a:ext cx="2505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8" name="Google Shape;698;g3f5693fca55_0_714"/>
          <p:cNvSpPr/>
          <p:nvPr/>
        </p:nvSpPr>
        <p:spPr>
          <a:xfrm>
            <a:off x="5112200" y="843250"/>
            <a:ext cx="3900000" cy="409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g3f5693fca55_0_7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Add neutral mutations to constant Ne population</a:t>
            </a:r>
            <a:endParaRPr/>
          </a:p>
        </p:txBody>
      </p:sp>
      <p:sp>
        <p:nvSpPr>
          <p:cNvPr id="700" name="Google Shape;700;g3f5693fca55_0_714"/>
          <p:cNvSpPr/>
          <p:nvPr/>
        </p:nvSpPr>
        <p:spPr>
          <a:xfrm>
            <a:off x="3807800" y="2305775"/>
            <a:ext cx="1304400" cy="105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1" name="Google Shape;701;g3f5693fca55_0_714"/>
          <p:cNvSpPr/>
          <p:nvPr/>
        </p:nvSpPr>
        <p:spPr>
          <a:xfrm>
            <a:off x="3057900" y="2624375"/>
            <a:ext cx="466200" cy="405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2" name="Google Shape;702;g3f5693fca55_0_714"/>
          <p:cNvSpPr/>
          <p:nvPr/>
        </p:nvSpPr>
        <p:spPr>
          <a:xfrm>
            <a:off x="4017600" y="3250725"/>
            <a:ext cx="1200000" cy="526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3" name="Google Shape;703;g3f5693fca55_0_714"/>
          <p:cNvSpPr/>
          <p:nvPr/>
        </p:nvSpPr>
        <p:spPr>
          <a:xfrm rot="5400000">
            <a:off x="2860325" y="2527050"/>
            <a:ext cx="4029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4" name="Google Shape;704;g3f5693fca55_0_714"/>
          <p:cNvSpPr/>
          <p:nvPr/>
        </p:nvSpPr>
        <p:spPr>
          <a:xfrm rot="5400000">
            <a:off x="4581100" y="153925"/>
            <a:ext cx="594000" cy="270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5" name="Google Shape;705;g3f5693fca55_0_714"/>
          <p:cNvSpPr/>
          <p:nvPr/>
        </p:nvSpPr>
        <p:spPr>
          <a:xfrm rot="5400000">
            <a:off x="2195517" y="3724050"/>
            <a:ext cx="225900" cy="969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6" name="Google Shape;706;g3f5693fca55_0_714"/>
          <p:cNvSpPr/>
          <p:nvPr/>
        </p:nvSpPr>
        <p:spPr>
          <a:xfrm rot="5400000">
            <a:off x="599050" y="3959025"/>
            <a:ext cx="408600" cy="121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Google Shape;711;g3f3bc888eac_0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048350"/>
            <a:ext cx="8839199" cy="3944658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g3f3bc888eac_0_16"/>
          <p:cNvSpPr/>
          <p:nvPr/>
        </p:nvSpPr>
        <p:spPr>
          <a:xfrm>
            <a:off x="575600" y="22315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3" name="Google Shape;713;g3f3bc888eac_0_16"/>
          <p:cNvSpPr/>
          <p:nvPr/>
        </p:nvSpPr>
        <p:spPr>
          <a:xfrm>
            <a:off x="5431750" y="16724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4" name="Google Shape;714;g3f3bc888eac_0_16"/>
          <p:cNvSpPr/>
          <p:nvPr/>
        </p:nvSpPr>
        <p:spPr>
          <a:xfrm>
            <a:off x="5628700" y="2508200"/>
            <a:ext cx="1605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5" name="Google Shape;715;g3f3bc888eac_0_16"/>
          <p:cNvSpPr/>
          <p:nvPr/>
        </p:nvSpPr>
        <p:spPr>
          <a:xfrm>
            <a:off x="1362725" y="1048350"/>
            <a:ext cx="4029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6" name="Google Shape;716;g3f3bc888eac_0_16"/>
          <p:cNvSpPr/>
          <p:nvPr/>
        </p:nvSpPr>
        <p:spPr>
          <a:xfrm rot="5400000">
            <a:off x="2716375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7" name="Google Shape;717;g3f3bc888eac_0_16"/>
          <p:cNvSpPr/>
          <p:nvPr/>
        </p:nvSpPr>
        <p:spPr>
          <a:xfrm rot="5400000">
            <a:off x="7478550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8" name="Google Shape;718;g3f3bc888eac_0_16"/>
          <p:cNvSpPr/>
          <p:nvPr/>
        </p:nvSpPr>
        <p:spPr>
          <a:xfrm>
            <a:off x="6253800" y="908100"/>
            <a:ext cx="2505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9" name="Google Shape;719;g3f3bc888eac_0_16"/>
          <p:cNvSpPr/>
          <p:nvPr/>
        </p:nvSpPr>
        <p:spPr>
          <a:xfrm>
            <a:off x="5112200" y="843250"/>
            <a:ext cx="3900000" cy="409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0" name="Google Shape;720;g3f3bc888eac_0_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Add neutral mutations to constant Ne population</a:t>
            </a:r>
            <a:endParaRPr/>
          </a:p>
        </p:txBody>
      </p:sp>
      <p:sp>
        <p:nvSpPr>
          <p:cNvPr id="721" name="Google Shape;721;g3f3bc888eac_0_16"/>
          <p:cNvSpPr/>
          <p:nvPr/>
        </p:nvSpPr>
        <p:spPr>
          <a:xfrm>
            <a:off x="3807800" y="2305775"/>
            <a:ext cx="1304400" cy="105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2" name="Google Shape;722;g3f3bc888eac_0_16"/>
          <p:cNvSpPr/>
          <p:nvPr/>
        </p:nvSpPr>
        <p:spPr>
          <a:xfrm>
            <a:off x="3057900" y="2624375"/>
            <a:ext cx="466200" cy="405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3" name="Google Shape;723;g3f3bc888eac_0_16"/>
          <p:cNvSpPr/>
          <p:nvPr/>
        </p:nvSpPr>
        <p:spPr>
          <a:xfrm>
            <a:off x="4017600" y="3250725"/>
            <a:ext cx="1200000" cy="526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4" name="Google Shape;724;g3f3bc888eac_0_16"/>
          <p:cNvSpPr/>
          <p:nvPr/>
        </p:nvSpPr>
        <p:spPr>
          <a:xfrm rot="5400000">
            <a:off x="2860325" y="2527050"/>
            <a:ext cx="4029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5" name="Google Shape;725;g3f3bc888eac_0_16"/>
          <p:cNvSpPr/>
          <p:nvPr/>
        </p:nvSpPr>
        <p:spPr>
          <a:xfrm rot="5400000">
            <a:off x="2195517" y="3724050"/>
            <a:ext cx="225900" cy="969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6" name="Google Shape;726;g3f3bc888eac_0_16"/>
          <p:cNvSpPr/>
          <p:nvPr/>
        </p:nvSpPr>
        <p:spPr>
          <a:xfrm rot="5400000">
            <a:off x="4581100" y="153925"/>
            <a:ext cx="594000" cy="270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7" name="Google Shape;727;g3f3bc888eac_0_16"/>
          <p:cNvSpPr/>
          <p:nvPr/>
        </p:nvSpPr>
        <p:spPr>
          <a:xfrm rot="5400000">
            <a:off x="599050" y="3959025"/>
            <a:ext cx="408600" cy="121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8" name="Google Shape;728;g3f3bc888eac_0_16"/>
          <p:cNvSpPr txBox="1"/>
          <p:nvPr/>
        </p:nvSpPr>
        <p:spPr>
          <a:xfrm>
            <a:off x="311700" y="4321800"/>
            <a:ext cx="360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These 5 samples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share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these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 mutations 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from the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ancestor</a:t>
            </a: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g3f5693fca55_0_6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048350"/>
            <a:ext cx="8839199" cy="3944658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g3f5693fca55_0_691"/>
          <p:cNvSpPr/>
          <p:nvPr/>
        </p:nvSpPr>
        <p:spPr>
          <a:xfrm>
            <a:off x="575600" y="22315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5" name="Google Shape;735;g3f5693fca55_0_691"/>
          <p:cNvSpPr/>
          <p:nvPr/>
        </p:nvSpPr>
        <p:spPr>
          <a:xfrm>
            <a:off x="5431750" y="16724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6" name="Google Shape;736;g3f5693fca55_0_691"/>
          <p:cNvSpPr/>
          <p:nvPr/>
        </p:nvSpPr>
        <p:spPr>
          <a:xfrm>
            <a:off x="5628700" y="2508200"/>
            <a:ext cx="1605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7" name="Google Shape;737;g3f5693fca55_0_691"/>
          <p:cNvSpPr/>
          <p:nvPr/>
        </p:nvSpPr>
        <p:spPr>
          <a:xfrm>
            <a:off x="1362725" y="1048350"/>
            <a:ext cx="4029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8" name="Google Shape;738;g3f5693fca55_0_691"/>
          <p:cNvSpPr/>
          <p:nvPr/>
        </p:nvSpPr>
        <p:spPr>
          <a:xfrm rot="5400000">
            <a:off x="2716375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9" name="Google Shape;739;g3f5693fca55_0_691"/>
          <p:cNvSpPr/>
          <p:nvPr/>
        </p:nvSpPr>
        <p:spPr>
          <a:xfrm rot="5400000">
            <a:off x="7478550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0" name="Google Shape;740;g3f5693fca55_0_691"/>
          <p:cNvSpPr/>
          <p:nvPr/>
        </p:nvSpPr>
        <p:spPr>
          <a:xfrm>
            <a:off x="6253800" y="908100"/>
            <a:ext cx="2505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1" name="Google Shape;741;g3f5693fca55_0_691"/>
          <p:cNvSpPr/>
          <p:nvPr/>
        </p:nvSpPr>
        <p:spPr>
          <a:xfrm>
            <a:off x="5112200" y="843250"/>
            <a:ext cx="3900000" cy="409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2" name="Google Shape;742;g3f5693fca55_0_69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Add neutral mutations to constant Ne population</a:t>
            </a:r>
            <a:endParaRPr/>
          </a:p>
        </p:txBody>
      </p:sp>
      <p:sp>
        <p:nvSpPr>
          <p:cNvPr id="743" name="Google Shape;743;g3f5693fca55_0_691"/>
          <p:cNvSpPr/>
          <p:nvPr/>
        </p:nvSpPr>
        <p:spPr>
          <a:xfrm>
            <a:off x="3807800" y="2305775"/>
            <a:ext cx="1304400" cy="105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4" name="Google Shape;744;g3f5693fca55_0_691"/>
          <p:cNvSpPr/>
          <p:nvPr/>
        </p:nvSpPr>
        <p:spPr>
          <a:xfrm>
            <a:off x="3057900" y="2624375"/>
            <a:ext cx="466200" cy="405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5" name="Google Shape;745;g3f5693fca55_0_691"/>
          <p:cNvSpPr/>
          <p:nvPr/>
        </p:nvSpPr>
        <p:spPr>
          <a:xfrm>
            <a:off x="4017600" y="3250725"/>
            <a:ext cx="1200000" cy="526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6" name="Google Shape;746;g3f5693fca55_0_691"/>
          <p:cNvSpPr/>
          <p:nvPr/>
        </p:nvSpPr>
        <p:spPr>
          <a:xfrm rot="5400000">
            <a:off x="2860325" y="2527050"/>
            <a:ext cx="4029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7" name="Google Shape;747;g3f5693fca55_0_691"/>
          <p:cNvSpPr/>
          <p:nvPr/>
        </p:nvSpPr>
        <p:spPr>
          <a:xfrm rot="5400000">
            <a:off x="2195517" y="3724050"/>
            <a:ext cx="225900" cy="969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8" name="Google Shape;748;g3f5693fca55_0_691"/>
          <p:cNvSpPr/>
          <p:nvPr/>
        </p:nvSpPr>
        <p:spPr>
          <a:xfrm rot="5400000">
            <a:off x="4581100" y="153925"/>
            <a:ext cx="594000" cy="270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9" name="Google Shape;749;g3f5693fca55_0_691"/>
          <p:cNvSpPr/>
          <p:nvPr/>
        </p:nvSpPr>
        <p:spPr>
          <a:xfrm rot="5400000">
            <a:off x="599050" y="3959025"/>
            <a:ext cx="408600" cy="121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0" name="Google Shape;750;g3f5693fca55_0_691"/>
          <p:cNvSpPr txBox="1"/>
          <p:nvPr/>
        </p:nvSpPr>
        <p:spPr>
          <a:xfrm>
            <a:off x="311700" y="4321800"/>
            <a:ext cx="360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These 5 samples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share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these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 mutations 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from the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ancestor</a:t>
            </a: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1" name="Google Shape;751;g3f5693fca55_0_691"/>
          <p:cNvCxnSpPr/>
          <p:nvPr/>
        </p:nvCxnSpPr>
        <p:spPr>
          <a:xfrm>
            <a:off x="3952750" y="3820975"/>
            <a:ext cx="1605300" cy="4266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752" name="Google Shape;752;g3f5693fca55_0_691"/>
          <p:cNvCxnSpPr/>
          <p:nvPr/>
        </p:nvCxnSpPr>
        <p:spPr>
          <a:xfrm>
            <a:off x="2938200" y="3755100"/>
            <a:ext cx="2622000" cy="5142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753" name="Google Shape;753;g3f5693fca55_0_691"/>
          <p:cNvSpPr txBox="1"/>
          <p:nvPr/>
        </p:nvSpPr>
        <p:spPr>
          <a:xfrm>
            <a:off x="4578300" y="4291625"/>
            <a:ext cx="441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mutations 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 one descendant =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singletons</a:t>
            </a: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g3f5693fca55_0_6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048350"/>
            <a:ext cx="8839199" cy="3944658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g3f5693fca55_0_678"/>
          <p:cNvSpPr/>
          <p:nvPr/>
        </p:nvSpPr>
        <p:spPr>
          <a:xfrm>
            <a:off x="575600" y="22315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0" name="Google Shape;760;g3f5693fca55_0_678"/>
          <p:cNvSpPr/>
          <p:nvPr/>
        </p:nvSpPr>
        <p:spPr>
          <a:xfrm>
            <a:off x="5431750" y="16724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1" name="Google Shape;761;g3f5693fca55_0_678"/>
          <p:cNvSpPr/>
          <p:nvPr/>
        </p:nvSpPr>
        <p:spPr>
          <a:xfrm>
            <a:off x="5628700" y="2508200"/>
            <a:ext cx="1605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2" name="Google Shape;762;g3f5693fca55_0_678"/>
          <p:cNvSpPr/>
          <p:nvPr/>
        </p:nvSpPr>
        <p:spPr>
          <a:xfrm>
            <a:off x="1362725" y="1048350"/>
            <a:ext cx="4029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3" name="Google Shape;763;g3f5693fca55_0_678"/>
          <p:cNvSpPr/>
          <p:nvPr/>
        </p:nvSpPr>
        <p:spPr>
          <a:xfrm rot="5400000">
            <a:off x="2716375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4" name="Google Shape;764;g3f5693fca55_0_678"/>
          <p:cNvSpPr/>
          <p:nvPr/>
        </p:nvSpPr>
        <p:spPr>
          <a:xfrm rot="5400000">
            <a:off x="7478550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5" name="Google Shape;765;g3f5693fca55_0_678"/>
          <p:cNvSpPr/>
          <p:nvPr/>
        </p:nvSpPr>
        <p:spPr>
          <a:xfrm>
            <a:off x="6253800" y="908100"/>
            <a:ext cx="2505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6" name="Google Shape;766;g3f5693fca55_0_678"/>
          <p:cNvSpPr/>
          <p:nvPr/>
        </p:nvSpPr>
        <p:spPr>
          <a:xfrm>
            <a:off x="152400" y="663150"/>
            <a:ext cx="4867500" cy="409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7" name="Google Shape;767;g3f5693fca55_0_678"/>
          <p:cNvSpPr/>
          <p:nvPr/>
        </p:nvSpPr>
        <p:spPr>
          <a:xfrm>
            <a:off x="4124100" y="4235400"/>
            <a:ext cx="48675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8" name="Google Shape;768;g3f5693fca55_0_678"/>
          <p:cNvSpPr/>
          <p:nvPr/>
        </p:nvSpPr>
        <p:spPr>
          <a:xfrm>
            <a:off x="6398000" y="3992525"/>
            <a:ext cx="24825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9" name="Google Shape;769;g3f5693fca55_0_678"/>
          <p:cNvSpPr/>
          <p:nvPr/>
        </p:nvSpPr>
        <p:spPr>
          <a:xfrm>
            <a:off x="8181900" y="811450"/>
            <a:ext cx="5544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0" name="Google Shape;770;g3f5693fca55_0_678"/>
          <p:cNvSpPr txBox="1">
            <a:spLocks noGrp="1"/>
          </p:cNvSpPr>
          <p:nvPr>
            <p:ph type="title"/>
          </p:nvPr>
        </p:nvSpPr>
        <p:spPr>
          <a:xfrm>
            <a:off x="311700" y="4055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Add neutral mutations to declining population</a:t>
            </a:r>
            <a:endParaRPr/>
          </a:p>
        </p:txBody>
      </p:sp>
      <p:sp>
        <p:nvSpPr>
          <p:cNvPr id="771" name="Google Shape;771;g3f5693fca55_0_678"/>
          <p:cNvSpPr/>
          <p:nvPr/>
        </p:nvSpPr>
        <p:spPr>
          <a:xfrm rot="5400000">
            <a:off x="6769842" y="3705900"/>
            <a:ext cx="225900" cy="969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2" name="Google Shape;772;g3f5693fca55_0_678"/>
          <p:cNvSpPr/>
          <p:nvPr/>
        </p:nvSpPr>
        <p:spPr>
          <a:xfrm rot="5400000">
            <a:off x="8028227" y="3561600"/>
            <a:ext cx="230700" cy="1263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3" name="Google Shape;773;g3f5693fca55_0_678"/>
          <p:cNvSpPr/>
          <p:nvPr/>
        </p:nvSpPr>
        <p:spPr>
          <a:xfrm>
            <a:off x="8181900" y="2315525"/>
            <a:ext cx="698700" cy="105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4" name="Google Shape;774;g3f5693fca55_0_678"/>
          <p:cNvSpPr/>
          <p:nvPr/>
        </p:nvSpPr>
        <p:spPr>
          <a:xfrm>
            <a:off x="6398000" y="994500"/>
            <a:ext cx="250500" cy="211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g3f57dc8374a_0_1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048350"/>
            <a:ext cx="8839199" cy="3944658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g3f57dc8374a_0_146"/>
          <p:cNvSpPr/>
          <p:nvPr/>
        </p:nvSpPr>
        <p:spPr>
          <a:xfrm>
            <a:off x="575600" y="22315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1" name="Google Shape;781;g3f57dc8374a_0_146"/>
          <p:cNvSpPr/>
          <p:nvPr/>
        </p:nvSpPr>
        <p:spPr>
          <a:xfrm>
            <a:off x="5431750" y="16724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2" name="Google Shape;782;g3f57dc8374a_0_146"/>
          <p:cNvSpPr/>
          <p:nvPr/>
        </p:nvSpPr>
        <p:spPr>
          <a:xfrm>
            <a:off x="5628700" y="2508200"/>
            <a:ext cx="1605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3" name="Google Shape;783;g3f57dc8374a_0_146"/>
          <p:cNvSpPr/>
          <p:nvPr/>
        </p:nvSpPr>
        <p:spPr>
          <a:xfrm>
            <a:off x="1362725" y="1048350"/>
            <a:ext cx="4029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4" name="Google Shape;784;g3f57dc8374a_0_146"/>
          <p:cNvSpPr/>
          <p:nvPr/>
        </p:nvSpPr>
        <p:spPr>
          <a:xfrm rot="5400000">
            <a:off x="2716375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5" name="Google Shape;785;g3f57dc8374a_0_146"/>
          <p:cNvSpPr/>
          <p:nvPr/>
        </p:nvSpPr>
        <p:spPr>
          <a:xfrm rot="5400000">
            <a:off x="7478550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6" name="Google Shape;786;g3f57dc8374a_0_146"/>
          <p:cNvSpPr/>
          <p:nvPr/>
        </p:nvSpPr>
        <p:spPr>
          <a:xfrm>
            <a:off x="6253800" y="908100"/>
            <a:ext cx="2505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7" name="Google Shape;787;g3f57dc8374a_0_146"/>
          <p:cNvSpPr/>
          <p:nvPr/>
        </p:nvSpPr>
        <p:spPr>
          <a:xfrm>
            <a:off x="152400" y="663150"/>
            <a:ext cx="4867500" cy="409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8" name="Google Shape;788;g3f57dc8374a_0_146"/>
          <p:cNvSpPr/>
          <p:nvPr/>
        </p:nvSpPr>
        <p:spPr>
          <a:xfrm>
            <a:off x="4124100" y="4235400"/>
            <a:ext cx="48675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9" name="Google Shape;789;g3f57dc8374a_0_146"/>
          <p:cNvSpPr/>
          <p:nvPr/>
        </p:nvSpPr>
        <p:spPr>
          <a:xfrm>
            <a:off x="6398000" y="3992525"/>
            <a:ext cx="24825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0" name="Google Shape;790;g3f57dc8374a_0_146"/>
          <p:cNvSpPr/>
          <p:nvPr/>
        </p:nvSpPr>
        <p:spPr>
          <a:xfrm>
            <a:off x="8181900" y="811450"/>
            <a:ext cx="5544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1" name="Google Shape;791;g3f57dc8374a_0_146"/>
          <p:cNvSpPr txBox="1">
            <a:spLocks noGrp="1"/>
          </p:cNvSpPr>
          <p:nvPr>
            <p:ph type="title"/>
          </p:nvPr>
        </p:nvSpPr>
        <p:spPr>
          <a:xfrm>
            <a:off x="311700" y="4055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Add neutral mutations to declining population</a:t>
            </a:r>
            <a:endParaRPr/>
          </a:p>
        </p:txBody>
      </p:sp>
      <p:sp>
        <p:nvSpPr>
          <p:cNvPr id="792" name="Google Shape;792;g3f57dc8374a_0_146"/>
          <p:cNvSpPr/>
          <p:nvPr/>
        </p:nvSpPr>
        <p:spPr>
          <a:xfrm rot="5400000">
            <a:off x="6769842" y="3705900"/>
            <a:ext cx="225900" cy="969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3" name="Google Shape;793;g3f57dc8374a_0_146"/>
          <p:cNvSpPr/>
          <p:nvPr/>
        </p:nvSpPr>
        <p:spPr>
          <a:xfrm rot="5400000">
            <a:off x="8028227" y="3561600"/>
            <a:ext cx="230700" cy="1263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94" name="Google Shape;794;g3f57dc8374a_0_146"/>
          <p:cNvCxnSpPr/>
          <p:nvPr/>
        </p:nvCxnSpPr>
        <p:spPr>
          <a:xfrm flipH="1">
            <a:off x="2213575" y="3425700"/>
            <a:ext cx="4545600" cy="8169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795" name="Google Shape;795;g3f57dc8374a_0_146"/>
          <p:cNvSpPr txBox="1"/>
          <p:nvPr/>
        </p:nvSpPr>
        <p:spPr>
          <a:xfrm>
            <a:off x="311700" y="4321800"/>
            <a:ext cx="403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 mutations 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shared by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descendants</a:t>
            </a: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g3f57dc8374a_0_146"/>
          <p:cNvSpPr txBox="1"/>
          <p:nvPr/>
        </p:nvSpPr>
        <p:spPr>
          <a:xfrm>
            <a:off x="7512075" y="4235400"/>
            <a:ext cx="1629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 mutation 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shared by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descendants </a:t>
            </a: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3f57dc8374a_0_146"/>
          <p:cNvSpPr/>
          <p:nvPr/>
        </p:nvSpPr>
        <p:spPr>
          <a:xfrm>
            <a:off x="6398000" y="994500"/>
            <a:ext cx="250500" cy="211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8" name="Google Shape;798;g3f57dc8374a_0_146"/>
          <p:cNvSpPr/>
          <p:nvPr/>
        </p:nvSpPr>
        <p:spPr>
          <a:xfrm>
            <a:off x="8109750" y="2378800"/>
            <a:ext cx="698700" cy="105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Google Shape;803;g3f57dc8374a_0_2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048350"/>
            <a:ext cx="8839199" cy="3944658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g3f57dc8374a_0_221"/>
          <p:cNvSpPr/>
          <p:nvPr/>
        </p:nvSpPr>
        <p:spPr>
          <a:xfrm>
            <a:off x="575600" y="22315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5" name="Google Shape;805;g3f57dc8374a_0_221"/>
          <p:cNvSpPr/>
          <p:nvPr/>
        </p:nvSpPr>
        <p:spPr>
          <a:xfrm>
            <a:off x="5431750" y="16724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6" name="Google Shape;806;g3f57dc8374a_0_221"/>
          <p:cNvSpPr/>
          <p:nvPr/>
        </p:nvSpPr>
        <p:spPr>
          <a:xfrm>
            <a:off x="5628700" y="2508200"/>
            <a:ext cx="1605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7" name="Google Shape;807;g3f57dc8374a_0_221"/>
          <p:cNvSpPr/>
          <p:nvPr/>
        </p:nvSpPr>
        <p:spPr>
          <a:xfrm>
            <a:off x="1362725" y="1048350"/>
            <a:ext cx="4029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8" name="Google Shape;808;g3f57dc8374a_0_221"/>
          <p:cNvSpPr/>
          <p:nvPr/>
        </p:nvSpPr>
        <p:spPr>
          <a:xfrm rot="5400000">
            <a:off x="2716375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9" name="Google Shape;809;g3f57dc8374a_0_221"/>
          <p:cNvSpPr/>
          <p:nvPr/>
        </p:nvSpPr>
        <p:spPr>
          <a:xfrm rot="5400000">
            <a:off x="7478550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0" name="Google Shape;810;g3f57dc8374a_0_221"/>
          <p:cNvSpPr/>
          <p:nvPr/>
        </p:nvSpPr>
        <p:spPr>
          <a:xfrm>
            <a:off x="6253800" y="908100"/>
            <a:ext cx="2505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1" name="Google Shape;811;g3f57dc8374a_0_221"/>
          <p:cNvSpPr/>
          <p:nvPr/>
        </p:nvSpPr>
        <p:spPr>
          <a:xfrm>
            <a:off x="152400" y="663150"/>
            <a:ext cx="4867500" cy="409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2" name="Google Shape;812;g3f57dc8374a_0_221"/>
          <p:cNvSpPr/>
          <p:nvPr/>
        </p:nvSpPr>
        <p:spPr>
          <a:xfrm>
            <a:off x="4124100" y="4235400"/>
            <a:ext cx="48675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3" name="Google Shape;813;g3f57dc8374a_0_221"/>
          <p:cNvSpPr/>
          <p:nvPr/>
        </p:nvSpPr>
        <p:spPr>
          <a:xfrm>
            <a:off x="6398000" y="3992525"/>
            <a:ext cx="24825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4" name="Google Shape;814;g3f57dc8374a_0_221"/>
          <p:cNvSpPr/>
          <p:nvPr/>
        </p:nvSpPr>
        <p:spPr>
          <a:xfrm>
            <a:off x="8181900" y="811450"/>
            <a:ext cx="5544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5" name="Google Shape;815;g3f57dc8374a_0_221"/>
          <p:cNvSpPr txBox="1">
            <a:spLocks noGrp="1"/>
          </p:cNvSpPr>
          <p:nvPr>
            <p:ph type="title"/>
          </p:nvPr>
        </p:nvSpPr>
        <p:spPr>
          <a:xfrm>
            <a:off x="311700" y="4055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Add neutral mutations to declining population</a:t>
            </a:r>
            <a:endParaRPr/>
          </a:p>
        </p:txBody>
      </p:sp>
      <p:sp>
        <p:nvSpPr>
          <p:cNvPr id="816" name="Google Shape;816;g3f57dc8374a_0_221"/>
          <p:cNvSpPr/>
          <p:nvPr/>
        </p:nvSpPr>
        <p:spPr>
          <a:xfrm rot="5400000">
            <a:off x="6769842" y="3705900"/>
            <a:ext cx="225900" cy="969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7" name="Google Shape;817;g3f57dc8374a_0_221"/>
          <p:cNvSpPr/>
          <p:nvPr/>
        </p:nvSpPr>
        <p:spPr>
          <a:xfrm rot="5400000">
            <a:off x="8028227" y="3561600"/>
            <a:ext cx="230700" cy="1263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18" name="Google Shape;818;g3f57dc8374a_0_221"/>
          <p:cNvCxnSpPr/>
          <p:nvPr/>
        </p:nvCxnSpPr>
        <p:spPr>
          <a:xfrm flipH="1">
            <a:off x="2213575" y="3425700"/>
            <a:ext cx="4545600" cy="8169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819" name="Google Shape;819;g3f57dc8374a_0_221"/>
          <p:cNvSpPr txBox="1"/>
          <p:nvPr/>
        </p:nvSpPr>
        <p:spPr>
          <a:xfrm>
            <a:off x="311700" y="4321800"/>
            <a:ext cx="403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 mutations 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shared by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descendants</a:t>
            </a: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g3f57dc8374a_0_221"/>
          <p:cNvSpPr txBox="1"/>
          <p:nvPr/>
        </p:nvSpPr>
        <p:spPr>
          <a:xfrm>
            <a:off x="7512075" y="4235400"/>
            <a:ext cx="1629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 mutation 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shared by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descendants </a:t>
            </a: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3f57dc8374a_0_221"/>
          <p:cNvSpPr/>
          <p:nvPr/>
        </p:nvSpPr>
        <p:spPr>
          <a:xfrm>
            <a:off x="8109750" y="2378800"/>
            <a:ext cx="698700" cy="105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2" name="Google Shape;822;g3f57dc8374a_0_221"/>
          <p:cNvSpPr txBox="1"/>
          <p:nvPr/>
        </p:nvSpPr>
        <p:spPr>
          <a:xfrm>
            <a:off x="246200" y="1656175"/>
            <a:ext cx="4482000" cy="15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Longer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branch =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more likely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mutation occurred</a:t>
            </a: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Declining population -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most individuals share the same mutations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3f57dc8374a_0_221"/>
          <p:cNvSpPr/>
          <p:nvPr/>
        </p:nvSpPr>
        <p:spPr>
          <a:xfrm>
            <a:off x="6398000" y="994500"/>
            <a:ext cx="250500" cy="211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f5693fca55_0_782"/>
          <p:cNvSpPr/>
          <p:nvPr/>
        </p:nvSpPr>
        <p:spPr>
          <a:xfrm>
            <a:off x="575600" y="22315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9" name="Google Shape;829;g3f5693fca55_0_782"/>
          <p:cNvSpPr/>
          <p:nvPr/>
        </p:nvSpPr>
        <p:spPr>
          <a:xfrm>
            <a:off x="1362725" y="1048350"/>
            <a:ext cx="4029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0" name="Google Shape;830;g3f5693fca55_0_782"/>
          <p:cNvSpPr/>
          <p:nvPr/>
        </p:nvSpPr>
        <p:spPr>
          <a:xfrm rot="5400000">
            <a:off x="2716375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1" name="Google Shape;831;g3f5693fca55_0_782"/>
          <p:cNvSpPr/>
          <p:nvPr/>
        </p:nvSpPr>
        <p:spPr>
          <a:xfrm rot="5400000">
            <a:off x="7478550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2" name="Google Shape;832;g3f5693fca55_0_782"/>
          <p:cNvSpPr/>
          <p:nvPr/>
        </p:nvSpPr>
        <p:spPr>
          <a:xfrm>
            <a:off x="6253800" y="908100"/>
            <a:ext cx="2505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3" name="Google Shape;833;g3f5693fca55_0_782"/>
          <p:cNvSpPr/>
          <p:nvPr/>
        </p:nvSpPr>
        <p:spPr>
          <a:xfrm>
            <a:off x="152400" y="663150"/>
            <a:ext cx="4867500" cy="409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4" name="Google Shape;834;g3f5693fca55_0_782"/>
          <p:cNvSpPr/>
          <p:nvPr/>
        </p:nvSpPr>
        <p:spPr>
          <a:xfrm>
            <a:off x="4124100" y="4235400"/>
            <a:ext cx="48675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5" name="Google Shape;835;g3f5693fca55_0_782"/>
          <p:cNvSpPr/>
          <p:nvPr/>
        </p:nvSpPr>
        <p:spPr>
          <a:xfrm>
            <a:off x="8181900" y="811450"/>
            <a:ext cx="5544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6" name="Google Shape;836;g3f5693fca55_0_782"/>
          <p:cNvSpPr txBox="1">
            <a:spLocks noGrp="1"/>
          </p:cNvSpPr>
          <p:nvPr>
            <p:ph type="title"/>
          </p:nvPr>
        </p:nvSpPr>
        <p:spPr>
          <a:xfrm>
            <a:off x="311700" y="4055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Add neutral mutations to expanding population</a:t>
            </a:r>
            <a:endParaRPr/>
          </a:p>
        </p:txBody>
      </p:sp>
      <p:sp>
        <p:nvSpPr>
          <p:cNvPr id="837" name="Google Shape;837;g3f5693fca55_0_782"/>
          <p:cNvSpPr/>
          <p:nvPr/>
        </p:nvSpPr>
        <p:spPr>
          <a:xfrm>
            <a:off x="8181900" y="2315525"/>
            <a:ext cx="698700" cy="105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38" name="Google Shape;838;g3f5693fca55_0_782"/>
          <p:cNvPicPr preferRelativeResize="0"/>
          <p:nvPr/>
        </p:nvPicPr>
        <p:blipFill rotWithShape="1">
          <a:blip r:embed="rId3">
            <a:alphaModFix/>
          </a:blip>
          <a:srcRect l="38759"/>
          <a:stretch/>
        </p:blipFill>
        <p:spPr>
          <a:xfrm>
            <a:off x="3640300" y="1097088"/>
            <a:ext cx="5191999" cy="3491065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g3f5693fca55_0_782"/>
          <p:cNvSpPr/>
          <p:nvPr/>
        </p:nvSpPr>
        <p:spPr>
          <a:xfrm>
            <a:off x="6211650" y="2571750"/>
            <a:ext cx="334800" cy="211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40" name="Google Shape;840;g3f5693fca55_0_7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49925" y="1642636"/>
            <a:ext cx="402900" cy="1718265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g3f5693fca55_0_782"/>
          <p:cNvSpPr/>
          <p:nvPr/>
        </p:nvSpPr>
        <p:spPr>
          <a:xfrm>
            <a:off x="5026125" y="1782600"/>
            <a:ext cx="2505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2" name="Google Shape;842;g3f5693fca55_0_782"/>
          <p:cNvSpPr/>
          <p:nvPr/>
        </p:nvSpPr>
        <p:spPr>
          <a:xfrm rot="5400000">
            <a:off x="7548150" y="3215550"/>
            <a:ext cx="363900" cy="2952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43" name="Google Shape;843;g3f5693fca55_0_782"/>
          <p:cNvPicPr preferRelativeResize="0"/>
          <p:nvPr/>
        </p:nvPicPr>
        <p:blipFill rotWithShape="1">
          <a:blip r:embed="rId5">
            <a:alphaModFix/>
          </a:blip>
          <a:srcRect l="16582" r="62601"/>
          <a:stretch/>
        </p:blipFill>
        <p:spPr>
          <a:xfrm>
            <a:off x="6807825" y="3597550"/>
            <a:ext cx="5052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g3f5693fca55_0_782"/>
          <p:cNvPicPr preferRelativeResize="0"/>
          <p:nvPr/>
        </p:nvPicPr>
        <p:blipFill rotWithShape="1">
          <a:blip r:embed="rId5">
            <a:alphaModFix/>
          </a:blip>
          <a:srcRect l="16582" r="62601"/>
          <a:stretch/>
        </p:blipFill>
        <p:spPr>
          <a:xfrm>
            <a:off x="7574400" y="3883200"/>
            <a:ext cx="5052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g3f5693fca55_0_782"/>
          <p:cNvPicPr preferRelativeResize="0"/>
          <p:nvPr/>
        </p:nvPicPr>
        <p:blipFill rotWithShape="1">
          <a:blip r:embed="rId5">
            <a:alphaModFix/>
          </a:blip>
          <a:srcRect l="16582" r="62601"/>
          <a:stretch/>
        </p:blipFill>
        <p:spPr>
          <a:xfrm>
            <a:off x="8528675" y="3597550"/>
            <a:ext cx="5052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f57dc8374a_0_246"/>
          <p:cNvSpPr/>
          <p:nvPr/>
        </p:nvSpPr>
        <p:spPr>
          <a:xfrm>
            <a:off x="575600" y="2231525"/>
            <a:ext cx="5544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1" name="Google Shape;851;g3f57dc8374a_0_246"/>
          <p:cNvSpPr/>
          <p:nvPr/>
        </p:nvSpPr>
        <p:spPr>
          <a:xfrm>
            <a:off x="1362725" y="1048350"/>
            <a:ext cx="4029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2" name="Google Shape;852;g3f57dc8374a_0_246"/>
          <p:cNvSpPr/>
          <p:nvPr/>
        </p:nvSpPr>
        <p:spPr>
          <a:xfrm rot="5400000">
            <a:off x="2716375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3" name="Google Shape;853;g3f57dc8374a_0_246"/>
          <p:cNvSpPr/>
          <p:nvPr/>
        </p:nvSpPr>
        <p:spPr>
          <a:xfrm rot="5400000">
            <a:off x="7478550" y="2821800"/>
            <a:ext cx="288300" cy="27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4" name="Google Shape;854;g3f57dc8374a_0_246"/>
          <p:cNvSpPr/>
          <p:nvPr/>
        </p:nvSpPr>
        <p:spPr>
          <a:xfrm>
            <a:off x="6253800" y="908100"/>
            <a:ext cx="250500" cy="332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5" name="Google Shape;855;g3f57dc8374a_0_246"/>
          <p:cNvSpPr/>
          <p:nvPr/>
        </p:nvSpPr>
        <p:spPr>
          <a:xfrm>
            <a:off x="152400" y="663150"/>
            <a:ext cx="4867500" cy="409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6" name="Google Shape;856;g3f57dc8374a_0_246"/>
          <p:cNvSpPr/>
          <p:nvPr/>
        </p:nvSpPr>
        <p:spPr>
          <a:xfrm>
            <a:off x="4124100" y="4235400"/>
            <a:ext cx="48675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7" name="Google Shape;857;g3f57dc8374a_0_246"/>
          <p:cNvSpPr/>
          <p:nvPr/>
        </p:nvSpPr>
        <p:spPr>
          <a:xfrm>
            <a:off x="8181900" y="811450"/>
            <a:ext cx="554400" cy="6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8" name="Google Shape;858;g3f57dc8374a_0_246"/>
          <p:cNvSpPr txBox="1">
            <a:spLocks noGrp="1"/>
          </p:cNvSpPr>
          <p:nvPr>
            <p:ph type="title"/>
          </p:nvPr>
        </p:nvSpPr>
        <p:spPr>
          <a:xfrm>
            <a:off x="311700" y="4055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Add neutral mutations to expanding population</a:t>
            </a:r>
            <a:endParaRPr/>
          </a:p>
        </p:txBody>
      </p:sp>
      <p:sp>
        <p:nvSpPr>
          <p:cNvPr id="859" name="Google Shape;859;g3f57dc8374a_0_246"/>
          <p:cNvSpPr/>
          <p:nvPr/>
        </p:nvSpPr>
        <p:spPr>
          <a:xfrm>
            <a:off x="8181900" y="2315525"/>
            <a:ext cx="698700" cy="105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0" name="Google Shape;860;g3f57dc8374a_0_246"/>
          <p:cNvPicPr preferRelativeResize="0"/>
          <p:nvPr/>
        </p:nvPicPr>
        <p:blipFill rotWithShape="1">
          <a:blip r:embed="rId3">
            <a:alphaModFix/>
          </a:blip>
          <a:srcRect l="38759"/>
          <a:stretch/>
        </p:blipFill>
        <p:spPr>
          <a:xfrm>
            <a:off x="3640300" y="1097088"/>
            <a:ext cx="5191999" cy="3491065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g3f57dc8374a_0_246"/>
          <p:cNvSpPr/>
          <p:nvPr/>
        </p:nvSpPr>
        <p:spPr>
          <a:xfrm>
            <a:off x="6211650" y="2571750"/>
            <a:ext cx="334800" cy="211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2" name="Google Shape;862;g3f57dc8374a_0_2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49925" y="1642636"/>
            <a:ext cx="402900" cy="1718265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g3f57dc8374a_0_246"/>
          <p:cNvSpPr/>
          <p:nvPr/>
        </p:nvSpPr>
        <p:spPr>
          <a:xfrm>
            <a:off x="5026125" y="1782600"/>
            <a:ext cx="250500" cy="1578300"/>
          </a:xfrm>
          <a:prstGeom prst="rect">
            <a:avLst/>
          </a:prstGeom>
          <a:solidFill>
            <a:srgbClr val="97B5D7"/>
          </a:solidFill>
          <a:ln w="9525" cap="flat" cmpd="sng">
            <a:solidFill>
              <a:srgbClr val="97B5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4" name="Google Shape;864;g3f57dc8374a_0_246"/>
          <p:cNvSpPr/>
          <p:nvPr/>
        </p:nvSpPr>
        <p:spPr>
          <a:xfrm rot="5400000">
            <a:off x="7548150" y="3215550"/>
            <a:ext cx="363900" cy="2952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5" name="Google Shape;865;g3f57dc8374a_0_246"/>
          <p:cNvPicPr preferRelativeResize="0"/>
          <p:nvPr/>
        </p:nvPicPr>
        <p:blipFill rotWithShape="1">
          <a:blip r:embed="rId5">
            <a:alphaModFix/>
          </a:blip>
          <a:srcRect l="16582" r="62601"/>
          <a:stretch/>
        </p:blipFill>
        <p:spPr>
          <a:xfrm>
            <a:off x="6807825" y="3597550"/>
            <a:ext cx="5052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g3f57dc8374a_0_246"/>
          <p:cNvPicPr preferRelativeResize="0"/>
          <p:nvPr/>
        </p:nvPicPr>
        <p:blipFill rotWithShape="1">
          <a:blip r:embed="rId5">
            <a:alphaModFix/>
          </a:blip>
          <a:srcRect l="16582" r="62601"/>
          <a:stretch/>
        </p:blipFill>
        <p:spPr>
          <a:xfrm>
            <a:off x="7574400" y="3883200"/>
            <a:ext cx="5052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g3f57dc8374a_0_246"/>
          <p:cNvPicPr preferRelativeResize="0"/>
          <p:nvPr/>
        </p:nvPicPr>
        <p:blipFill rotWithShape="1">
          <a:blip r:embed="rId5">
            <a:alphaModFix/>
          </a:blip>
          <a:srcRect l="16582" r="62601"/>
          <a:stretch/>
        </p:blipFill>
        <p:spPr>
          <a:xfrm>
            <a:off x="8528675" y="3597550"/>
            <a:ext cx="5052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g3f57dc8374a_0_246"/>
          <p:cNvSpPr txBox="1"/>
          <p:nvPr/>
        </p:nvSpPr>
        <p:spPr>
          <a:xfrm>
            <a:off x="217375" y="2231525"/>
            <a:ext cx="4475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Most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mutations 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only in one descendant =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singletons</a:t>
            </a: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g3f57dc8374a_0_246"/>
          <p:cNvCxnSpPr>
            <a:stCxn id="865" idx="0"/>
          </p:cNvCxnSpPr>
          <p:nvPr/>
        </p:nvCxnSpPr>
        <p:spPr>
          <a:xfrm rot="10800000">
            <a:off x="2645025" y="2608150"/>
            <a:ext cx="4415400" cy="9894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870" name="Google Shape;870;g3f57dc8374a_0_246"/>
          <p:cNvSpPr txBox="1"/>
          <p:nvPr/>
        </p:nvSpPr>
        <p:spPr>
          <a:xfrm>
            <a:off x="6532125" y="452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Excess rare variants</a:t>
            </a:r>
            <a:endParaRPr sz="10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f5693fca55_0_7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Coalescence summary 2</a:t>
            </a:r>
            <a:endParaRPr/>
          </a:p>
        </p:txBody>
      </p:sp>
      <p:sp>
        <p:nvSpPr>
          <p:cNvPr id="876" name="Google Shape;876;g3f5693fca55_0_76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Topology of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neutral coalescent trees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depends on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demography,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but is independent of mutation process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We can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add neutral mutations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to the genealogical tree, according to a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Poisson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distribution.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Mutations accumulate along the branches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Long branches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carry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more mutations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than short branches.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f57dc8374a_0_10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Coalescence summary 3</a:t>
            </a:r>
            <a:endParaRPr/>
          </a:p>
        </p:txBody>
      </p:sp>
      <p:sp>
        <p:nvSpPr>
          <p:cNvPr id="882" name="Google Shape;882;g3f57dc8374a_0_10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Probabilistic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nature of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 timing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of coalescence events also generates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variation</a:t>
            </a:r>
            <a:endParaRPr b="1"/>
          </a:p>
        </p:txBody>
      </p:sp>
      <p:pic>
        <p:nvPicPr>
          <p:cNvPr id="883" name="Google Shape;883;g3f57dc8374a_0_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5888" y="1981925"/>
            <a:ext cx="637222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f57dc8374a_0_1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Exercise</a:t>
            </a:r>
            <a:endParaRPr/>
          </a:p>
        </p:txBody>
      </p:sp>
      <p:sp>
        <p:nvSpPr>
          <p:cNvPr id="889" name="Google Shape;889;g3f57dc8374a_0_10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f5693fca55_0_0"/>
          <p:cNvSpPr txBox="1">
            <a:spLocks noGrp="1"/>
          </p:cNvSpPr>
          <p:nvPr>
            <p:ph type="ctrTitle"/>
          </p:nvPr>
        </p:nvSpPr>
        <p:spPr>
          <a:xfrm>
            <a:off x="1003650" y="214001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11111"/>
              <a:buNone/>
            </a:pPr>
            <a:r>
              <a:rPr lang="en-GB"/>
              <a:t>Site Frequency Spectrum</a:t>
            </a:r>
            <a:endParaRPr/>
          </a:p>
        </p:txBody>
      </p:sp>
      <p:sp>
        <p:nvSpPr>
          <p:cNvPr id="895" name="Google Shape;895;g3f5693fca55_0_0"/>
          <p:cNvSpPr/>
          <p:nvPr/>
        </p:nvSpPr>
        <p:spPr>
          <a:xfrm>
            <a:off x="1413025" y="3081800"/>
            <a:ext cx="6453000" cy="42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f57dc8374a_0_8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SFS  = allele frequency spectrum</a:t>
            </a:r>
            <a:endParaRPr/>
          </a:p>
        </p:txBody>
      </p:sp>
      <p:sp>
        <p:nvSpPr>
          <p:cNvPr id="901" name="Google Shape;901;g3f57dc8374a_0_8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Histogram of allele counts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2" name="Google Shape;902;g3f57dc8374a_0_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848100"/>
            <a:ext cx="8273725" cy="283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f57dc8374a_0_2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SFS </a:t>
            </a:r>
            <a:endParaRPr/>
          </a:p>
        </p:txBody>
      </p:sp>
      <p:sp>
        <p:nvSpPr>
          <p:cNvPr id="908" name="Google Shape;908;g3f57dc8374a_0_27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Frequency distribution of alleles in data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9" name="Google Shape;909;g3f57dc8374a_0_2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848100"/>
            <a:ext cx="8273725" cy="2832601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g3f57dc8374a_0_271"/>
          <p:cNvSpPr txBox="1"/>
          <p:nvPr/>
        </p:nvSpPr>
        <p:spPr>
          <a:xfrm>
            <a:off x="5891250" y="584325"/>
            <a:ext cx="2941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How </a:t>
            </a:r>
            <a:r>
              <a:rPr lang="en-GB" sz="16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frequent</a:t>
            </a:r>
            <a:r>
              <a:rPr lang="en-GB" sz="1600" b="0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 are certain </a:t>
            </a:r>
            <a:r>
              <a:rPr lang="en-GB" sz="16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classes </a:t>
            </a:r>
            <a:r>
              <a:rPr lang="en-GB" sz="1600" b="0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lang="en-GB" sz="1600" b="1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alleles</a:t>
            </a:r>
            <a:r>
              <a:rPr lang="en-GB" sz="1600" b="0" i="0" u="none" strike="noStrike" cap="non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600" b="0" i="0" u="none" strike="noStrike" cap="non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f57dc8374a_0_2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Neutral unfolded SFS</a:t>
            </a:r>
            <a:endParaRPr/>
          </a:p>
        </p:txBody>
      </p:sp>
      <p:sp>
        <p:nvSpPr>
          <p:cNvPr id="916" name="Google Shape;916;g3f57dc8374a_0_27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15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Exponential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shape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Many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more rare alleles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than common alleles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Doubletons ~ ½ number of singletons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Tripletons ~ ⅓ number of singletons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7" name="Google Shape;917;g3f57dc8374a_0_279"/>
          <p:cNvPicPr preferRelativeResize="0"/>
          <p:nvPr/>
        </p:nvPicPr>
        <p:blipFill rotWithShape="1">
          <a:blip r:embed="rId3">
            <a:alphaModFix/>
          </a:blip>
          <a:srcRect l="13519" t="39940" r="43900" b="8823"/>
          <a:stretch/>
        </p:blipFill>
        <p:spPr>
          <a:xfrm>
            <a:off x="4217600" y="1315375"/>
            <a:ext cx="4404876" cy="298134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g3f57dc8374a_0_279"/>
          <p:cNvSpPr/>
          <p:nvPr/>
        </p:nvSpPr>
        <p:spPr>
          <a:xfrm>
            <a:off x="6882425" y="1102875"/>
            <a:ext cx="2108100" cy="159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9" name="Google Shape;919;g3f57dc8374a_0_279"/>
          <p:cNvSpPr/>
          <p:nvPr/>
        </p:nvSpPr>
        <p:spPr>
          <a:xfrm>
            <a:off x="4226375" y="1154900"/>
            <a:ext cx="542400" cy="278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0" name="Google Shape;920;g3f57dc8374a_0_279"/>
          <p:cNvSpPr/>
          <p:nvPr/>
        </p:nvSpPr>
        <p:spPr>
          <a:xfrm>
            <a:off x="5532850" y="3806200"/>
            <a:ext cx="2478300" cy="54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1" name="Google Shape;921;g3f57dc8374a_0_279"/>
          <p:cNvSpPr txBox="1"/>
          <p:nvPr/>
        </p:nvSpPr>
        <p:spPr>
          <a:xfrm rot="-5400344">
            <a:off x="3072142" y="1580303"/>
            <a:ext cx="299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Proportion of SNPs</a:t>
            </a:r>
            <a:endParaRPr sz="1400" b="0" i="0" u="none" strike="noStrike" cap="none">
              <a:solidFill>
                <a:srgbClr val="2A2A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f57dc8374a_0_279"/>
          <p:cNvSpPr txBox="1"/>
          <p:nvPr/>
        </p:nvSpPr>
        <p:spPr>
          <a:xfrm rot="-1031">
            <a:off x="5532840" y="3727929"/>
            <a:ext cx="299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Derived allele count</a:t>
            </a:r>
            <a:endParaRPr sz="1400" b="0" i="0" u="none" strike="noStrike" cap="none">
              <a:solidFill>
                <a:srgbClr val="2A2A2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f57dc8374a_0_28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What would be the SFS for this data? </a:t>
            </a:r>
            <a:endParaRPr/>
          </a:p>
        </p:txBody>
      </p:sp>
      <p:sp>
        <p:nvSpPr>
          <p:cNvPr id="928" name="Google Shape;928;g3f57dc8374a_0_28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929" name="Google Shape;929;g3f57dc8374a_0_286"/>
          <p:cNvPicPr preferRelativeResize="0"/>
          <p:nvPr/>
        </p:nvPicPr>
        <p:blipFill rotWithShape="1">
          <a:blip r:embed="rId3">
            <a:alphaModFix/>
          </a:blip>
          <a:srcRect l="1067" t="26099" r="1067" b="14733"/>
          <a:stretch/>
        </p:blipFill>
        <p:spPr>
          <a:xfrm>
            <a:off x="97725" y="1525675"/>
            <a:ext cx="8948552" cy="30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g3f57dc8374a_0_286"/>
          <p:cNvSpPr/>
          <p:nvPr/>
        </p:nvSpPr>
        <p:spPr>
          <a:xfrm>
            <a:off x="6770750" y="2066125"/>
            <a:ext cx="2121900" cy="2052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f57dc8374a_0_2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Genealogy -&gt; sequence data -&gt; SFS</a:t>
            </a:r>
            <a:endParaRPr/>
          </a:p>
        </p:txBody>
      </p:sp>
      <p:sp>
        <p:nvSpPr>
          <p:cNvPr id="936" name="Google Shape;936;g3f57dc8374a_0_29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937" name="Google Shape;937;g3f57dc8374a_0_294"/>
          <p:cNvPicPr preferRelativeResize="0"/>
          <p:nvPr/>
        </p:nvPicPr>
        <p:blipFill rotWithShape="1">
          <a:blip r:embed="rId3">
            <a:alphaModFix/>
          </a:blip>
          <a:srcRect l="1067" t="26099" r="1067" b="14733"/>
          <a:stretch/>
        </p:blipFill>
        <p:spPr>
          <a:xfrm>
            <a:off x="97725" y="1525675"/>
            <a:ext cx="8948552" cy="30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g3f57dc8374a_0_294"/>
          <p:cNvSpPr/>
          <p:nvPr/>
        </p:nvSpPr>
        <p:spPr>
          <a:xfrm>
            <a:off x="7236650" y="2083625"/>
            <a:ext cx="1647000" cy="2052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f57dc8374a_0_30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Genealogy -&gt; sequence data -&gt; SFS</a:t>
            </a:r>
            <a:endParaRPr/>
          </a:p>
        </p:txBody>
      </p:sp>
      <p:sp>
        <p:nvSpPr>
          <p:cNvPr id="944" name="Google Shape;944;g3f57dc8374a_0_30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945" name="Google Shape;945;g3f57dc8374a_0_308"/>
          <p:cNvPicPr preferRelativeResize="0"/>
          <p:nvPr/>
        </p:nvPicPr>
        <p:blipFill rotWithShape="1">
          <a:blip r:embed="rId3">
            <a:alphaModFix/>
          </a:blip>
          <a:srcRect l="1067" t="26099" r="1067" b="14733"/>
          <a:stretch/>
        </p:blipFill>
        <p:spPr>
          <a:xfrm>
            <a:off x="97725" y="1525675"/>
            <a:ext cx="8948552" cy="30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g3f57dc8374a_0_308"/>
          <p:cNvSpPr/>
          <p:nvPr/>
        </p:nvSpPr>
        <p:spPr>
          <a:xfrm>
            <a:off x="7498950" y="2083625"/>
            <a:ext cx="1384800" cy="2052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f57dc8374a_0_3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Genealogy -&gt; sequence data -&gt; SFS</a:t>
            </a:r>
            <a:endParaRPr/>
          </a:p>
        </p:txBody>
      </p:sp>
      <p:sp>
        <p:nvSpPr>
          <p:cNvPr id="952" name="Google Shape;952;g3f57dc8374a_0_3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953" name="Google Shape;953;g3f57dc8374a_0_315"/>
          <p:cNvPicPr preferRelativeResize="0"/>
          <p:nvPr/>
        </p:nvPicPr>
        <p:blipFill rotWithShape="1">
          <a:blip r:embed="rId3">
            <a:alphaModFix/>
          </a:blip>
          <a:srcRect l="1067" t="26099" r="1067" b="14733"/>
          <a:stretch/>
        </p:blipFill>
        <p:spPr>
          <a:xfrm>
            <a:off x="97725" y="1525675"/>
            <a:ext cx="8948552" cy="30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g3f57dc8374a_0_315"/>
          <p:cNvSpPr/>
          <p:nvPr/>
        </p:nvSpPr>
        <p:spPr>
          <a:xfrm>
            <a:off x="7770200" y="2083625"/>
            <a:ext cx="1113900" cy="2052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f57dc8374a_0_3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Genealogy -&gt; sequence data -&gt; SFS</a:t>
            </a:r>
            <a:endParaRPr/>
          </a:p>
        </p:txBody>
      </p:sp>
      <p:sp>
        <p:nvSpPr>
          <p:cNvPr id="960" name="Google Shape;960;g3f57dc8374a_0_32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961" name="Google Shape;961;g3f57dc8374a_0_328"/>
          <p:cNvPicPr preferRelativeResize="0"/>
          <p:nvPr/>
        </p:nvPicPr>
        <p:blipFill rotWithShape="1">
          <a:blip r:embed="rId3">
            <a:alphaModFix/>
          </a:blip>
          <a:srcRect l="1067" t="26099" r="1067" b="14733"/>
          <a:stretch/>
        </p:blipFill>
        <p:spPr>
          <a:xfrm>
            <a:off x="97725" y="1525675"/>
            <a:ext cx="8948552" cy="30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6" name="Google Shape;966;g3f57dc8374a_0_353"/>
          <p:cNvPicPr preferRelativeResize="0"/>
          <p:nvPr/>
        </p:nvPicPr>
        <p:blipFill rotWithShape="1">
          <a:blip r:embed="rId3">
            <a:alphaModFix/>
          </a:blip>
          <a:srcRect l="3466" t="11739"/>
          <a:stretch/>
        </p:blipFill>
        <p:spPr>
          <a:xfrm>
            <a:off x="2913825" y="787525"/>
            <a:ext cx="5918475" cy="4058476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g3f57dc8374a_0_353"/>
          <p:cNvSpPr/>
          <p:nvPr/>
        </p:nvSpPr>
        <p:spPr>
          <a:xfrm>
            <a:off x="2992575" y="875050"/>
            <a:ext cx="2695200" cy="2922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8" name="Google Shape;968;g3f57dc8374a_0_353"/>
          <p:cNvSpPr txBox="1">
            <a:spLocks noGrp="1"/>
          </p:cNvSpPr>
          <p:nvPr>
            <p:ph type="title"/>
          </p:nvPr>
        </p:nvSpPr>
        <p:spPr>
          <a:xfrm>
            <a:off x="464100" y="5974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SFS from real data</a:t>
            </a:r>
            <a:endParaRPr/>
          </a:p>
        </p:txBody>
      </p:sp>
      <p:sp>
        <p:nvSpPr>
          <p:cNvPr id="969" name="Google Shape;969;g3f57dc8374a_0_353"/>
          <p:cNvSpPr txBox="1">
            <a:spLocks noGrp="1"/>
          </p:cNvSpPr>
          <p:nvPr>
            <p:ph type="body" idx="1"/>
          </p:nvPr>
        </p:nvSpPr>
        <p:spPr>
          <a:xfrm>
            <a:off x="311700" y="1348700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Genotypes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0 = ref/ref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1 = ref/alt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2 = alt/alt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GB" sz="1500" b="1">
                <a:latin typeface="Arial"/>
                <a:ea typeface="Arial"/>
                <a:cs typeface="Arial"/>
                <a:sym typeface="Arial"/>
              </a:rPr>
              <a:t>Size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of SFS depends on </a:t>
            </a:r>
            <a:r>
              <a:rPr lang="en-GB" sz="1500" b="1">
                <a:latin typeface="Arial"/>
                <a:ea typeface="Arial"/>
                <a:cs typeface="Arial"/>
                <a:sym typeface="Arial"/>
              </a:rPr>
              <a:t>number of samples</a:t>
            </a:r>
            <a:endParaRPr sz="15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GB" sz="1500" b="1">
                <a:latin typeface="Arial"/>
                <a:ea typeface="Arial"/>
                <a:cs typeface="Arial"/>
                <a:sym typeface="Arial"/>
              </a:rPr>
              <a:t>Efficient summary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of genomic data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4" name="Google Shape;974;g3f57dc8374a_0_335"/>
          <p:cNvPicPr preferRelativeResize="0"/>
          <p:nvPr/>
        </p:nvPicPr>
        <p:blipFill rotWithShape="1">
          <a:blip r:embed="rId3">
            <a:alphaModFix/>
          </a:blip>
          <a:srcRect l="3466" t="11739"/>
          <a:stretch/>
        </p:blipFill>
        <p:spPr>
          <a:xfrm>
            <a:off x="2913825" y="787525"/>
            <a:ext cx="5918475" cy="4058476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g3f57dc8374a_0_335"/>
          <p:cNvSpPr/>
          <p:nvPr/>
        </p:nvSpPr>
        <p:spPr>
          <a:xfrm>
            <a:off x="2992575" y="875050"/>
            <a:ext cx="2695200" cy="2922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6" name="Google Shape;976;g3f57dc8374a_0_335"/>
          <p:cNvSpPr txBox="1">
            <a:spLocks noGrp="1"/>
          </p:cNvSpPr>
          <p:nvPr>
            <p:ph type="title"/>
          </p:nvPr>
        </p:nvSpPr>
        <p:spPr>
          <a:xfrm>
            <a:off x="464100" y="5974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SFS from real data</a:t>
            </a:r>
            <a:endParaRPr/>
          </a:p>
        </p:txBody>
      </p:sp>
      <p:sp>
        <p:nvSpPr>
          <p:cNvPr id="977" name="Google Shape;977;g3f57dc8374a_0_335"/>
          <p:cNvSpPr txBox="1">
            <a:spLocks noGrp="1"/>
          </p:cNvSpPr>
          <p:nvPr>
            <p:ph type="body" idx="1"/>
          </p:nvPr>
        </p:nvSpPr>
        <p:spPr>
          <a:xfrm>
            <a:off x="311700" y="1348700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Genotypes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0 = ref/ref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1 = ref/alt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2 = alt/alt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GB" sz="1500" b="1">
                <a:latin typeface="Arial"/>
                <a:ea typeface="Arial"/>
                <a:cs typeface="Arial"/>
                <a:sym typeface="Arial"/>
              </a:rPr>
              <a:t>Size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of SFS depends on </a:t>
            </a:r>
            <a:r>
              <a:rPr lang="en-GB" sz="1500" b="1">
                <a:latin typeface="Arial"/>
                <a:ea typeface="Arial"/>
                <a:cs typeface="Arial"/>
                <a:sym typeface="Arial"/>
              </a:rPr>
              <a:t>number of samples</a:t>
            </a:r>
            <a:endParaRPr sz="15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GB" sz="1500" b="1">
                <a:latin typeface="Arial"/>
                <a:ea typeface="Arial"/>
                <a:cs typeface="Arial"/>
                <a:sym typeface="Arial"/>
              </a:rPr>
              <a:t>Efficient summary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of genomic data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g3f57dc8374a_0_335"/>
          <p:cNvSpPr/>
          <p:nvPr/>
        </p:nvSpPr>
        <p:spPr>
          <a:xfrm>
            <a:off x="8040325" y="4178475"/>
            <a:ext cx="4023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9" name="Google Shape;979;g3f57dc8374a_0_335"/>
          <p:cNvSpPr/>
          <p:nvPr/>
        </p:nvSpPr>
        <p:spPr>
          <a:xfrm>
            <a:off x="5768925" y="2047075"/>
            <a:ext cx="7587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0" name="Google Shape;980;g3f57dc8374a_0_335"/>
          <p:cNvSpPr/>
          <p:nvPr/>
        </p:nvSpPr>
        <p:spPr>
          <a:xfrm>
            <a:off x="8087725" y="3753350"/>
            <a:ext cx="2949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1" name="Google Shape;981;g3f57dc8374a_0_335"/>
          <p:cNvSpPr txBox="1"/>
          <p:nvPr/>
        </p:nvSpPr>
        <p:spPr>
          <a:xfrm>
            <a:off x="4885225" y="1988725"/>
            <a:ext cx="1409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1" i="0" u="none" strike="noStrike" cap="none">
                <a:solidFill>
                  <a:srgbClr val="D49047"/>
                </a:solidFill>
                <a:latin typeface="Arial"/>
                <a:ea typeface="Arial"/>
                <a:cs typeface="Arial"/>
                <a:sym typeface="Arial"/>
              </a:rPr>
              <a:t>diploids</a:t>
            </a:r>
            <a:endParaRPr sz="900" b="1" i="0" u="none" strike="noStrike" cap="none">
              <a:solidFill>
                <a:srgbClr val="D4904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f57dc8374a_0_9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Unfolded SFS to Folded SFS</a:t>
            </a:r>
            <a:endParaRPr/>
          </a:p>
        </p:txBody>
      </p:sp>
      <p:sp>
        <p:nvSpPr>
          <p:cNvPr id="987" name="Google Shape;987;g3f57dc8374a_0_9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988" name="Google Shape;988;g3f57dc8374a_0_92"/>
          <p:cNvPicPr preferRelativeResize="0"/>
          <p:nvPr/>
        </p:nvPicPr>
        <p:blipFill rotWithShape="1">
          <a:blip r:embed="rId3">
            <a:alphaModFix/>
          </a:blip>
          <a:srcRect t="18725" b="17062"/>
          <a:stretch/>
        </p:blipFill>
        <p:spPr>
          <a:xfrm>
            <a:off x="118425" y="1351875"/>
            <a:ext cx="8907152" cy="321714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g3f57dc8374a_0_92"/>
          <p:cNvSpPr/>
          <p:nvPr/>
        </p:nvSpPr>
        <p:spPr>
          <a:xfrm>
            <a:off x="3908875" y="1535625"/>
            <a:ext cx="1619400" cy="272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90" name="Google Shape;990;g3f57dc8374a_0_92"/>
          <p:cNvCxnSpPr/>
          <p:nvPr/>
        </p:nvCxnSpPr>
        <p:spPr>
          <a:xfrm flipH="1">
            <a:off x="4105075" y="2911525"/>
            <a:ext cx="1227000" cy="12300"/>
          </a:xfrm>
          <a:prstGeom prst="straightConnector1">
            <a:avLst/>
          </a:prstGeom>
          <a:noFill/>
          <a:ln w="76200" cap="flat" cmpd="sng">
            <a:solidFill>
              <a:schemeClr val="accent3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991" name="Google Shape;991;g3f57dc8374a_0_92"/>
          <p:cNvSpPr txBox="1"/>
          <p:nvPr/>
        </p:nvSpPr>
        <p:spPr>
          <a:xfrm>
            <a:off x="1047050" y="10739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Ancestral/derived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g3f57dc8374a_0_92"/>
          <p:cNvSpPr/>
          <p:nvPr/>
        </p:nvSpPr>
        <p:spPr>
          <a:xfrm>
            <a:off x="7904100" y="4143525"/>
            <a:ext cx="2949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3" name="Google Shape;993;g3f57dc8374a_0_92"/>
          <p:cNvSpPr/>
          <p:nvPr/>
        </p:nvSpPr>
        <p:spPr>
          <a:xfrm>
            <a:off x="3167775" y="4089350"/>
            <a:ext cx="294900" cy="26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f57dc8374a_0_40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Impact of demography on SFS</a:t>
            </a:r>
            <a:endParaRPr/>
          </a:p>
        </p:txBody>
      </p:sp>
      <p:sp>
        <p:nvSpPr>
          <p:cNvPr id="999" name="Google Shape;999;g3f57dc8374a_0_40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000" name="Google Shape;1000;g3f57dc8374a_0_402"/>
          <p:cNvPicPr preferRelativeResize="0"/>
          <p:nvPr/>
        </p:nvPicPr>
        <p:blipFill rotWithShape="1">
          <a:blip r:embed="rId3">
            <a:alphaModFix/>
          </a:blip>
          <a:srcRect t="16681"/>
          <a:stretch/>
        </p:blipFill>
        <p:spPr>
          <a:xfrm>
            <a:off x="2943900" y="1196173"/>
            <a:ext cx="6089625" cy="380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g3f57dc8374a_0_402"/>
          <p:cNvSpPr/>
          <p:nvPr/>
        </p:nvSpPr>
        <p:spPr>
          <a:xfrm>
            <a:off x="4900125" y="1557550"/>
            <a:ext cx="2633700" cy="42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2" name="Google Shape;1002;g3f57dc8374a_0_402"/>
          <p:cNvSpPr/>
          <p:nvPr/>
        </p:nvSpPr>
        <p:spPr>
          <a:xfrm>
            <a:off x="6277575" y="1557550"/>
            <a:ext cx="603900" cy="32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3" name="Google Shape;1003;g3f57dc8374a_0_402"/>
          <p:cNvSpPr/>
          <p:nvPr/>
        </p:nvSpPr>
        <p:spPr>
          <a:xfrm>
            <a:off x="7340000" y="1557550"/>
            <a:ext cx="603900" cy="32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4" name="Google Shape;1004;g3f57dc8374a_0_402"/>
          <p:cNvSpPr txBox="1"/>
          <p:nvPr/>
        </p:nvSpPr>
        <p:spPr>
          <a:xfrm>
            <a:off x="4799550" y="3097575"/>
            <a:ext cx="1242600" cy="5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4F81BC"/>
                </a:solidFill>
                <a:latin typeface="Arial"/>
                <a:ea typeface="Arial"/>
                <a:cs typeface="Arial"/>
                <a:sym typeface="Arial"/>
              </a:rPr>
              <a:t>Constant</a:t>
            </a:r>
            <a:endParaRPr sz="1400" b="1" i="0" u="none" strike="noStrike" cap="none">
              <a:solidFill>
                <a:srgbClr val="4F81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g3f57dc8374a_0_402"/>
          <p:cNvSpPr txBox="1"/>
          <p:nvPr/>
        </p:nvSpPr>
        <p:spPr>
          <a:xfrm>
            <a:off x="4251925" y="1981200"/>
            <a:ext cx="1920600" cy="5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Population expansion</a:t>
            </a:r>
            <a:endParaRPr sz="1400" b="1" i="0" u="none" strike="noStrike" cap="none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g3f57dc8374a_0_402"/>
          <p:cNvSpPr txBox="1"/>
          <p:nvPr/>
        </p:nvSpPr>
        <p:spPr>
          <a:xfrm>
            <a:off x="6023300" y="3489875"/>
            <a:ext cx="1920600" cy="5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9BBA58"/>
                </a:solidFill>
                <a:latin typeface="Arial"/>
                <a:ea typeface="Arial"/>
                <a:cs typeface="Arial"/>
                <a:sym typeface="Arial"/>
              </a:rPr>
              <a:t>Population decline</a:t>
            </a:r>
            <a:endParaRPr sz="1400" b="1" i="0" u="none" strike="noStrike" cap="none">
              <a:solidFill>
                <a:srgbClr val="9BBA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7" name="Google Shape;1007;g3f57dc8374a_0_402"/>
          <p:cNvCxnSpPr/>
          <p:nvPr/>
        </p:nvCxnSpPr>
        <p:spPr>
          <a:xfrm rot="10800000" flipH="1">
            <a:off x="4291600" y="2523600"/>
            <a:ext cx="450900" cy="3456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1008" name="Google Shape;1008;g3f57dc8374a_0_402"/>
          <p:cNvCxnSpPr/>
          <p:nvPr/>
        </p:nvCxnSpPr>
        <p:spPr>
          <a:xfrm rot="10800000" flipH="1">
            <a:off x="4627750" y="3402275"/>
            <a:ext cx="450900" cy="3456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f57dc8374a_0_40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Impact of natural selection on SFS</a:t>
            </a:r>
            <a:endParaRPr/>
          </a:p>
        </p:txBody>
      </p:sp>
      <p:sp>
        <p:nvSpPr>
          <p:cNvPr id="1014" name="Google Shape;1014;g3f57dc8374a_0_408"/>
          <p:cNvSpPr txBox="1"/>
          <p:nvPr/>
        </p:nvSpPr>
        <p:spPr>
          <a:xfrm>
            <a:off x="2102550" y="1186925"/>
            <a:ext cx="679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Background selection SFS</a:t>
            </a:r>
            <a:r>
              <a:rPr lang="en-GB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has similar shape to </a:t>
            </a:r>
            <a:r>
              <a:rPr lang="en-GB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population expansion</a:t>
            </a:r>
            <a:endParaRPr sz="1600" b="1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g3f57dc8374a_0_408"/>
          <p:cNvSpPr/>
          <p:nvPr/>
        </p:nvSpPr>
        <p:spPr>
          <a:xfrm>
            <a:off x="2490275" y="1652525"/>
            <a:ext cx="367200" cy="3213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6" name="Google Shape;1016;g3f57dc8374a_0_408"/>
          <p:cNvSpPr/>
          <p:nvPr/>
        </p:nvSpPr>
        <p:spPr>
          <a:xfrm rot="5400000">
            <a:off x="5602225" y="1642900"/>
            <a:ext cx="274500" cy="598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17" name="Google Shape;1017;g3f57dc8374a_0_4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475" y="1923325"/>
            <a:ext cx="5744076" cy="27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g3f57dc8374a_0_408"/>
          <p:cNvSpPr/>
          <p:nvPr/>
        </p:nvSpPr>
        <p:spPr>
          <a:xfrm>
            <a:off x="2573825" y="1652525"/>
            <a:ext cx="367200" cy="3213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9" name="Google Shape;1019;g3f57dc8374a_0_408"/>
          <p:cNvSpPr/>
          <p:nvPr/>
        </p:nvSpPr>
        <p:spPr>
          <a:xfrm>
            <a:off x="8533050" y="1559950"/>
            <a:ext cx="367200" cy="3213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0" name="Google Shape;1020;g3f57dc8374a_0_408"/>
          <p:cNvSpPr/>
          <p:nvPr/>
        </p:nvSpPr>
        <p:spPr>
          <a:xfrm rot="5400000">
            <a:off x="5669575" y="1825150"/>
            <a:ext cx="335100" cy="579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1" name="Google Shape;1021;g3f57dc8374a_0_408"/>
          <p:cNvSpPr/>
          <p:nvPr/>
        </p:nvSpPr>
        <p:spPr>
          <a:xfrm rot="5400000">
            <a:off x="5561963" y="-1075975"/>
            <a:ext cx="335100" cy="579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2" name="Google Shape;1022;g3f57dc8374a_0_408"/>
          <p:cNvSpPr/>
          <p:nvPr/>
        </p:nvSpPr>
        <p:spPr>
          <a:xfrm rot="5400000">
            <a:off x="7708525" y="3795100"/>
            <a:ext cx="350700" cy="1698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23" name="Google Shape;1023;g3f57dc8374a_0_408"/>
          <p:cNvCxnSpPr/>
          <p:nvPr/>
        </p:nvCxnSpPr>
        <p:spPr>
          <a:xfrm rot="10800000" flipH="1">
            <a:off x="3711975" y="1652525"/>
            <a:ext cx="2502300" cy="7974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f57dc8374a_0_4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Exercise</a:t>
            </a:r>
            <a:endParaRPr/>
          </a:p>
        </p:txBody>
      </p:sp>
      <p:sp>
        <p:nvSpPr>
          <p:cNvPr id="1029" name="Google Shape;1029;g3f57dc8374a_0_4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f57dc8374a_0_9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2D-SFS</a:t>
            </a:r>
            <a:endParaRPr/>
          </a:p>
        </p:txBody>
      </p:sp>
      <p:sp>
        <p:nvSpPr>
          <p:cNvPr id="1035" name="Google Shape;1035;g3f57dc8374a_0_97"/>
          <p:cNvSpPr txBox="1">
            <a:spLocks noGrp="1"/>
          </p:cNvSpPr>
          <p:nvPr>
            <p:ph type="body" idx="1"/>
          </p:nvPr>
        </p:nvSpPr>
        <p:spPr>
          <a:xfrm>
            <a:off x="84200" y="1257575"/>
            <a:ext cx="34962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Joint site frequency spectrum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Sharing of alleles and their frequencies between the 2 populations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6" name="Google Shape;1036;g3f57dc8374a_0_97"/>
          <p:cNvPicPr preferRelativeResize="0"/>
          <p:nvPr/>
        </p:nvPicPr>
        <p:blipFill rotWithShape="1">
          <a:blip r:embed="rId3">
            <a:alphaModFix/>
          </a:blip>
          <a:srcRect l="24306" t="21092" r="33013" b="4220"/>
          <a:stretch/>
        </p:blipFill>
        <p:spPr>
          <a:xfrm>
            <a:off x="3360075" y="883250"/>
            <a:ext cx="3902624" cy="384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f57dc8374a_0_3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2D-SFS</a:t>
            </a:r>
            <a:endParaRPr/>
          </a:p>
        </p:txBody>
      </p:sp>
      <p:pic>
        <p:nvPicPr>
          <p:cNvPr id="1042" name="Google Shape;1042;g3f57dc8374a_0_365"/>
          <p:cNvPicPr preferRelativeResize="0"/>
          <p:nvPr/>
        </p:nvPicPr>
        <p:blipFill rotWithShape="1">
          <a:blip r:embed="rId3">
            <a:alphaModFix/>
          </a:blip>
          <a:srcRect l="27269" t="28750" r="12253"/>
          <a:stretch/>
        </p:blipFill>
        <p:spPr>
          <a:xfrm>
            <a:off x="3500100" y="1076575"/>
            <a:ext cx="5530152" cy="366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f57dc8374a_0_3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2D-SFS</a:t>
            </a:r>
            <a:endParaRPr/>
          </a:p>
        </p:txBody>
      </p:sp>
      <p:pic>
        <p:nvPicPr>
          <p:cNvPr id="1048" name="Google Shape;1048;g3f57dc8374a_0_371"/>
          <p:cNvPicPr preferRelativeResize="0"/>
          <p:nvPr/>
        </p:nvPicPr>
        <p:blipFill rotWithShape="1">
          <a:blip r:embed="rId3">
            <a:alphaModFix/>
          </a:blip>
          <a:srcRect l="27844" t="34193" r="36270"/>
          <a:stretch/>
        </p:blipFill>
        <p:spPr>
          <a:xfrm>
            <a:off x="245025" y="1339075"/>
            <a:ext cx="3281324" cy="33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f57dc8374a_0_3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2D-SFS</a:t>
            </a:r>
            <a:endParaRPr/>
          </a:p>
        </p:txBody>
      </p:sp>
      <p:pic>
        <p:nvPicPr>
          <p:cNvPr id="1054" name="Google Shape;1054;g3f57dc8374a_0_379"/>
          <p:cNvPicPr preferRelativeResize="0"/>
          <p:nvPr/>
        </p:nvPicPr>
        <p:blipFill rotWithShape="1">
          <a:blip r:embed="rId3">
            <a:alphaModFix/>
          </a:blip>
          <a:srcRect l="27844" t="34193" r="36270"/>
          <a:stretch/>
        </p:blipFill>
        <p:spPr>
          <a:xfrm>
            <a:off x="245025" y="1339075"/>
            <a:ext cx="3281324" cy="33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g3f57dc8374a_0_379"/>
          <p:cNvPicPr preferRelativeResize="0"/>
          <p:nvPr/>
        </p:nvPicPr>
        <p:blipFill rotWithShape="1">
          <a:blip r:embed="rId4">
            <a:alphaModFix/>
          </a:blip>
          <a:srcRect l="28372" t="853"/>
          <a:stretch/>
        </p:blipFill>
        <p:spPr>
          <a:xfrm>
            <a:off x="4068900" y="40700"/>
            <a:ext cx="4763400" cy="49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g3f57dc8374a_0_379"/>
          <p:cNvSpPr/>
          <p:nvPr/>
        </p:nvSpPr>
        <p:spPr>
          <a:xfrm>
            <a:off x="3806350" y="113750"/>
            <a:ext cx="1820100" cy="290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f57dc8374a_0_1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SFS summary</a:t>
            </a:r>
            <a:endParaRPr/>
          </a:p>
        </p:txBody>
      </p:sp>
      <p:sp>
        <p:nvSpPr>
          <p:cNvPr id="1062" name="Google Shape;1062;g3f57dc8374a_0_1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Allele frequency spectrum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Mutation rate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affects the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number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of SNPs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Shape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of the SFS is impacted by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demography + natural selection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Summary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of genome-wide data at a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snapshot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in time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g3f5693fca55_0_1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2712" y="1593237"/>
            <a:ext cx="3852808" cy="31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g3f5693fca55_0_1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Demographic model of 2 populations</a:t>
            </a:r>
            <a:endParaRPr/>
          </a:p>
        </p:txBody>
      </p:sp>
      <p:sp>
        <p:nvSpPr>
          <p:cNvPr id="1069" name="Google Shape;1069;g3f5693fca55_0_123"/>
          <p:cNvSpPr/>
          <p:nvPr/>
        </p:nvSpPr>
        <p:spPr>
          <a:xfrm>
            <a:off x="5413000" y="3729650"/>
            <a:ext cx="255900" cy="1098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0" name="Google Shape;1070;g3f5693fca55_0_123"/>
          <p:cNvSpPr txBox="1"/>
          <p:nvPr/>
        </p:nvSpPr>
        <p:spPr>
          <a:xfrm>
            <a:off x="563000" y="1407000"/>
            <a:ext cx="103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g3f5693fca55_0_123"/>
          <p:cNvSpPr txBox="1"/>
          <p:nvPr/>
        </p:nvSpPr>
        <p:spPr>
          <a:xfrm>
            <a:off x="642275" y="4472425"/>
            <a:ext cx="103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g3f5693fca55_0_123"/>
          <p:cNvSpPr txBox="1"/>
          <p:nvPr/>
        </p:nvSpPr>
        <p:spPr>
          <a:xfrm>
            <a:off x="6362350" y="4217177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Changes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f5693fca55_0_185"/>
          <p:cNvSpPr txBox="1">
            <a:spLocks noGrp="1"/>
          </p:cNvSpPr>
          <p:nvPr>
            <p:ph type="ctrTitle"/>
          </p:nvPr>
        </p:nvSpPr>
        <p:spPr>
          <a:xfrm>
            <a:off x="1003650" y="214001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11111"/>
              <a:buNone/>
            </a:pPr>
            <a:r>
              <a:rPr lang="en-GB"/>
              <a:t>How to infer demography?</a:t>
            </a:r>
            <a:endParaRPr/>
          </a:p>
        </p:txBody>
      </p:sp>
      <p:sp>
        <p:nvSpPr>
          <p:cNvPr id="1078" name="Google Shape;1078;g3f5693fca55_0_185"/>
          <p:cNvSpPr/>
          <p:nvPr/>
        </p:nvSpPr>
        <p:spPr>
          <a:xfrm>
            <a:off x="1413025" y="3081800"/>
            <a:ext cx="6453000" cy="42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3" name="Google Shape;1083;g3f5693fca55_0_201" title="figmethod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4525" y="327175"/>
            <a:ext cx="4351288" cy="3686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g3f5693fca55_0_2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25" y="4135322"/>
            <a:ext cx="3589568" cy="195028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g3f5693fca55_0_201"/>
          <p:cNvSpPr txBox="1"/>
          <p:nvPr/>
        </p:nvSpPr>
        <p:spPr>
          <a:xfrm>
            <a:off x="938500" y="-262600"/>
            <a:ext cx="77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g3f5693fca55_0_201"/>
          <p:cNvSpPr txBox="1"/>
          <p:nvPr/>
        </p:nvSpPr>
        <p:spPr>
          <a:xfrm>
            <a:off x="5704650" y="2762725"/>
            <a:ext cx="2583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2) Inference methods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3f5693fca55_0_201"/>
          <p:cNvSpPr/>
          <p:nvPr/>
        </p:nvSpPr>
        <p:spPr>
          <a:xfrm>
            <a:off x="52725" y="277750"/>
            <a:ext cx="6453000" cy="104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g3f5693fca55_0_201"/>
          <p:cNvSpPr txBox="1"/>
          <p:nvPr/>
        </p:nvSpPr>
        <p:spPr>
          <a:xfrm>
            <a:off x="5640800" y="1425350"/>
            <a:ext cx="4198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AutoNum type="arabicParenR"/>
            </a:pPr>
            <a:r>
              <a:rPr lang="en-GB" sz="1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Demographic modelling</a:t>
            </a:r>
            <a:endParaRPr sz="17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(ABC, SFS)</a:t>
            </a:r>
            <a:endParaRPr sz="17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3f5693fca55_0_201"/>
          <p:cNvSpPr txBox="1">
            <a:spLocks noGrp="1"/>
          </p:cNvSpPr>
          <p:nvPr>
            <p:ph type="title"/>
          </p:nvPr>
        </p:nvSpPr>
        <p:spPr>
          <a:xfrm>
            <a:off x="452150" y="64517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Methods to infer demography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Google Shape;1094;g3f57dc8374a_0_46" title="figmethod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4525" y="327175"/>
            <a:ext cx="4351288" cy="3686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g3f57dc8374a_0_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25" y="4135322"/>
            <a:ext cx="3589568" cy="195028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g3f57dc8374a_0_46"/>
          <p:cNvSpPr txBox="1"/>
          <p:nvPr/>
        </p:nvSpPr>
        <p:spPr>
          <a:xfrm>
            <a:off x="938500" y="-262600"/>
            <a:ext cx="77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g3f57dc8374a_0_46"/>
          <p:cNvSpPr txBox="1"/>
          <p:nvPr/>
        </p:nvSpPr>
        <p:spPr>
          <a:xfrm>
            <a:off x="5704650" y="2762725"/>
            <a:ext cx="2583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Inference methods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g3f57dc8374a_0_46"/>
          <p:cNvSpPr/>
          <p:nvPr/>
        </p:nvSpPr>
        <p:spPr>
          <a:xfrm>
            <a:off x="52725" y="277750"/>
            <a:ext cx="6453000" cy="104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g3f57dc8374a_0_46"/>
          <p:cNvSpPr txBox="1">
            <a:spLocks noGrp="1"/>
          </p:cNvSpPr>
          <p:nvPr>
            <p:ph type="title"/>
          </p:nvPr>
        </p:nvSpPr>
        <p:spPr>
          <a:xfrm>
            <a:off x="452150" y="64517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Demographic modelling</a:t>
            </a:r>
            <a:endParaRPr/>
          </a:p>
        </p:txBody>
      </p:sp>
      <p:sp>
        <p:nvSpPr>
          <p:cNvPr id="1100" name="Google Shape;1100;g3f57dc8374a_0_46"/>
          <p:cNvSpPr/>
          <p:nvPr/>
        </p:nvSpPr>
        <p:spPr>
          <a:xfrm>
            <a:off x="52725" y="1945775"/>
            <a:ext cx="8045700" cy="23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01" name="Google Shape;1101;g3f57dc8374a_0_46" title="Screenshot 2026-07-21 at 09.48.1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8500" y="2033650"/>
            <a:ext cx="5216474" cy="272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" name="Google Shape;1106;g3f5693fca55_0_221" title="figmethod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8400" y="987925"/>
            <a:ext cx="4351288" cy="3686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g3f5693fca55_0_2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796072"/>
            <a:ext cx="3589568" cy="195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g3f5693fca55_0_221"/>
          <p:cNvSpPr txBox="1"/>
          <p:nvPr/>
        </p:nvSpPr>
        <p:spPr>
          <a:xfrm>
            <a:off x="938500" y="-262600"/>
            <a:ext cx="77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g3f5693fca55_0_221"/>
          <p:cNvSpPr/>
          <p:nvPr/>
        </p:nvSpPr>
        <p:spPr>
          <a:xfrm>
            <a:off x="76600" y="938500"/>
            <a:ext cx="6453000" cy="163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g3f5693fca55_0_221"/>
          <p:cNvSpPr txBox="1">
            <a:spLocks noGrp="1"/>
          </p:cNvSpPr>
          <p:nvPr>
            <p:ph type="title"/>
          </p:nvPr>
        </p:nvSpPr>
        <p:spPr>
          <a:xfrm>
            <a:off x="464100" y="5974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Methods to infer demography</a:t>
            </a:r>
            <a:endParaRPr/>
          </a:p>
        </p:txBody>
      </p:sp>
      <p:sp>
        <p:nvSpPr>
          <p:cNvPr id="1111" name="Google Shape;1111;g3f5693fca55_0_221"/>
          <p:cNvSpPr txBox="1"/>
          <p:nvPr/>
        </p:nvSpPr>
        <p:spPr>
          <a:xfrm>
            <a:off x="571200" y="1304825"/>
            <a:ext cx="8218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-GB"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Inference methods: capture</a:t>
            </a:r>
            <a:r>
              <a:rPr lang="en-GB" sz="1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different aspects </a:t>
            </a:r>
            <a:r>
              <a:rPr lang="en-GB"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of the genetic data</a:t>
            </a:r>
            <a:endParaRPr sz="17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</a:pPr>
            <a:r>
              <a:rPr lang="en-GB" sz="1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LD-based</a:t>
            </a:r>
            <a:endParaRPr sz="17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</a:pPr>
            <a:r>
              <a:rPr lang="en-GB" sz="1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SFS-based</a:t>
            </a:r>
            <a:endParaRPr sz="17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</a:pPr>
            <a:r>
              <a:rPr lang="en-GB" sz="1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Coalescent-based</a:t>
            </a:r>
            <a:endParaRPr sz="17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" name="Google Shape;1116;g3f6f665d46f_0_0" title="figmethod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400" y="987925"/>
            <a:ext cx="4351288" cy="3686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g3f6f665d46f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796072"/>
            <a:ext cx="3589568" cy="195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g3f6f665d46f_0_0"/>
          <p:cNvSpPr txBox="1"/>
          <p:nvPr/>
        </p:nvSpPr>
        <p:spPr>
          <a:xfrm>
            <a:off x="938500" y="-262600"/>
            <a:ext cx="77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119" name="Google Shape;1119;g3f6f665d46f_0_0"/>
          <p:cNvSpPr/>
          <p:nvPr/>
        </p:nvSpPr>
        <p:spPr>
          <a:xfrm>
            <a:off x="76600" y="938500"/>
            <a:ext cx="6453000" cy="163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g3f6f665d46f_0_0"/>
          <p:cNvSpPr txBox="1">
            <a:spLocks noGrp="1"/>
          </p:cNvSpPr>
          <p:nvPr>
            <p:ph type="title"/>
          </p:nvPr>
        </p:nvSpPr>
        <p:spPr>
          <a:xfrm>
            <a:off x="464100" y="5974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Methods to infer demography</a:t>
            </a:r>
            <a:endParaRPr/>
          </a:p>
        </p:txBody>
      </p:sp>
      <p:sp>
        <p:nvSpPr>
          <p:cNvPr id="1121" name="Google Shape;1121;g3f6f665d46f_0_0"/>
          <p:cNvSpPr txBox="1"/>
          <p:nvPr/>
        </p:nvSpPr>
        <p:spPr>
          <a:xfrm>
            <a:off x="571200" y="1304825"/>
            <a:ext cx="8218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-GB" sz="1700">
                <a:solidFill>
                  <a:schemeClr val="dk2"/>
                </a:solidFill>
              </a:rPr>
              <a:t>Inference methods: capture</a:t>
            </a:r>
            <a:r>
              <a:rPr lang="en-GB" sz="1700" b="1">
                <a:solidFill>
                  <a:schemeClr val="dk2"/>
                </a:solidFill>
              </a:rPr>
              <a:t> different aspects </a:t>
            </a:r>
            <a:r>
              <a:rPr lang="en-GB" sz="1700">
                <a:solidFill>
                  <a:schemeClr val="dk2"/>
                </a:solidFill>
              </a:rPr>
              <a:t>of the genetic data</a:t>
            </a:r>
            <a:endParaRPr sz="17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Char char="○"/>
            </a:pPr>
            <a:r>
              <a:rPr lang="en-GB" sz="1700" b="1">
                <a:solidFill>
                  <a:schemeClr val="accent3"/>
                </a:solidFill>
              </a:rPr>
              <a:t>LD-based</a:t>
            </a:r>
            <a:endParaRPr sz="1700" b="1">
              <a:solidFill>
                <a:schemeClr val="accent3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-GB" sz="1700" b="1">
                <a:solidFill>
                  <a:schemeClr val="dk2"/>
                </a:solidFill>
              </a:rPr>
              <a:t>SFS-based</a:t>
            </a:r>
            <a:endParaRPr sz="1700" b="1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-GB" sz="1700" b="1">
                <a:solidFill>
                  <a:schemeClr val="dk2"/>
                </a:solidFill>
              </a:rPr>
              <a:t>Coalescent-based</a:t>
            </a:r>
            <a:endParaRPr sz="1700" b="1">
              <a:solidFill>
                <a:schemeClr val="dk2"/>
              </a:solidFill>
            </a:endParaRPr>
          </a:p>
        </p:txBody>
      </p:sp>
      <p:pic>
        <p:nvPicPr>
          <p:cNvPr id="1122" name="Google Shape;1122;g3f6f665d46f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931275"/>
            <a:ext cx="7989599" cy="305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f6f665d46f_0_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Linkage disequilibrium</a:t>
            </a:r>
            <a:endParaRPr/>
          </a:p>
        </p:txBody>
      </p:sp>
      <p:sp>
        <p:nvSpPr>
          <p:cNvPr id="1128" name="Google Shape;1128;g3f6f665d46f_0_1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Non-random association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of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 alleles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at different loci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Genetic drift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can create LD between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closely linked loci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Strength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of LD depends on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 recombination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genetic drift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f6f665d46f_0_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Linkage disequilibrium &amp; demography</a:t>
            </a:r>
            <a:endParaRPr/>
          </a:p>
        </p:txBody>
      </p:sp>
      <p:sp>
        <p:nvSpPr>
          <p:cNvPr id="1134" name="Google Shape;1134;g3f6f665d46f_0_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Non-random association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of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 alleles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at different loci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Genetic drift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can create LD between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closely linked loci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Strength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of LD depends on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 recombination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genetic drift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Changes in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Ne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can impact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LD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GB" sz="1600" b="1">
                <a:latin typeface="Arial"/>
                <a:ea typeface="Arial"/>
                <a:cs typeface="Arial"/>
                <a:sym typeface="Arial"/>
              </a:rPr>
              <a:t>eg population bottleneck -&gt; smaller Ne, higher impact of drift -&gt; increase LD 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5" name="Google Shape;1135;g3f6f665d46f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66325"/>
            <a:ext cx="7989599" cy="18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8b8ec6fd53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Linkage disequilibrium &amp; demography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1" name="Google Shape;1141;g38b8ec6fd53_0_0"/>
          <p:cNvPicPr preferRelativeResize="0"/>
          <p:nvPr/>
        </p:nvPicPr>
        <p:blipFill rotWithShape="1">
          <a:blip r:embed="rId3">
            <a:alphaModFix/>
          </a:blip>
          <a:srcRect l="50000"/>
          <a:stretch/>
        </p:blipFill>
        <p:spPr>
          <a:xfrm>
            <a:off x="2482850" y="1219275"/>
            <a:ext cx="36099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g38b8ec6fd53_0_0"/>
          <p:cNvSpPr txBox="1"/>
          <p:nvPr/>
        </p:nvSpPr>
        <p:spPr>
          <a:xfrm>
            <a:off x="641750" y="1493600"/>
            <a:ext cx="18411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2A2A2A"/>
                </a:solidFill>
              </a:rPr>
              <a:t>Measure of LD between loci</a:t>
            </a:r>
            <a:endParaRPr b="1">
              <a:solidFill>
                <a:srgbClr val="2A2A2A"/>
              </a:solidFill>
            </a:endParaRPr>
          </a:p>
        </p:txBody>
      </p:sp>
      <p:cxnSp>
        <p:nvCxnSpPr>
          <p:cNvPr id="1143" name="Google Shape;1143;g38b8ec6fd53_0_0"/>
          <p:cNvCxnSpPr/>
          <p:nvPr/>
        </p:nvCxnSpPr>
        <p:spPr>
          <a:xfrm rot="10800000">
            <a:off x="1951850" y="1991975"/>
            <a:ext cx="531000" cy="6156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1144" name="Google Shape;1144;g38b8ec6fd53_0_0"/>
          <p:cNvSpPr txBox="1"/>
          <p:nvPr/>
        </p:nvSpPr>
        <p:spPr>
          <a:xfrm>
            <a:off x="7835200" y="4630075"/>
            <a:ext cx="320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solidFill>
                  <a:srgbClr val="45818E"/>
                </a:solidFill>
                <a:latin typeface="Open Sans"/>
                <a:ea typeface="Open Sans"/>
                <a:cs typeface="Open Sans"/>
                <a:sym typeface="Open Sans"/>
              </a:rPr>
              <a:t>Park 2012</a:t>
            </a:r>
            <a:endParaRPr sz="1200" b="0" i="0" u="none" strike="noStrike" cap="none">
              <a:solidFill>
                <a:srgbClr val="45818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8b8ec6fd53_0_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Linkage disequilibrium &amp; demography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0" name="Google Shape;1150;g38b8ec6fd53_0_8"/>
          <p:cNvPicPr preferRelativeResize="0"/>
          <p:nvPr/>
        </p:nvPicPr>
        <p:blipFill rotWithShape="1">
          <a:blip r:embed="rId3">
            <a:alphaModFix/>
          </a:blip>
          <a:srcRect l="50000"/>
          <a:stretch/>
        </p:blipFill>
        <p:spPr>
          <a:xfrm>
            <a:off x="2482850" y="1219275"/>
            <a:ext cx="36099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g38b8ec6fd53_0_8"/>
          <p:cNvSpPr txBox="1"/>
          <p:nvPr/>
        </p:nvSpPr>
        <p:spPr>
          <a:xfrm>
            <a:off x="641750" y="1493600"/>
            <a:ext cx="18411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2A2A2A"/>
                </a:solidFill>
              </a:rPr>
              <a:t>Measure of LD between loci</a:t>
            </a:r>
            <a:endParaRPr b="1">
              <a:solidFill>
                <a:srgbClr val="2A2A2A"/>
              </a:solidFill>
            </a:endParaRPr>
          </a:p>
        </p:txBody>
      </p:sp>
      <p:cxnSp>
        <p:nvCxnSpPr>
          <p:cNvPr id="1152" name="Google Shape;1152;g38b8ec6fd53_0_8"/>
          <p:cNvCxnSpPr/>
          <p:nvPr/>
        </p:nvCxnSpPr>
        <p:spPr>
          <a:xfrm rot="10800000">
            <a:off x="1951850" y="1991975"/>
            <a:ext cx="531000" cy="615600"/>
          </a:xfrm>
          <a:prstGeom prst="straightConnector1">
            <a:avLst/>
          </a:prstGeom>
          <a:noFill/>
          <a:ln w="38100" cap="flat" cmpd="sng">
            <a:solidFill>
              <a:srgbClr val="B7B7B7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153" name="Google Shape;1153;g38b8ec6fd53_0_8"/>
          <p:cNvCxnSpPr/>
          <p:nvPr/>
        </p:nvCxnSpPr>
        <p:spPr>
          <a:xfrm flipH="1">
            <a:off x="1497300" y="3636200"/>
            <a:ext cx="1884900" cy="1605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1154" name="Google Shape;1154;g38b8ec6fd53_0_8"/>
          <p:cNvSpPr txBox="1"/>
          <p:nvPr/>
        </p:nvSpPr>
        <p:spPr>
          <a:xfrm>
            <a:off x="472125" y="3423150"/>
            <a:ext cx="135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2A2A2A"/>
                </a:solidFill>
              </a:rPr>
              <a:t>High Ne fast LD decay </a:t>
            </a:r>
            <a:endParaRPr/>
          </a:p>
        </p:txBody>
      </p:sp>
      <p:sp>
        <p:nvSpPr>
          <p:cNvPr id="1155" name="Google Shape;1155;g38b8ec6fd53_0_8"/>
          <p:cNvSpPr txBox="1"/>
          <p:nvPr/>
        </p:nvSpPr>
        <p:spPr>
          <a:xfrm>
            <a:off x="7835200" y="4630075"/>
            <a:ext cx="320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solidFill>
                  <a:srgbClr val="45818E"/>
                </a:solidFill>
                <a:latin typeface="Open Sans"/>
                <a:ea typeface="Open Sans"/>
                <a:cs typeface="Open Sans"/>
                <a:sym typeface="Open Sans"/>
              </a:rPr>
              <a:t>Park 2012</a:t>
            </a:r>
            <a:endParaRPr sz="1200" b="0" i="0" u="none" strike="noStrike" cap="none">
              <a:solidFill>
                <a:srgbClr val="45818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8b8ec6fd53_0_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Linkage disequilibrium &amp; demography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1" name="Google Shape;1161;g38b8ec6fd53_0_18"/>
          <p:cNvPicPr preferRelativeResize="0"/>
          <p:nvPr/>
        </p:nvPicPr>
        <p:blipFill rotWithShape="1">
          <a:blip r:embed="rId3">
            <a:alphaModFix/>
          </a:blip>
          <a:srcRect l="50000"/>
          <a:stretch/>
        </p:blipFill>
        <p:spPr>
          <a:xfrm>
            <a:off x="2482850" y="1219275"/>
            <a:ext cx="36099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g38b8ec6fd53_0_18"/>
          <p:cNvSpPr txBox="1"/>
          <p:nvPr/>
        </p:nvSpPr>
        <p:spPr>
          <a:xfrm>
            <a:off x="641750" y="1493600"/>
            <a:ext cx="18411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2A2A2A"/>
                </a:solidFill>
              </a:rPr>
              <a:t>Measure of LD between loci</a:t>
            </a:r>
            <a:endParaRPr b="1">
              <a:solidFill>
                <a:srgbClr val="2A2A2A"/>
              </a:solidFill>
            </a:endParaRPr>
          </a:p>
        </p:txBody>
      </p:sp>
      <p:cxnSp>
        <p:nvCxnSpPr>
          <p:cNvPr id="1163" name="Google Shape;1163;g38b8ec6fd53_0_18"/>
          <p:cNvCxnSpPr/>
          <p:nvPr/>
        </p:nvCxnSpPr>
        <p:spPr>
          <a:xfrm rot="10800000">
            <a:off x="1951850" y="1991975"/>
            <a:ext cx="531000" cy="615600"/>
          </a:xfrm>
          <a:prstGeom prst="straightConnector1">
            <a:avLst/>
          </a:prstGeom>
          <a:noFill/>
          <a:ln w="38100" cap="flat" cmpd="sng">
            <a:solidFill>
              <a:srgbClr val="B7B7B7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164" name="Google Shape;1164;g38b8ec6fd53_0_18"/>
          <p:cNvCxnSpPr/>
          <p:nvPr/>
        </p:nvCxnSpPr>
        <p:spPr>
          <a:xfrm flipH="1">
            <a:off x="1497300" y="3636200"/>
            <a:ext cx="1884900" cy="1605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1165" name="Google Shape;1165;g38b8ec6fd53_0_18"/>
          <p:cNvSpPr txBox="1"/>
          <p:nvPr/>
        </p:nvSpPr>
        <p:spPr>
          <a:xfrm>
            <a:off x="472125" y="3423150"/>
            <a:ext cx="135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2A2A2A"/>
                </a:solidFill>
              </a:rPr>
              <a:t>High Ne fast LD decay </a:t>
            </a:r>
            <a:endParaRPr/>
          </a:p>
        </p:txBody>
      </p:sp>
      <p:cxnSp>
        <p:nvCxnSpPr>
          <p:cNvPr id="1166" name="Google Shape;1166;g38b8ec6fd53_0_18"/>
          <p:cNvCxnSpPr/>
          <p:nvPr/>
        </p:nvCxnSpPr>
        <p:spPr>
          <a:xfrm rot="10800000" flipH="1">
            <a:off x="3547975" y="1777938"/>
            <a:ext cx="3978600" cy="13974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1167" name="Google Shape;1167;g38b8ec6fd53_0_18"/>
          <p:cNvSpPr txBox="1"/>
          <p:nvPr/>
        </p:nvSpPr>
        <p:spPr>
          <a:xfrm>
            <a:off x="7188425" y="1152425"/>
            <a:ext cx="16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2A2A2A"/>
                </a:solidFill>
              </a:rPr>
              <a:t>Small Ne slow LD decay </a:t>
            </a:r>
            <a:endParaRPr/>
          </a:p>
        </p:txBody>
      </p:sp>
      <p:sp>
        <p:nvSpPr>
          <p:cNvPr id="1168" name="Google Shape;1168;g38b8ec6fd53_0_18"/>
          <p:cNvSpPr txBox="1"/>
          <p:nvPr/>
        </p:nvSpPr>
        <p:spPr>
          <a:xfrm>
            <a:off x="7835200" y="4630075"/>
            <a:ext cx="320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solidFill>
                  <a:srgbClr val="45818E"/>
                </a:solidFill>
                <a:latin typeface="Open Sans"/>
                <a:ea typeface="Open Sans"/>
                <a:cs typeface="Open Sans"/>
                <a:sym typeface="Open Sans"/>
              </a:rPr>
              <a:t>Park 2012</a:t>
            </a:r>
            <a:endParaRPr sz="1200" b="0" i="0" u="none" strike="noStrike" cap="none">
              <a:solidFill>
                <a:srgbClr val="45818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8b8ec6fd53_0_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Linkage disequilibrium &amp; demography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74" name="Google Shape;1174;g38b8ec6fd53_0_30"/>
          <p:cNvPicPr preferRelativeResize="0"/>
          <p:nvPr/>
        </p:nvPicPr>
        <p:blipFill rotWithShape="1">
          <a:blip r:embed="rId3">
            <a:alphaModFix/>
          </a:blip>
          <a:srcRect l="50000"/>
          <a:stretch/>
        </p:blipFill>
        <p:spPr>
          <a:xfrm>
            <a:off x="2482850" y="1219275"/>
            <a:ext cx="36099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g38b8ec6fd53_0_30"/>
          <p:cNvSpPr txBox="1"/>
          <p:nvPr/>
        </p:nvSpPr>
        <p:spPr>
          <a:xfrm>
            <a:off x="641750" y="1493600"/>
            <a:ext cx="18411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2A2A2A"/>
                </a:solidFill>
              </a:rPr>
              <a:t>Measure of LD between loci</a:t>
            </a:r>
            <a:endParaRPr b="1">
              <a:solidFill>
                <a:srgbClr val="2A2A2A"/>
              </a:solidFill>
            </a:endParaRPr>
          </a:p>
        </p:txBody>
      </p:sp>
      <p:cxnSp>
        <p:nvCxnSpPr>
          <p:cNvPr id="1176" name="Google Shape;1176;g38b8ec6fd53_0_30"/>
          <p:cNvCxnSpPr/>
          <p:nvPr/>
        </p:nvCxnSpPr>
        <p:spPr>
          <a:xfrm rot="10800000">
            <a:off x="1951850" y="1991975"/>
            <a:ext cx="531000" cy="615600"/>
          </a:xfrm>
          <a:prstGeom prst="straightConnector1">
            <a:avLst/>
          </a:prstGeom>
          <a:noFill/>
          <a:ln w="38100" cap="flat" cmpd="sng">
            <a:solidFill>
              <a:srgbClr val="B7B7B7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177" name="Google Shape;1177;g38b8ec6fd53_0_30"/>
          <p:cNvCxnSpPr/>
          <p:nvPr/>
        </p:nvCxnSpPr>
        <p:spPr>
          <a:xfrm flipH="1">
            <a:off x="1497300" y="3636200"/>
            <a:ext cx="1884900" cy="1605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1178" name="Google Shape;1178;g38b8ec6fd53_0_30"/>
          <p:cNvSpPr txBox="1"/>
          <p:nvPr/>
        </p:nvSpPr>
        <p:spPr>
          <a:xfrm>
            <a:off x="472125" y="3423150"/>
            <a:ext cx="135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2A2A2A"/>
                </a:solidFill>
              </a:rPr>
              <a:t>High Ne fast LD decay </a:t>
            </a:r>
            <a:endParaRPr/>
          </a:p>
        </p:txBody>
      </p:sp>
      <p:cxnSp>
        <p:nvCxnSpPr>
          <p:cNvPr id="1179" name="Google Shape;1179;g38b8ec6fd53_0_30"/>
          <p:cNvCxnSpPr/>
          <p:nvPr/>
        </p:nvCxnSpPr>
        <p:spPr>
          <a:xfrm rot="10800000" flipH="1">
            <a:off x="3547975" y="1777938"/>
            <a:ext cx="3978600" cy="13974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1180" name="Google Shape;1180;g38b8ec6fd53_0_30"/>
          <p:cNvSpPr txBox="1"/>
          <p:nvPr/>
        </p:nvSpPr>
        <p:spPr>
          <a:xfrm>
            <a:off x="7188425" y="1152425"/>
            <a:ext cx="16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2A2A2A"/>
                </a:solidFill>
              </a:rPr>
              <a:t>Small Ne slow LD decay </a:t>
            </a:r>
            <a:endParaRPr/>
          </a:p>
        </p:txBody>
      </p:sp>
      <p:cxnSp>
        <p:nvCxnSpPr>
          <p:cNvPr id="1181" name="Google Shape;1181;g38b8ec6fd53_0_30"/>
          <p:cNvCxnSpPr/>
          <p:nvPr/>
        </p:nvCxnSpPr>
        <p:spPr>
          <a:xfrm rot="10800000" flipH="1">
            <a:off x="5165400" y="2954288"/>
            <a:ext cx="2173800" cy="6441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1182" name="Google Shape;1182;g38b8ec6fd53_0_30"/>
          <p:cNvSpPr txBox="1"/>
          <p:nvPr/>
        </p:nvSpPr>
        <p:spPr>
          <a:xfrm>
            <a:off x="7339200" y="2730750"/>
            <a:ext cx="135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2A2A2A"/>
                </a:solidFill>
              </a:rPr>
              <a:t>Residual LD </a:t>
            </a:r>
            <a:endParaRPr/>
          </a:p>
        </p:txBody>
      </p:sp>
      <p:sp>
        <p:nvSpPr>
          <p:cNvPr id="1183" name="Google Shape;1183;g38b8ec6fd53_0_30"/>
          <p:cNvSpPr txBox="1"/>
          <p:nvPr/>
        </p:nvSpPr>
        <p:spPr>
          <a:xfrm>
            <a:off x="7835200" y="4630075"/>
            <a:ext cx="320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200">
                <a:solidFill>
                  <a:srgbClr val="45818E"/>
                </a:solidFill>
                <a:latin typeface="Open Sans"/>
                <a:ea typeface="Open Sans"/>
                <a:cs typeface="Open Sans"/>
                <a:sym typeface="Open Sans"/>
              </a:rPr>
              <a:t>Park 2012</a:t>
            </a:r>
            <a:endParaRPr sz="1200" b="0" i="0" u="none" strike="noStrike" cap="none">
              <a:solidFill>
                <a:srgbClr val="45818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f5693fca55_0_233"/>
          <p:cNvSpPr txBox="1"/>
          <p:nvPr/>
        </p:nvSpPr>
        <p:spPr>
          <a:xfrm>
            <a:off x="938500" y="-262600"/>
            <a:ext cx="77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g3f5693fca55_0_233"/>
          <p:cNvSpPr/>
          <p:nvPr/>
        </p:nvSpPr>
        <p:spPr>
          <a:xfrm>
            <a:off x="76600" y="938500"/>
            <a:ext cx="6453000" cy="163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g3f5693fca55_0_233"/>
          <p:cNvSpPr txBox="1">
            <a:spLocks noGrp="1"/>
          </p:cNvSpPr>
          <p:nvPr>
            <p:ph type="title"/>
          </p:nvPr>
        </p:nvSpPr>
        <p:spPr>
          <a:xfrm>
            <a:off x="464100" y="5974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Methods to infer demography</a:t>
            </a:r>
            <a:endParaRPr/>
          </a:p>
        </p:txBody>
      </p:sp>
      <p:sp>
        <p:nvSpPr>
          <p:cNvPr id="1191" name="Google Shape;1191;g3f5693fca55_0_233"/>
          <p:cNvSpPr txBox="1"/>
          <p:nvPr/>
        </p:nvSpPr>
        <p:spPr>
          <a:xfrm>
            <a:off x="561750" y="1563600"/>
            <a:ext cx="83253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-GB"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Methods have power to reconstruct past Ne at specific part of the trajectory/time in the past</a:t>
            </a:r>
            <a:endParaRPr sz="17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-GB"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Timespan for detection depends on data used &amp; the true demographic history (unknown)</a:t>
            </a:r>
            <a:endParaRPr sz="17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f57dc8374a_0_8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SMC</a:t>
            </a:r>
            <a:endParaRPr/>
          </a:p>
        </p:txBody>
      </p:sp>
      <p:sp>
        <p:nvSpPr>
          <p:cNvPr id="1197" name="Google Shape;1197;g3f57dc8374a_0_8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0438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Basis of several </a:t>
            </a:r>
            <a:r>
              <a:rPr lang="en-GB" b="1">
                <a:latin typeface="Arial"/>
                <a:ea typeface="Arial"/>
                <a:cs typeface="Arial"/>
                <a:sym typeface="Arial"/>
              </a:rPr>
              <a:t>coalescent-based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methods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8" name="Google Shape;1198;g3f57dc8374a_0_82"/>
          <p:cNvPicPr preferRelativeResize="0"/>
          <p:nvPr/>
        </p:nvPicPr>
        <p:blipFill rotWithShape="1">
          <a:blip r:embed="rId3">
            <a:alphaModFix/>
          </a:blip>
          <a:srcRect l="36869"/>
          <a:stretch/>
        </p:blipFill>
        <p:spPr>
          <a:xfrm>
            <a:off x="3355454" y="198937"/>
            <a:ext cx="5330770" cy="474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f3bf9b08b1_1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PSMC</a:t>
            </a:r>
            <a:endParaRPr/>
          </a:p>
        </p:txBody>
      </p:sp>
      <p:sp>
        <p:nvSpPr>
          <p:cNvPr id="1204" name="Google Shape;1204;g3f3bf9b08b1_1_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205" name="Google Shape;1205;g3f3bf9b08b1_1_0" title="Screenshot 2026-07-23 at 08.25.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822" y="1158975"/>
            <a:ext cx="6568378" cy="351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g3f3bf9b08b1_1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62775" y="267750"/>
            <a:ext cx="2343550" cy="15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g3f3bf9b08b1_1_0"/>
          <p:cNvSpPr txBox="1"/>
          <p:nvPr/>
        </p:nvSpPr>
        <p:spPr>
          <a:xfrm>
            <a:off x="6795200" y="4682925"/>
            <a:ext cx="4908300" cy="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rgbClr val="6FBE90"/>
                </a:solidFill>
                <a:latin typeface="Arial"/>
                <a:ea typeface="Arial"/>
                <a:cs typeface="Arial"/>
                <a:sym typeface="Arial"/>
              </a:rPr>
              <a:t>Alvarez-Estape et al. 2023</a:t>
            </a:r>
            <a:endParaRPr sz="1300" b="0" i="0" u="none" strike="noStrike" cap="none">
              <a:solidFill>
                <a:srgbClr val="6FBE9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f3bf9b08b1_1_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PSMC</a:t>
            </a:r>
            <a:endParaRPr/>
          </a:p>
        </p:txBody>
      </p:sp>
      <p:sp>
        <p:nvSpPr>
          <p:cNvPr id="1213" name="Google Shape;1213;g3f3bf9b08b1_1_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214" name="Google Shape;1214;g3f3bf9b08b1_1_7" title="Screenshot 2026-07-23 at 08.25.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822" y="1158975"/>
            <a:ext cx="6568378" cy="351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g3f3bf9b08b1_1_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62775" y="267750"/>
            <a:ext cx="2343550" cy="1562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6" name="Google Shape;1216;g3f3bf9b08b1_1_7"/>
          <p:cNvCxnSpPr/>
          <p:nvPr/>
        </p:nvCxnSpPr>
        <p:spPr>
          <a:xfrm>
            <a:off x="2820800" y="3912025"/>
            <a:ext cx="1936800" cy="444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1217" name="Google Shape;1217;g3f3bf9b08b1_1_7"/>
          <p:cNvSpPr txBox="1"/>
          <p:nvPr/>
        </p:nvSpPr>
        <p:spPr>
          <a:xfrm>
            <a:off x="6795200" y="4682925"/>
            <a:ext cx="4908300" cy="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rgbClr val="6FBE90"/>
                </a:solidFill>
                <a:latin typeface="Arial"/>
                <a:ea typeface="Arial"/>
                <a:cs typeface="Arial"/>
                <a:sym typeface="Arial"/>
              </a:rPr>
              <a:t>Alvarez-Estape et al. 2023</a:t>
            </a:r>
            <a:endParaRPr sz="1300" b="0" i="0" u="none" strike="noStrike" cap="none">
              <a:solidFill>
                <a:srgbClr val="6FBE9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f57f6c2c9e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PSMC - Limitations</a:t>
            </a:r>
            <a:endParaRPr/>
          </a:p>
        </p:txBody>
      </p:sp>
      <p:sp>
        <p:nvSpPr>
          <p:cNvPr id="1223" name="Google Shape;1223;g3f57f6c2c9e_0_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Assumes panmictic population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Change in Ne can be caused by other factors, eg population structure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Low accuracy in recent time periods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Sensitive to data quality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4" name="Google Shape;1224;g3f57f6c2c9e_0_0" title="Screenshot 2026-07-21 at 15.59.5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725" y="2725450"/>
            <a:ext cx="4608100" cy="203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f57dc8374a_0_4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Exercise</a:t>
            </a:r>
            <a:endParaRPr/>
          </a:p>
        </p:txBody>
      </p:sp>
      <p:sp>
        <p:nvSpPr>
          <p:cNvPr id="1230" name="Google Shape;1230;g3f57dc8374a_0_43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3f57dc8374a_0_38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New class of methods to infer demography</a:t>
            </a:r>
            <a:endParaRPr/>
          </a:p>
        </p:txBody>
      </p:sp>
      <p:sp>
        <p:nvSpPr>
          <p:cNvPr id="1236" name="Google Shape;1236;g3f57dc8374a_0_38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237" name="Google Shape;1237;g3f57dc8374a_0_387"/>
          <p:cNvPicPr preferRelativeResize="0"/>
          <p:nvPr/>
        </p:nvPicPr>
        <p:blipFill rotWithShape="1">
          <a:blip r:embed="rId3">
            <a:alphaModFix/>
          </a:blip>
          <a:srcRect t="20584"/>
          <a:stretch/>
        </p:blipFill>
        <p:spPr>
          <a:xfrm>
            <a:off x="0" y="1058775"/>
            <a:ext cx="9144000" cy="408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f6b66d64b4_0_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5893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Methods to infer demography - Summary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3" name="Google Shape;1243;g3f6b66d64b4_0_5" title="es490433.f4.gif"/>
          <p:cNvPicPr preferRelativeResize="0"/>
          <p:nvPr/>
        </p:nvPicPr>
        <p:blipFill rotWithShape="1">
          <a:blip r:embed="rId3">
            <a:alphaModFix/>
          </a:blip>
          <a:srcRect b="4961"/>
          <a:stretch/>
        </p:blipFill>
        <p:spPr>
          <a:xfrm>
            <a:off x="3280606" y="445025"/>
            <a:ext cx="5731892" cy="4326303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g3f6b66d64b4_0_5"/>
          <p:cNvSpPr txBox="1"/>
          <p:nvPr/>
        </p:nvSpPr>
        <p:spPr>
          <a:xfrm>
            <a:off x="6976500" y="4682925"/>
            <a:ext cx="4908300" cy="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6FBE90"/>
                </a:solidFill>
              </a:rPr>
              <a:t>Beichman et al. 2018</a:t>
            </a:r>
            <a:endParaRPr sz="1300">
              <a:solidFill>
                <a:srgbClr val="6FBE9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2630</Words>
  <Application>Microsoft Macintosh PowerPoint</Application>
  <PresentationFormat>On-screen Show (16:9)</PresentationFormat>
  <Paragraphs>504</Paragraphs>
  <Slides>102</Slides>
  <Notes>102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7" baseType="lpstr">
      <vt:lpstr>Roboto</vt:lpstr>
      <vt:lpstr>Arial</vt:lpstr>
      <vt:lpstr>Open Sans</vt:lpstr>
      <vt:lpstr>PT Sans Narrow</vt:lpstr>
      <vt:lpstr>Tropic</vt:lpstr>
      <vt:lpstr>Demography, coalescence &amp; the SFS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Effective population size (Ne)</vt:lpstr>
      <vt:lpstr>Effective population size (Ne)</vt:lpstr>
      <vt:lpstr>Effective population size (Ne)</vt:lpstr>
      <vt:lpstr>Effective population size (Ne)</vt:lpstr>
      <vt:lpstr>Effective population size (Ne)</vt:lpstr>
      <vt:lpstr>Genetic drift</vt:lpstr>
      <vt:lpstr>Impact of genetic drift at different Ne</vt:lpstr>
      <vt:lpstr>Impact of genetic drift at different Ne</vt:lpstr>
      <vt:lpstr>Impact of genetic drift at different Ne</vt:lpstr>
      <vt:lpstr>Impact of genetic drift at different Ne</vt:lpstr>
      <vt:lpstr>Lost genetic diversity is lost</vt:lpstr>
      <vt:lpstr>Lost genetic diversity is lost</vt:lpstr>
      <vt:lpstr>Lost genetic diversity is lost</vt:lpstr>
      <vt:lpstr>Coalescence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Gene trees + species 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 trees under different population sizes</vt:lpstr>
      <vt:lpstr>Gene trees under different population sizes</vt:lpstr>
      <vt:lpstr>Gene trees under different population sizes</vt:lpstr>
      <vt:lpstr>Gene trees under different population sizes</vt:lpstr>
      <vt:lpstr>Gene trees under different population sizes</vt:lpstr>
      <vt:lpstr>Gene trees under different population sizes</vt:lpstr>
      <vt:lpstr>Coalescence summary 1</vt:lpstr>
      <vt:lpstr>Coalescence with mutation</vt:lpstr>
      <vt:lpstr>Let’s add neutral mutations</vt:lpstr>
      <vt:lpstr>Add neutral mutations to constant Ne population</vt:lpstr>
      <vt:lpstr>Add neutral mutations to constant Ne population</vt:lpstr>
      <vt:lpstr>Add neutral mutations to constant Ne population</vt:lpstr>
      <vt:lpstr>Add neutral mutations to declining population</vt:lpstr>
      <vt:lpstr>Add neutral mutations to declining population</vt:lpstr>
      <vt:lpstr>Add neutral mutations to declining population</vt:lpstr>
      <vt:lpstr>Add neutral mutations to expanding population</vt:lpstr>
      <vt:lpstr>Add neutral mutations to expanding population</vt:lpstr>
      <vt:lpstr>Coalescence summary 2</vt:lpstr>
      <vt:lpstr>Coalescence summary 3</vt:lpstr>
      <vt:lpstr>Exercise</vt:lpstr>
      <vt:lpstr> Site Frequency Spectrum</vt:lpstr>
      <vt:lpstr>SFS  = allele frequency spectrum</vt:lpstr>
      <vt:lpstr>SFS </vt:lpstr>
      <vt:lpstr>Neutral unfolded SFS</vt:lpstr>
      <vt:lpstr>What would be the SFS for this data? </vt:lpstr>
      <vt:lpstr>Genealogy -&gt; sequence data -&gt; SFS</vt:lpstr>
      <vt:lpstr>Genealogy -&gt; sequence data -&gt; SFS</vt:lpstr>
      <vt:lpstr>Genealogy -&gt; sequence data -&gt; SFS</vt:lpstr>
      <vt:lpstr>Genealogy -&gt; sequence data -&gt; SFS</vt:lpstr>
      <vt:lpstr>SFS from real data</vt:lpstr>
      <vt:lpstr>SFS from real data</vt:lpstr>
      <vt:lpstr>Unfolded SFS to Folded SFS</vt:lpstr>
      <vt:lpstr>Impact of demography on SFS</vt:lpstr>
      <vt:lpstr>Impact of natural selection on SFS</vt:lpstr>
      <vt:lpstr>Exercise</vt:lpstr>
      <vt:lpstr>2D-SFS</vt:lpstr>
      <vt:lpstr>2D-SFS</vt:lpstr>
      <vt:lpstr>2D-SFS</vt:lpstr>
      <vt:lpstr>2D-SFS</vt:lpstr>
      <vt:lpstr>SFS summary</vt:lpstr>
      <vt:lpstr>Demographic model of 2 populations</vt:lpstr>
      <vt:lpstr> How to infer demography?</vt:lpstr>
      <vt:lpstr>Methods to infer demography</vt:lpstr>
      <vt:lpstr>Demographic modelling</vt:lpstr>
      <vt:lpstr>Methods to infer demography</vt:lpstr>
      <vt:lpstr>Methods to infer demography</vt:lpstr>
      <vt:lpstr>Linkage disequilibrium</vt:lpstr>
      <vt:lpstr>Linkage disequilibrium &amp; demography</vt:lpstr>
      <vt:lpstr>Linkage disequilibrium &amp; demography </vt:lpstr>
      <vt:lpstr>Linkage disequilibrium &amp; demography </vt:lpstr>
      <vt:lpstr>Linkage disequilibrium &amp; demography </vt:lpstr>
      <vt:lpstr>Linkage disequilibrium &amp; demography </vt:lpstr>
      <vt:lpstr>Methods to infer demography</vt:lpstr>
      <vt:lpstr>SMC</vt:lpstr>
      <vt:lpstr>PSMC</vt:lpstr>
      <vt:lpstr>PSMC</vt:lpstr>
      <vt:lpstr>PSMC - Limitations</vt:lpstr>
      <vt:lpstr>Exercise</vt:lpstr>
      <vt:lpstr>New class of methods to infer demography</vt:lpstr>
      <vt:lpstr>Methods to infer demography - 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Harvinder Kaur Pawar</cp:lastModifiedBy>
  <cp:revision>1</cp:revision>
  <dcterms:modified xsi:type="dcterms:W3CDTF">2026-08-16T16:16:10Z</dcterms:modified>
</cp:coreProperties>
</file>